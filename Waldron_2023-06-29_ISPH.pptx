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60" r:id="rId1"/>
  </p:sldMasterIdLst>
  <p:notesMasterIdLst>
    <p:notesMasterId r:id="rId16"/>
  </p:notesMasterIdLst>
  <p:handoutMasterIdLst>
    <p:handoutMasterId r:id="rId17"/>
  </p:handoutMasterIdLst>
  <p:sldIdLst>
    <p:sldId id="654" r:id="rId2"/>
    <p:sldId id="681" r:id="rId3"/>
    <p:sldId id="682" r:id="rId4"/>
    <p:sldId id="683" r:id="rId5"/>
    <p:sldId id="627" r:id="rId6"/>
    <p:sldId id="264" r:id="rId7"/>
    <p:sldId id="643" r:id="rId8"/>
    <p:sldId id="678" r:id="rId9"/>
    <p:sldId id="679" r:id="rId10"/>
    <p:sldId id="610" r:id="rId11"/>
    <p:sldId id="646" r:id="rId12"/>
    <p:sldId id="606" r:id="rId13"/>
    <p:sldId id="607" r:id="rId14"/>
    <p:sldId id="680" r:id="rId15"/>
  </p:sldIdLst>
  <p:sldSz cx="9144000" cy="6858000" type="screen4x3"/>
  <p:notesSz cx="6985000" cy="92837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pitchFamily="1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pitchFamily="1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pitchFamily="1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pitchFamily="1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pitchFamily="1" charset="-128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BF0DED3F-89D9-1C47-96B2-18AA82D3C9EB}">
          <p14:sldIdLst>
            <p14:sldId id="654"/>
            <p14:sldId id="681"/>
            <p14:sldId id="682"/>
            <p14:sldId id="683"/>
            <p14:sldId id="627"/>
            <p14:sldId id="264"/>
            <p14:sldId id="643"/>
            <p14:sldId id="678"/>
            <p14:sldId id="679"/>
            <p14:sldId id="610"/>
            <p14:sldId id="646"/>
            <p14:sldId id="606"/>
            <p14:sldId id="607"/>
            <p14:sldId id="680"/>
          </p14:sldIdLst>
        </p14:section>
        <p14:section name="extra slides" id="{7CE0F5D5-9A70-804A-A702-CD9FE7187AEB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4">
          <p15:clr>
            <a:srgbClr val="A4A3A4"/>
          </p15:clr>
        </p15:guide>
        <p15:guide id="2" pos="220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evi.Waldron56" initials="L" lastIdx="2" clrIdx="0">
    <p:extLst>
      <p:ext uri="{19B8F6BF-5375-455C-9EA6-DF929625EA0E}">
        <p15:presenceInfo xmlns:p15="http://schemas.microsoft.com/office/powerpoint/2012/main" userId="S::levi.waldron56@login.cuny.edu::c74a3ce4-869e-48ea-8915-14044909b53e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FFFF"/>
    <a:srgbClr val="0091C4"/>
    <a:srgbClr val="B3B701"/>
    <a:srgbClr val="0000FF"/>
    <a:srgbClr val="5DD5FF"/>
    <a:srgbClr val="85DFFF"/>
    <a:srgbClr val="3FCDFF"/>
    <a:srgbClr val="11C1FF"/>
    <a:srgbClr val="0078A2"/>
    <a:srgbClr val="005A7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0902" autoAdjust="0"/>
    <p:restoredTop sz="57801" autoAdjust="0"/>
  </p:normalViewPr>
  <p:slideViewPr>
    <p:cSldViewPr snapToGrid="0">
      <p:cViewPr varScale="1">
        <p:scale>
          <a:sx n="83" d="100"/>
          <a:sy n="83" d="100"/>
        </p:scale>
        <p:origin x="1792" y="1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2718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48" d="100"/>
        <a:sy n="48" d="100"/>
      </p:scale>
      <p:origin x="0" y="2388"/>
    </p:cViewPr>
  </p:sorterViewPr>
  <p:notesViewPr>
    <p:cSldViewPr snapToGrid="0">
      <p:cViewPr varScale="1">
        <p:scale>
          <a:sx n="70" d="100"/>
          <a:sy n="70" d="100"/>
        </p:scale>
        <p:origin x="-3258" y="-114"/>
      </p:cViewPr>
      <p:guideLst>
        <p:guide orient="horz" pos="2924"/>
        <p:guide pos="220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image" Target="../media/image7.png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image" Target="../media/image7.png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33B10FF-41AA-4CB1-9ED0-0087DA87FEE2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9DD6FAA-8181-4BBD-B019-7AF2BB4412C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Standardizes published microbiome signatures of human health conditions and exposures in a publicly editable Semantic </a:t>
          </a:r>
          <a:r>
            <a:rPr lang="en-US" dirty="0" err="1"/>
            <a:t>MediaWiki</a:t>
          </a:r>
          <a:endParaRPr lang="en-US" dirty="0"/>
        </a:p>
      </dgm:t>
    </dgm:pt>
    <dgm:pt modelId="{FE425100-915B-4A11-9DC0-F30A4C55C180}" type="parTrans" cxnId="{CAE67EE9-E921-4C80-B845-CED8F5E86A58}">
      <dgm:prSet/>
      <dgm:spPr/>
      <dgm:t>
        <a:bodyPr/>
        <a:lstStyle/>
        <a:p>
          <a:endParaRPr lang="en-US"/>
        </a:p>
      </dgm:t>
    </dgm:pt>
    <dgm:pt modelId="{EB24EE43-A85C-4504-A795-C3D49491FB29}" type="sibTrans" cxnId="{CAE67EE9-E921-4C80-B845-CED8F5E86A58}">
      <dgm:prSet/>
      <dgm:spPr/>
      <dgm:t>
        <a:bodyPr/>
        <a:lstStyle/>
        <a:p>
          <a:endParaRPr lang="en-US"/>
        </a:p>
      </dgm:t>
    </dgm:pt>
    <dgm:pt modelId="{C5AA92D4-D11B-4C27-B1FF-F07EC630A7F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Records information including</a:t>
          </a:r>
        </a:p>
      </dgm:t>
    </dgm:pt>
    <dgm:pt modelId="{38FA2521-573C-4A39-A3EA-6C8A0EAA9E9B}" type="parTrans" cxnId="{07FC2144-3875-4BFB-8501-272FBBA80399}">
      <dgm:prSet/>
      <dgm:spPr/>
      <dgm:t>
        <a:bodyPr/>
        <a:lstStyle/>
        <a:p>
          <a:endParaRPr lang="en-US"/>
        </a:p>
      </dgm:t>
    </dgm:pt>
    <dgm:pt modelId="{7EB2C6AA-9285-48A9-8C26-703F9164AB66}" type="sibTrans" cxnId="{07FC2144-3875-4BFB-8501-272FBBA80399}">
      <dgm:prSet/>
      <dgm:spPr/>
      <dgm:t>
        <a:bodyPr/>
        <a:lstStyle/>
        <a:p>
          <a:endParaRPr lang="en-US"/>
        </a:p>
      </dgm:t>
    </dgm:pt>
    <dgm:pt modelId="{39A9DE9D-9753-4F51-B361-8653A019F02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Study design</a:t>
          </a:r>
        </a:p>
      </dgm:t>
    </dgm:pt>
    <dgm:pt modelId="{C5CA1512-C438-40D2-8BB7-D4971F03EDE8}" type="parTrans" cxnId="{65400A06-4340-4B59-A679-6913E9D884BA}">
      <dgm:prSet/>
      <dgm:spPr/>
      <dgm:t>
        <a:bodyPr/>
        <a:lstStyle/>
        <a:p>
          <a:endParaRPr lang="en-US"/>
        </a:p>
      </dgm:t>
    </dgm:pt>
    <dgm:pt modelId="{9BD074AC-38CF-410B-9B65-41FCCC96855D}" type="sibTrans" cxnId="{65400A06-4340-4B59-A679-6913E9D884BA}">
      <dgm:prSet/>
      <dgm:spPr/>
      <dgm:t>
        <a:bodyPr/>
        <a:lstStyle/>
        <a:p>
          <a:endParaRPr lang="en-US"/>
        </a:p>
      </dgm:t>
    </dgm:pt>
    <dgm:pt modelId="{F6D62E3B-21FB-48D6-95C4-8AD425BB5FC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Bioinformatic and statistical analysis</a:t>
          </a:r>
        </a:p>
      </dgm:t>
    </dgm:pt>
    <dgm:pt modelId="{F3C949FE-B53F-4436-9703-C048E6147186}" type="parTrans" cxnId="{00D593FB-1860-4E53-B915-7C6610D8B63A}">
      <dgm:prSet/>
      <dgm:spPr/>
      <dgm:t>
        <a:bodyPr/>
        <a:lstStyle/>
        <a:p>
          <a:endParaRPr lang="en-US"/>
        </a:p>
      </dgm:t>
    </dgm:pt>
    <dgm:pt modelId="{3F998EE5-AB22-4795-B28A-47208E651688}" type="sibTrans" cxnId="{00D593FB-1860-4E53-B915-7C6610D8B63A}">
      <dgm:prSet/>
      <dgm:spPr/>
      <dgm:t>
        <a:bodyPr/>
        <a:lstStyle/>
        <a:p>
          <a:endParaRPr lang="en-US"/>
        </a:p>
      </dgm:t>
    </dgm:pt>
    <dgm:pt modelId="{67D38D69-FC14-4310-A66C-02BD866DACD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Diversity measures</a:t>
          </a:r>
        </a:p>
      </dgm:t>
    </dgm:pt>
    <dgm:pt modelId="{0A532435-B314-4930-9A94-7E67CD890AE2}" type="parTrans" cxnId="{166041B5-EE78-4380-9DB0-F724EEECC853}">
      <dgm:prSet/>
      <dgm:spPr/>
      <dgm:t>
        <a:bodyPr/>
        <a:lstStyle/>
        <a:p>
          <a:endParaRPr lang="en-US"/>
        </a:p>
      </dgm:t>
    </dgm:pt>
    <dgm:pt modelId="{8B56E78E-D030-4CA3-AFFD-A26D7429A38F}" type="sibTrans" cxnId="{166041B5-EE78-4380-9DB0-F724EEECC853}">
      <dgm:prSet/>
      <dgm:spPr/>
      <dgm:t>
        <a:bodyPr/>
        <a:lstStyle/>
        <a:p>
          <a:endParaRPr lang="en-US"/>
        </a:p>
      </dgm:t>
    </dgm:pt>
    <dgm:pt modelId="{1D19E4B9-232C-4359-B9EE-25DF8254B15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Differentially abundant taxa</a:t>
          </a:r>
        </a:p>
      </dgm:t>
    </dgm:pt>
    <dgm:pt modelId="{119058D9-E34D-4C9D-B807-3A09877FE029}" type="parTrans" cxnId="{A6474CAB-E948-4AD1-AF73-7861006119FB}">
      <dgm:prSet/>
      <dgm:spPr/>
      <dgm:t>
        <a:bodyPr/>
        <a:lstStyle/>
        <a:p>
          <a:endParaRPr lang="en-US"/>
        </a:p>
      </dgm:t>
    </dgm:pt>
    <dgm:pt modelId="{BF988565-2CC7-4CD4-BD37-F187D38D0E94}" type="sibTrans" cxnId="{A6474CAB-E948-4AD1-AF73-7861006119FB}">
      <dgm:prSet/>
      <dgm:spPr/>
      <dgm:t>
        <a:bodyPr/>
        <a:lstStyle/>
        <a:p>
          <a:endParaRPr lang="en-US"/>
        </a:p>
      </dgm:t>
    </dgm:pt>
    <dgm:pt modelId="{2993F554-8272-6247-AE73-F7260FD3D16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Bulk data export for high-throughput analysis, e.g. </a:t>
          </a:r>
          <a:r>
            <a:rPr lang="en-US" dirty="0" err="1"/>
            <a:t>EnrichmentBrowser</a:t>
          </a:r>
          <a:r>
            <a:rPr lang="en-US" dirty="0"/>
            <a:t> Bioconductor package</a:t>
          </a:r>
        </a:p>
      </dgm:t>
    </dgm:pt>
    <dgm:pt modelId="{DC2969CD-163D-0647-8ECA-9279A3175713}" type="parTrans" cxnId="{5B5761DD-3504-7541-8C33-B44BA2AC6572}">
      <dgm:prSet/>
      <dgm:spPr/>
      <dgm:t>
        <a:bodyPr/>
        <a:lstStyle/>
        <a:p>
          <a:endParaRPr lang="en-US"/>
        </a:p>
      </dgm:t>
    </dgm:pt>
    <dgm:pt modelId="{2EBFDB11-C22C-C244-919B-F28F95D68E52}" type="sibTrans" cxnId="{5B5761DD-3504-7541-8C33-B44BA2AC6572}">
      <dgm:prSet/>
      <dgm:spPr/>
      <dgm:t>
        <a:bodyPr/>
        <a:lstStyle/>
        <a:p>
          <a:endParaRPr lang="en-US"/>
        </a:p>
      </dgm:t>
    </dgm:pt>
    <dgm:pt modelId="{15EA3A76-2B2A-40B6-BD4A-7897D5C1CAEF}" type="pres">
      <dgm:prSet presAssocID="{C33B10FF-41AA-4CB1-9ED0-0087DA87FEE2}" presName="root" presStyleCnt="0">
        <dgm:presLayoutVars>
          <dgm:dir/>
          <dgm:resizeHandles val="exact"/>
        </dgm:presLayoutVars>
      </dgm:prSet>
      <dgm:spPr/>
    </dgm:pt>
    <dgm:pt modelId="{4D7DF49F-C00C-482A-A85D-49E9EA44B58C}" type="pres">
      <dgm:prSet presAssocID="{B9DD6FAA-8181-4BBD-B019-7AF2BB4412C2}" presName="compNode" presStyleCnt="0"/>
      <dgm:spPr/>
    </dgm:pt>
    <dgm:pt modelId="{8E59F525-3423-458E-B948-C0EF6AB0A9D5}" type="pres">
      <dgm:prSet presAssocID="{B9DD6FAA-8181-4BBD-B019-7AF2BB4412C2}" presName="bgRect" presStyleLbl="bgShp" presStyleIdx="0" presStyleCnt="3"/>
      <dgm:spPr/>
    </dgm:pt>
    <dgm:pt modelId="{86288D40-2AED-43A0-B8F6-55B144481A68}" type="pres">
      <dgm:prSet presAssocID="{B9DD6FAA-8181-4BBD-B019-7AF2BB4412C2}" presName="iconRect" presStyleLbl="node1" presStyleIdx="0" presStyleCnt="3"/>
      <dgm:spPr>
        <a:blipFill rotWithShape="1">
          <a:blip xmlns:r="http://schemas.openxmlformats.org/officeDocument/2006/relationships" r:embed="rId1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encil"/>
        </a:ext>
      </dgm:extLst>
    </dgm:pt>
    <dgm:pt modelId="{D4958388-80A7-4025-93AE-666AD07287EB}" type="pres">
      <dgm:prSet presAssocID="{B9DD6FAA-8181-4BBD-B019-7AF2BB4412C2}" presName="spaceRect" presStyleCnt="0"/>
      <dgm:spPr/>
    </dgm:pt>
    <dgm:pt modelId="{BE756690-A76F-4448-B3C1-4EEDD0FF2C25}" type="pres">
      <dgm:prSet presAssocID="{B9DD6FAA-8181-4BBD-B019-7AF2BB4412C2}" presName="parTx" presStyleLbl="revTx" presStyleIdx="0" presStyleCnt="4">
        <dgm:presLayoutVars>
          <dgm:chMax val="0"/>
          <dgm:chPref val="0"/>
        </dgm:presLayoutVars>
      </dgm:prSet>
      <dgm:spPr/>
    </dgm:pt>
    <dgm:pt modelId="{4A41E76E-8FF4-476B-ACB6-B413E91226DE}" type="pres">
      <dgm:prSet presAssocID="{EB24EE43-A85C-4504-A795-C3D49491FB29}" presName="sibTrans" presStyleCnt="0"/>
      <dgm:spPr/>
    </dgm:pt>
    <dgm:pt modelId="{9AC8145D-14D7-41D8-B835-FBD416EFAF16}" type="pres">
      <dgm:prSet presAssocID="{C5AA92D4-D11B-4C27-B1FF-F07EC630A7FB}" presName="compNode" presStyleCnt="0"/>
      <dgm:spPr/>
    </dgm:pt>
    <dgm:pt modelId="{C712CAB5-EE91-4FB8-AF3E-8A59A3D516EA}" type="pres">
      <dgm:prSet presAssocID="{C5AA92D4-D11B-4C27-B1FF-F07EC630A7FB}" presName="bgRect" presStyleLbl="bgShp" presStyleIdx="1" presStyleCnt="3" custScaleY="166865"/>
      <dgm:spPr/>
    </dgm:pt>
    <dgm:pt modelId="{33E1F334-8021-49B2-B2F0-DA8B792C0473}" type="pres">
      <dgm:prSet presAssocID="{C5AA92D4-D11B-4C27-B1FF-F07EC630A7FB}" presName="iconRect" presStyleLbl="node1" presStyleIdx="1" presStyleCnt="3"/>
      <dgm:spPr>
        <a:blipFill>
          <a:blip xmlns:r="http://schemas.openxmlformats.org/officeDocument/2006/relationships"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able with solid fill"/>
        </a:ext>
      </dgm:extLst>
    </dgm:pt>
    <dgm:pt modelId="{6C8A4F49-27F7-478C-813A-0743403501B1}" type="pres">
      <dgm:prSet presAssocID="{C5AA92D4-D11B-4C27-B1FF-F07EC630A7FB}" presName="spaceRect" presStyleCnt="0"/>
      <dgm:spPr/>
    </dgm:pt>
    <dgm:pt modelId="{A2BD1127-CEF3-4BA0-B422-B17D6FBCE11D}" type="pres">
      <dgm:prSet presAssocID="{C5AA92D4-D11B-4C27-B1FF-F07EC630A7FB}" presName="parTx" presStyleLbl="revTx" presStyleIdx="1" presStyleCnt="4">
        <dgm:presLayoutVars>
          <dgm:chMax val="0"/>
          <dgm:chPref val="0"/>
        </dgm:presLayoutVars>
      </dgm:prSet>
      <dgm:spPr/>
    </dgm:pt>
    <dgm:pt modelId="{264C0D39-3AF2-499C-B323-B5EF09A6CC1D}" type="pres">
      <dgm:prSet presAssocID="{C5AA92D4-D11B-4C27-B1FF-F07EC630A7FB}" presName="desTx" presStyleLbl="revTx" presStyleIdx="2" presStyleCnt="4">
        <dgm:presLayoutVars/>
      </dgm:prSet>
      <dgm:spPr/>
    </dgm:pt>
    <dgm:pt modelId="{D069483A-4207-5546-8CED-8F2F1AD9E03B}" type="pres">
      <dgm:prSet presAssocID="{7EB2C6AA-9285-48A9-8C26-703F9164AB66}" presName="sibTrans" presStyleCnt="0"/>
      <dgm:spPr/>
    </dgm:pt>
    <dgm:pt modelId="{CFB71F2A-90C6-744B-8216-E3074266B9B8}" type="pres">
      <dgm:prSet presAssocID="{2993F554-8272-6247-AE73-F7260FD3D16B}" presName="compNode" presStyleCnt="0"/>
      <dgm:spPr/>
    </dgm:pt>
    <dgm:pt modelId="{05CAA021-821B-CE4B-A503-1C1C26B3878B}" type="pres">
      <dgm:prSet presAssocID="{2993F554-8272-6247-AE73-F7260FD3D16B}" presName="bgRect" presStyleLbl="bgShp" presStyleIdx="2" presStyleCnt="3"/>
      <dgm:spPr/>
    </dgm:pt>
    <dgm:pt modelId="{AE220E33-98F1-AC41-A876-B1E8207F141B}" type="pres">
      <dgm:prSet presAssocID="{2993F554-8272-6247-AE73-F7260FD3D16B}" presName="iconRect" presStyleLbl="node1" presStyleIdx="2" presStyleCnt="3"/>
      <dgm:spPr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BA8741A0-1589-824B-BBE8-23E6AA5D3DD6}" type="pres">
      <dgm:prSet presAssocID="{2993F554-8272-6247-AE73-F7260FD3D16B}" presName="spaceRect" presStyleCnt="0"/>
      <dgm:spPr/>
    </dgm:pt>
    <dgm:pt modelId="{71241003-794E-274A-9EA7-29AD571AD438}" type="pres">
      <dgm:prSet presAssocID="{2993F554-8272-6247-AE73-F7260FD3D16B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65400A06-4340-4B59-A679-6913E9D884BA}" srcId="{C5AA92D4-D11B-4C27-B1FF-F07EC630A7FB}" destId="{39A9DE9D-9753-4F51-B361-8653A019F028}" srcOrd="0" destOrd="0" parTransId="{C5CA1512-C438-40D2-8BB7-D4971F03EDE8}" sibTransId="{9BD074AC-38CF-410B-9B65-41FCCC96855D}"/>
    <dgm:cxn modelId="{07FC2144-3875-4BFB-8501-272FBBA80399}" srcId="{C33B10FF-41AA-4CB1-9ED0-0087DA87FEE2}" destId="{C5AA92D4-D11B-4C27-B1FF-F07EC630A7FB}" srcOrd="1" destOrd="0" parTransId="{38FA2521-573C-4A39-A3EA-6C8A0EAA9E9B}" sibTransId="{7EB2C6AA-9285-48A9-8C26-703F9164AB66}"/>
    <dgm:cxn modelId="{8AF7B054-BA6E-AD4A-8C5A-0A19E7D2BF21}" type="presOf" srcId="{67D38D69-FC14-4310-A66C-02BD866DACDD}" destId="{264C0D39-3AF2-499C-B323-B5EF09A6CC1D}" srcOrd="0" destOrd="2" presId="urn:microsoft.com/office/officeart/2018/2/layout/IconVerticalSolidList"/>
    <dgm:cxn modelId="{518C8C60-B451-9243-B016-D99CFD3FAA03}" type="presOf" srcId="{39A9DE9D-9753-4F51-B361-8653A019F028}" destId="{264C0D39-3AF2-499C-B323-B5EF09A6CC1D}" srcOrd="0" destOrd="0" presId="urn:microsoft.com/office/officeart/2018/2/layout/IconVerticalSolidList"/>
    <dgm:cxn modelId="{BE140D6F-1145-644E-AF97-F474931D8419}" type="presOf" srcId="{2993F554-8272-6247-AE73-F7260FD3D16B}" destId="{71241003-794E-274A-9EA7-29AD571AD438}" srcOrd="0" destOrd="0" presId="urn:microsoft.com/office/officeart/2018/2/layout/IconVerticalSolidList"/>
    <dgm:cxn modelId="{72B30BA5-F9D7-E248-B2EA-430A3B2ED7B0}" type="presOf" srcId="{1D19E4B9-232C-4359-B9EE-25DF8254B15E}" destId="{264C0D39-3AF2-499C-B323-B5EF09A6CC1D}" srcOrd="0" destOrd="3" presId="urn:microsoft.com/office/officeart/2018/2/layout/IconVerticalSolidList"/>
    <dgm:cxn modelId="{7C951CAA-D3AF-4251-ACB0-8FA0FEF03DC5}" type="presOf" srcId="{C33B10FF-41AA-4CB1-9ED0-0087DA87FEE2}" destId="{15EA3A76-2B2A-40B6-BD4A-7897D5C1CAEF}" srcOrd="0" destOrd="0" presId="urn:microsoft.com/office/officeart/2018/2/layout/IconVerticalSolidList"/>
    <dgm:cxn modelId="{A6474CAB-E948-4AD1-AF73-7861006119FB}" srcId="{C5AA92D4-D11B-4C27-B1FF-F07EC630A7FB}" destId="{1D19E4B9-232C-4359-B9EE-25DF8254B15E}" srcOrd="3" destOrd="0" parTransId="{119058D9-E34D-4C9D-B807-3A09877FE029}" sibTransId="{BF988565-2CC7-4CD4-BD37-F187D38D0E94}"/>
    <dgm:cxn modelId="{166041B5-EE78-4380-9DB0-F724EEECC853}" srcId="{C5AA92D4-D11B-4C27-B1FF-F07EC630A7FB}" destId="{67D38D69-FC14-4310-A66C-02BD866DACDD}" srcOrd="2" destOrd="0" parTransId="{0A532435-B314-4930-9A94-7E67CD890AE2}" sibTransId="{8B56E78E-D030-4CA3-AFFD-A26D7429A38F}"/>
    <dgm:cxn modelId="{99632EC1-6130-2045-BF53-60C3C979E7CE}" type="presOf" srcId="{C5AA92D4-D11B-4C27-B1FF-F07EC630A7FB}" destId="{A2BD1127-CEF3-4BA0-B422-B17D6FBCE11D}" srcOrd="0" destOrd="0" presId="urn:microsoft.com/office/officeart/2018/2/layout/IconVerticalSolidList"/>
    <dgm:cxn modelId="{F93542C4-61F1-6745-ABB1-C325D01BB7F1}" type="presOf" srcId="{F6D62E3B-21FB-48D6-95C4-8AD425BB5FC8}" destId="{264C0D39-3AF2-499C-B323-B5EF09A6CC1D}" srcOrd="0" destOrd="1" presId="urn:microsoft.com/office/officeart/2018/2/layout/IconVerticalSolidList"/>
    <dgm:cxn modelId="{E76B7FCE-4225-F74F-BFDF-81A159DC811D}" type="presOf" srcId="{B9DD6FAA-8181-4BBD-B019-7AF2BB4412C2}" destId="{BE756690-A76F-4448-B3C1-4EEDD0FF2C25}" srcOrd="0" destOrd="0" presId="urn:microsoft.com/office/officeart/2018/2/layout/IconVerticalSolidList"/>
    <dgm:cxn modelId="{5B5761DD-3504-7541-8C33-B44BA2AC6572}" srcId="{C33B10FF-41AA-4CB1-9ED0-0087DA87FEE2}" destId="{2993F554-8272-6247-AE73-F7260FD3D16B}" srcOrd="2" destOrd="0" parTransId="{DC2969CD-163D-0647-8ECA-9279A3175713}" sibTransId="{2EBFDB11-C22C-C244-919B-F28F95D68E52}"/>
    <dgm:cxn modelId="{CAE67EE9-E921-4C80-B845-CED8F5E86A58}" srcId="{C33B10FF-41AA-4CB1-9ED0-0087DA87FEE2}" destId="{B9DD6FAA-8181-4BBD-B019-7AF2BB4412C2}" srcOrd="0" destOrd="0" parTransId="{FE425100-915B-4A11-9DC0-F30A4C55C180}" sibTransId="{EB24EE43-A85C-4504-A795-C3D49491FB29}"/>
    <dgm:cxn modelId="{00D593FB-1860-4E53-B915-7C6610D8B63A}" srcId="{C5AA92D4-D11B-4C27-B1FF-F07EC630A7FB}" destId="{F6D62E3B-21FB-48D6-95C4-8AD425BB5FC8}" srcOrd="1" destOrd="0" parTransId="{F3C949FE-B53F-4436-9703-C048E6147186}" sibTransId="{3F998EE5-AB22-4795-B28A-47208E651688}"/>
    <dgm:cxn modelId="{BEE70D82-B6C1-2240-BFE2-425EC3FFB70E}" type="presParOf" srcId="{15EA3A76-2B2A-40B6-BD4A-7897D5C1CAEF}" destId="{4D7DF49F-C00C-482A-A85D-49E9EA44B58C}" srcOrd="0" destOrd="0" presId="urn:microsoft.com/office/officeart/2018/2/layout/IconVerticalSolidList"/>
    <dgm:cxn modelId="{67574D52-ABB0-6D48-908E-77D4CB186722}" type="presParOf" srcId="{4D7DF49F-C00C-482A-A85D-49E9EA44B58C}" destId="{8E59F525-3423-458E-B948-C0EF6AB0A9D5}" srcOrd="0" destOrd="0" presId="urn:microsoft.com/office/officeart/2018/2/layout/IconVerticalSolidList"/>
    <dgm:cxn modelId="{D686A6B2-E2FA-1D40-9D5A-100C1B5DCCBB}" type="presParOf" srcId="{4D7DF49F-C00C-482A-A85D-49E9EA44B58C}" destId="{86288D40-2AED-43A0-B8F6-55B144481A68}" srcOrd="1" destOrd="0" presId="urn:microsoft.com/office/officeart/2018/2/layout/IconVerticalSolidList"/>
    <dgm:cxn modelId="{DAF20C70-2D7E-F74A-BC16-7C0BD718C96C}" type="presParOf" srcId="{4D7DF49F-C00C-482A-A85D-49E9EA44B58C}" destId="{D4958388-80A7-4025-93AE-666AD07287EB}" srcOrd="2" destOrd="0" presId="urn:microsoft.com/office/officeart/2018/2/layout/IconVerticalSolidList"/>
    <dgm:cxn modelId="{571D466E-057C-4244-90C2-0B531427E5CC}" type="presParOf" srcId="{4D7DF49F-C00C-482A-A85D-49E9EA44B58C}" destId="{BE756690-A76F-4448-B3C1-4EEDD0FF2C25}" srcOrd="3" destOrd="0" presId="urn:microsoft.com/office/officeart/2018/2/layout/IconVerticalSolidList"/>
    <dgm:cxn modelId="{1886C3D6-4941-E242-B1AD-1C0DCE20A68A}" type="presParOf" srcId="{15EA3A76-2B2A-40B6-BD4A-7897D5C1CAEF}" destId="{4A41E76E-8FF4-476B-ACB6-B413E91226DE}" srcOrd="1" destOrd="0" presId="urn:microsoft.com/office/officeart/2018/2/layout/IconVerticalSolidList"/>
    <dgm:cxn modelId="{99889F7E-022B-1147-A3DC-02DA1BB716C2}" type="presParOf" srcId="{15EA3A76-2B2A-40B6-BD4A-7897D5C1CAEF}" destId="{9AC8145D-14D7-41D8-B835-FBD416EFAF16}" srcOrd="2" destOrd="0" presId="urn:microsoft.com/office/officeart/2018/2/layout/IconVerticalSolidList"/>
    <dgm:cxn modelId="{CC22C6F2-525D-FA40-BECB-3A21E381526F}" type="presParOf" srcId="{9AC8145D-14D7-41D8-B835-FBD416EFAF16}" destId="{C712CAB5-EE91-4FB8-AF3E-8A59A3D516EA}" srcOrd="0" destOrd="0" presId="urn:microsoft.com/office/officeart/2018/2/layout/IconVerticalSolidList"/>
    <dgm:cxn modelId="{5EE20838-99AA-6A48-B999-9D4C11C925F1}" type="presParOf" srcId="{9AC8145D-14D7-41D8-B835-FBD416EFAF16}" destId="{33E1F334-8021-49B2-B2F0-DA8B792C0473}" srcOrd="1" destOrd="0" presId="urn:microsoft.com/office/officeart/2018/2/layout/IconVerticalSolidList"/>
    <dgm:cxn modelId="{FD288520-E6CF-EC43-AAF0-DD2591E1FDDC}" type="presParOf" srcId="{9AC8145D-14D7-41D8-B835-FBD416EFAF16}" destId="{6C8A4F49-27F7-478C-813A-0743403501B1}" srcOrd="2" destOrd="0" presId="urn:microsoft.com/office/officeart/2018/2/layout/IconVerticalSolidList"/>
    <dgm:cxn modelId="{B6A4DCBC-4D33-7446-B33C-A7E4C70F6435}" type="presParOf" srcId="{9AC8145D-14D7-41D8-B835-FBD416EFAF16}" destId="{A2BD1127-CEF3-4BA0-B422-B17D6FBCE11D}" srcOrd="3" destOrd="0" presId="urn:microsoft.com/office/officeart/2018/2/layout/IconVerticalSolidList"/>
    <dgm:cxn modelId="{B38D83D5-E292-0740-9151-7C7F23325B23}" type="presParOf" srcId="{9AC8145D-14D7-41D8-B835-FBD416EFAF16}" destId="{264C0D39-3AF2-499C-B323-B5EF09A6CC1D}" srcOrd="4" destOrd="0" presId="urn:microsoft.com/office/officeart/2018/2/layout/IconVerticalSolidList"/>
    <dgm:cxn modelId="{3E66F770-6128-8B42-BB57-C56332BAF9DA}" type="presParOf" srcId="{15EA3A76-2B2A-40B6-BD4A-7897D5C1CAEF}" destId="{D069483A-4207-5546-8CED-8F2F1AD9E03B}" srcOrd="3" destOrd="0" presId="urn:microsoft.com/office/officeart/2018/2/layout/IconVerticalSolidList"/>
    <dgm:cxn modelId="{0C4878E0-25AA-D44F-8A49-9B0097A2D79B}" type="presParOf" srcId="{15EA3A76-2B2A-40B6-BD4A-7897D5C1CAEF}" destId="{CFB71F2A-90C6-744B-8216-E3074266B9B8}" srcOrd="4" destOrd="0" presId="urn:microsoft.com/office/officeart/2018/2/layout/IconVerticalSolidList"/>
    <dgm:cxn modelId="{F0C0A8E5-C00B-DE41-B9D2-F72A6525805F}" type="presParOf" srcId="{CFB71F2A-90C6-744B-8216-E3074266B9B8}" destId="{05CAA021-821B-CE4B-A503-1C1C26B3878B}" srcOrd="0" destOrd="0" presId="urn:microsoft.com/office/officeart/2018/2/layout/IconVerticalSolidList"/>
    <dgm:cxn modelId="{D92868E3-59CA-C044-AFBD-7534B64DF23C}" type="presParOf" srcId="{CFB71F2A-90C6-744B-8216-E3074266B9B8}" destId="{AE220E33-98F1-AC41-A876-B1E8207F141B}" srcOrd="1" destOrd="0" presId="urn:microsoft.com/office/officeart/2018/2/layout/IconVerticalSolidList"/>
    <dgm:cxn modelId="{164C880E-E24F-A048-83CB-68F3123281B3}" type="presParOf" srcId="{CFB71F2A-90C6-744B-8216-E3074266B9B8}" destId="{BA8741A0-1589-824B-BBE8-23E6AA5D3DD6}" srcOrd="2" destOrd="0" presId="urn:microsoft.com/office/officeart/2018/2/layout/IconVerticalSolidList"/>
    <dgm:cxn modelId="{C9BDCF16-A6E5-194D-A764-8F096B949F78}" type="presParOf" srcId="{CFB71F2A-90C6-744B-8216-E3074266B9B8}" destId="{71241003-794E-274A-9EA7-29AD571AD43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59F525-3423-458E-B948-C0EF6AB0A9D5}">
      <dsp:nvSpPr>
        <dsp:cNvPr id="0" name=""/>
        <dsp:cNvSpPr/>
      </dsp:nvSpPr>
      <dsp:spPr>
        <a:xfrm>
          <a:off x="0" y="2366"/>
          <a:ext cx="8110330" cy="57651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6288D40-2AED-43A0-B8F6-55B144481A68}">
      <dsp:nvSpPr>
        <dsp:cNvPr id="0" name=""/>
        <dsp:cNvSpPr/>
      </dsp:nvSpPr>
      <dsp:spPr>
        <a:xfrm>
          <a:off x="174396" y="132082"/>
          <a:ext cx="317084" cy="317084"/>
        </a:xfrm>
        <a:prstGeom prst="rect">
          <a:avLst/>
        </a:prstGeom>
        <a:blipFill rotWithShape="1">
          <a:blip xmlns:r="http://schemas.openxmlformats.org/officeDocument/2006/relationships" r:embed="rId1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756690-A76F-4448-B3C1-4EEDD0FF2C25}">
      <dsp:nvSpPr>
        <dsp:cNvPr id="0" name=""/>
        <dsp:cNvSpPr/>
      </dsp:nvSpPr>
      <dsp:spPr>
        <a:xfrm>
          <a:off x="665877" y="2366"/>
          <a:ext cx="7443801" cy="5765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1015" tIns="61015" rIns="61015" bIns="61015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Standardizes published microbiome signatures of human health conditions and exposures in a publicly editable Semantic </a:t>
          </a:r>
          <a:r>
            <a:rPr lang="en-US" sz="1400" kern="1200" dirty="0" err="1"/>
            <a:t>MediaWiki</a:t>
          </a:r>
          <a:endParaRPr lang="en-US" sz="1400" kern="1200" dirty="0"/>
        </a:p>
      </dsp:txBody>
      <dsp:txXfrm>
        <a:off x="665877" y="2366"/>
        <a:ext cx="7443801" cy="576517"/>
      </dsp:txXfrm>
    </dsp:sp>
    <dsp:sp modelId="{C712CAB5-EE91-4FB8-AF3E-8A59A3D516EA}">
      <dsp:nvSpPr>
        <dsp:cNvPr id="0" name=""/>
        <dsp:cNvSpPr/>
      </dsp:nvSpPr>
      <dsp:spPr>
        <a:xfrm>
          <a:off x="0" y="723012"/>
          <a:ext cx="8110330" cy="96200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3E1F334-8021-49B2-B2F0-DA8B792C0473}">
      <dsp:nvSpPr>
        <dsp:cNvPr id="0" name=""/>
        <dsp:cNvSpPr/>
      </dsp:nvSpPr>
      <dsp:spPr>
        <a:xfrm>
          <a:off x="174396" y="1045472"/>
          <a:ext cx="317084" cy="317084"/>
        </a:xfrm>
        <a:prstGeom prst="rect">
          <a:avLst/>
        </a:prstGeom>
        <a:blipFill>
          <a:blip xmlns:r="http://schemas.openxmlformats.org/officeDocument/2006/relationships"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BD1127-CEF3-4BA0-B422-B17D6FBCE11D}">
      <dsp:nvSpPr>
        <dsp:cNvPr id="0" name=""/>
        <dsp:cNvSpPr/>
      </dsp:nvSpPr>
      <dsp:spPr>
        <a:xfrm>
          <a:off x="665877" y="915756"/>
          <a:ext cx="3649648" cy="5765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1015" tIns="61015" rIns="61015" bIns="61015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Records information including</a:t>
          </a:r>
        </a:p>
      </dsp:txBody>
      <dsp:txXfrm>
        <a:off x="665877" y="915756"/>
        <a:ext cx="3649648" cy="576517"/>
      </dsp:txXfrm>
    </dsp:sp>
    <dsp:sp modelId="{264C0D39-3AF2-499C-B323-B5EF09A6CC1D}">
      <dsp:nvSpPr>
        <dsp:cNvPr id="0" name=""/>
        <dsp:cNvSpPr/>
      </dsp:nvSpPr>
      <dsp:spPr>
        <a:xfrm>
          <a:off x="4315525" y="915756"/>
          <a:ext cx="3794153" cy="5765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1015" tIns="61015" rIns="61015" bIns="61015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Study design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Bioinformatic and statistical analysis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Diversity measures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Differentially abundant taxa</a:t>
          </a:r>
        </a:p>
      </dsp:txBody>
      <dsp:txXfrm>
        <a:off x="4315525" y="915756"/>
        <a:ext cx="3794153" cy="576517"/>
      </dsp:txXfrm>
    </dsp:sp>
    <dsp:sp modelId="{05CAA021-821B-CE4B-A503-1C1C26B3878B}">
      <dsp:nvSpPr>
        <dsp:cNvPr id="0" name=""/>
        <dsp:cNvSpPr/>
      </dsp:nvSpPr>
      <dsp:spPr>
        <a:xfrm>
          <a:off x="0" y="1829146"/>
          <a:ext cx="8110330" cy="57651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E220E33-98F1-AC41-A876-B1E8207F141B}">
      <dsp:nvSpPr>
        <dsp:cNvPr id="0" name=""/>
        <dsp:cNvSpPr/>
      </dsp:nvSpPr>
      <dsp:spPr>
        <a:xfrm>
          <a:off x="174396" y="1958863"/>
          <a:ext cx="317084" cy="317084"/>
        </a:xfrm>
        <a:prstGeom prst="rect">
          <a:avLst/>
        </a:prstGeom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241003-794E-274A-9EA7-29AD571AD438}">
      <dsp:nvSpPr>
        <dsp:cNvPr id="0" name=""/>
        <dsp:cNvSpPr/>
      </dsp:nvSpPr>
      <dsp:spPr>
        <a:xfrm>
          <a:off x="665877" y="1829146"/>
          <a:ext cx="7443801" cy="5765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1015" tIns="61015" rIns="61015" bIns="61015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Bulk data export for high-throughput analysis, e.g. </a:t>
          </a:r>
          <a:r>
            <a:rPr lang="en-US" sz="1400" kern="1200" dirty="0" err="1"/>
            <a:t>EnrichmentBrowser</a:t>
          </a:r>
          <a:r>
            <a:rPr lang="en-US" sz="1400" kern="1200" dirty="0"/>
            <a:t> Bioconductor package</a:t>
          </a:r>
        </a:p>
      </dsp:txBody>
      <dsp:txXfrm>
        <a:off x="665877" y="1829146"/>
        <a:ext cx="7443801" cy="57651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27363" cy="4635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56050" y="0"/>
            <a:ext cx="3027363" cy="4635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537BD1-336C-499A-9357-A5A986E43ECB}" type="datetimeFigureOut">
              <a:rPr lang="en-US" smtClean="0"/>
              <a:pPr/>
              <a:t>6/29/23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18563"/>
            <a:ext cx="3027363" cy="4635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56050" y="8818563"/>
            <a:ext cx="3027363" cy="4635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5E343B-D4B1-4171-9113-4DFF710A3A7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98285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26833" cy="4641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958" tIns="46479" rIns="92958" bIns="46479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58167" y="0"/>
            <a:ext cx="3026833" cy="4641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958" tIns="46479" rIns="92958" bIns="46479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71575" y="696913"/>
            <a:ext cx="4641850" cy="34813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1334" y="4409758"/>
            <a:ext cx="5122333" cy="4177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958" tIns="46479" rIns="92958" bIns="4647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19515"/>
            <a:ext cx="3026833" cy="4641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958" tIns="46479" rIns="92958" bIns="46479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58167" y="8819515"/>
            <a:ext cx="3026833" cy="4641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958" tIns="46479" rIns="92958" bIns="46479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8C865A49-EB5E-4903-ACE8-213423977F7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98714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1" charset="-128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1" charset="-128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1" charset="-128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1" charset="-128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ccfd402f64_2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gccfd402f64_2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696475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149B-02C2-486B-B75A-700EE76F6898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2" descr="C:\Documents and Settings\eblis\My Documents\My Dropbox\working\website_09-27-09\logo_side_big-02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066800"/>
            <a:ext cx="1580593" cy="3165355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1C242F-20BE-4F6C-ABA6-9DCC8641EF6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8DF25-4D78-4EE5-B83E-1582EE0F26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078028-53A3-436D-A27A-F8121CE5CB6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866A2-4A13-452A-BF39-D3C45AC49E0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4A0C0E-8BF0-4721-8DD7-E8BD3CE0ACC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0AFAAF-5E43-4A48-94B3-8EA7C994412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9619D-5089-4F3D-97DE-E3F82B8AA18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CD016-BBD3-4D5D-B93B-73EA93A3DC5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0DF7C-E865-4281-945D-9857A56130D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8CD48-F7F9-4128-AFA7-3B5B14F364D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alphaModFix amt="98000"/>
            <a:lum contrast="100000"/>
          </a:blip>
          <a:srcRect/>
          <a:stretch>
            <a:fillRect r="90000" b="8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107311-B00B-4602-9329-240EBA90A1D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hyperlink" Target="https://doi.org/10.1101/2022.10.24.22281483" TargetMode="Externa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tif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tiv--XjPl9M" TargetMode="External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pubmed.ncbi.nlm.nih.gov/31521605" TargetMode="External"/><Relationship Id="rId4" Type="http://schemas.openxmlformats.org/officeDocument/2006/relationships/hyperlink" Target="https://arxiv.org/abs/2012.02936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012.02936" TargetMode="External"/><Relationship Id="rId2" Type="http://schemas.openxmlformats.org/officeDocument/2006/relationships/hyperlink" Target="https://youtu.be/tiv--XjPl9M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hyperlink" Target="https://pubmed.ncbi.nlm.nih.gov/31521605" TargetMode="Externa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1E2F7-C40A-294A-8AAC-4C7D3892BC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Analyst-friendly data in Bioconductor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1370FE-760B-8A49-86AB-414E6EC3A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1C242F-20BE-4F6C-ABA6-9DCC8641EF60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972D4D9-ED46-0347-B721-EF390221A6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199"/>
            <a:ext cx="8585200" cy="5257801"/>
          </a:xfrm>
        </p:spPr>
        <p:txBody>
          <a:bodyPr>
            <a:normAutofit fontScale="62500" lnSpcReduction="20000"/>
          </a:bodyPr>
          <a:lstStyle/>
          <a:p>
            <a:r>
              <a:rPr lang="en-US" dirty="0" err="1">
                <a:latin typeface="Courier" pitchFamily="2" charset="0"/>
              </a:rPr>
              <a:t>curatedOvarianData</a:t>
            </a:r>
            <a:endParaRPr lang="en-US" dirty="0">
              <a:latin typeface="Courier" pitchFamily="2" charset="0"/>
            </a:endParaRPr>
          </a:p>
          <a:p>
            <a:pPr lvl="1"/>
            <a:r>
              <a:rPr lang="en-US" dirty="0"/>
              <a:t>30 datasets, most annotated for OS, surgical debulking, histology</a:t>
            </a:r>
          </a:p>
          <a:p>
            <a:r>
              <a:rPr lang="en-US" dirty="0" err="1">
                <a:latin typeface="Courier" pitchFamily="2" charset="0"/>
              </a:rPr>
              <a:t>curatedCRCData</a:t>
            </a:r>
            <a:endParaRPr lang="en-US" dirty="0">
              <a:latin typeface="Courier" pitchFamily="2" charset="0"/>
            </a:endParaRPr>
          </a:p>
          <a:p>
            <a:pPr lvl="1"/>
            <a:r>
              <a:rPr lang="en-US" dirty="0"/>
              <a:t>34 datasets, many annotated for MSS, gender, stage, age, N, M</a:t>
            </a:r>
          </a:p>
          <a:p>
            <a:r>
              <a:rPr lang="en-US" dirty="0" err="1">
                <a:latin typeface="Courier" pitchFamily="2" charset="0"/>
              </a:rPr>
              <a:t>curatedBladderData</a:t>
            </a:r>
            <a:endParaRPr lang="en-US" dirty="0">
              <a:latin typeface="Courier" pitchFamily="2" charset="0"/>
            </a:endParaRPr>
          </a:p>
          <a:p>
            <a:pPr lvl="1"/>
            <a:r>
              <a:rPr lang="en-US" dirty="0"/>
              <a:t>12 datasets, many annotated for stage, grade, OS</a:t>
            </a:r>
          </a:p>
          <a:p>
            <a:r>
              <a:rPr lang="en-US" dirty="0" err="1">
                <a:latin typeface="Courier" pitchFamily="2" charset="0"/>
              </a:rPr>
              <a:t>curatedTCGAData</a:t>
            </a:r>
            <a:r>
              <a:rPr lang="en-US" dirty="0">
                <a:latin typeface="Courier" pitchFamily="2" charset="0"/>
              </a:rPr>
              <a:t> + </a:t>
            </a:r>
            <a:r>
              <a:rPr lang="en-US" dirty="0" err="1">
                <a:latin typeface="Courier" pitchFamily="2" charset="0"/>
              </a:rPr>
              <a:t>TCGAutils</a:t>
            </a:r>
            <a:endParaRPr lang="en-US" dirty="0">
              <a:latin typeface="Courier" pitchFamily="2" charset="0"/>
            </a:endParaRPr>
          </a:p>
          <a:p>
            <a:pPr lvl="1"/>
            <a:r>
              <a:rPr lang="en-US" dirty="0"/>
              <a:t>The Cancer Genome Atlas as </a:t>
            </a:r>
            <a:r>
              <a:rPr lang="en-US" dirty="0" err="1"/>
              <a:t>MultiAssayExperiment</a:t>
            </a:r>
            <a:endParaRPr lang="en-US" dirty="0"/>
          </a:p>
          <a:p>
            <a:r>
              <a:rPr lang="en-US" dirty="0" err="1">
                <a:latin typeface="Courier" pitchFamily="2" charset="0"/>
              </a:rPr>
              <a:t>cBioPortalData</a:t>
            </a:r>
            <a:endParaRPr lang="en-US" dirty="0"/>
          </a:p>
          <a:p>
            <a:pPr lvl="1"/>
            <a:r>
              <a:rPr lang="en-US" dirty="0"/>
              <a:t>150+ </a:t>
            </a:r>
            <a:r>
              <a:rPr lang="en-US" dirty="0" err="1"/>
              <a:t>multi’omics</a:t>
            </a:r>
            <a:r>
              <a:rPr lang="en-US" dirty="0"/>
              <a:t> cancer datasets as </a:t>
            </a:r>
            <a:r>
              <a:rPr lang="en-US" i="1" dirty="0" err="1"/>
              <a:t>MultiAssayExperiment</a:t>
            </a:r>
            <a:endParaRPr lang="en-US" i="1" dirty="0"/>
          </a:p>
          <a:p>
            <a:r>
              <a:rPr lang="en-US" dirty="0">
                <a:latin typeface="Courier" pitchFamily="2" charset="0"/>
              </a:rPr>
              <a:t>HMP16SData</a:t>
            </a:r>
          </a:p>
          <a:p>
            <a:pPr lvl="1"/>
            <a:r>
              <a:rPr lang="en-US" dirty="0"/>
              <a:t>Simple access to The Human Microbiome Project</a:t>
            </a:r>
          </a:p>
          <a:p>
            <a:r>
              <a:rPr lang="en-US" dirty="0">
                <a:latin typeface="Courier" pitchFamily="2" charset="0"/>
              </a:rPr>
              <a:t>curatedMetagenomicData</a:t>
            </a:r>
          </a:p>
          <a:p>
            <a:pPr lvl="1"/>
            <a:r>
              <a:rPr lang="en-US" dirty="0"/>
              <a:t>~20K samples processed through </a:t>
            </a:r>
            <a:r>
              <a:rPr lang="en-US" dirty="0" err="1"/>
              <a:t>bioBakery</a:t>
            </a:r>
            <a:r>
              <a:rPr lang="en-US" dirty="0"/>
              <a:t> 3 with curated metadata</a:t>
            </a:r>
          </a:p>
          <a:p>
            <a:r>
              <a:rPr lang="en-US" dirty="0" err="1">
                <a:latin typeface="Courier" pitchFamily="2" charset="0"/>
              </a:rPr>
              <a:t>SingleCellMultiModal</a:t>
            </a:r>
            <a:endParaRPr lang="en-US" dirty="0">
              <a:latin typeface="Courier" pitchFamily="2" charset="0"/>
            </a:endParaRPr>
          </a:p>
          <a:p>
            <a:pPr lvl="1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Landmark datasets from new single-cell multimodal technologies</a:t>
            </a:r>
          </a:p>
          <a:p>
            <a:r>
              <a:rPr lang="en-US" dirty="0" err="1">
                <a:latin typeface="Courier" pitchFamily="2" charset="0"/>
              </a:rPr>
              <a:t>MicrobiomeBenchmarkData</a:t>
            </a:r>
            <a:endParaRPr lang="en-US" dirty="0">
              <a:latin typeface="Courier" pitchFamily="2" charset="0"/>
            </a:endParaRPr>
          </a:p>
          <a:p>
            <a:pPr lvl="1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Microbiome benchmarking with experimental ground truth</a:t>
            </a:r>
          </a:p>
        </p:txBody>
      </p:sp>
    </p:spTree>
    <p:extLst>
      <p:ext uri="{BB962C8B-B14F-4D97-AF65-F5344CB8AC3E}">
        <p14:creationId xmlns:p14="http://schemas.microsoft.com/office/powerpoint/2010/main" val="29254414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3F29798-D584-4792-9B62-3F5F5C36D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0F0203-1E7A-5912-6F6F-C19B64DF6A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84805"/>
            <a:ext cx="7886700" cy="150588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45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data.isph.org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416BBD7-A8C2-0848-4B83-AE591EC8BA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6499" y="1845426"/>
            <a:ext cx="6568712" cy="4450303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EDBAA7-3903-824F-EC32-E2515C819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eaLnBrk="1" hangingPunct="1">
              <a:spcAft>
                <a:spcPts val="600"/>
              </a:spcAft>
            </a:pPr>
            <a:fld id="{C71C242F-20BE-4F6C-ABA6-9DCC8641EF60}" type="slidenum">
              <a:rPr lang="en-US" smtClean="0">
                <a:latin typeface="+mn-lt"/>
                <a:ea typeface="+mn-ea"/>
              </a:rPr>
              <a:pPr eaLnBrk="1" hangingPunct="1">
                <a:spcAft>
                  <a:spcPts val="600"/>
                </a:spcAft>
              </a:pPr>
              <a:t>2</a:t>
            </a:fld>
            <a:endParaRPr lang="en-US"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9560984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99ED5833-B85B-4103-8A3B-CAB0308E6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0F0203-1E7A-5912-6F6F-C19B64DF6A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8604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3100" dirty="0" err="1"/>
              <a:t>g</a:t>
            </a:r>
            <a:r>
              <a:rPr lang="en-US" sz="31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ithub.com</a:t>
            </a:r>
            <a:r>
              <a:rPr lang="en-US" sz="31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/</a:t>
            </a:r>
            <a:r>
              <a:rPr lang="en-US" sz="31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waldronlab</a:t>
            </a:r>
            <a:r>
              <a:rPr lang="en-US" sz="31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/</a:t>
            </a:r>
            <a:r>
              <a:rPr lang="en-US" sz="31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nychanesmicrobiome</a:t>
            </a:r>
            <a:endParaRPr lang="en-US" sz="31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C8FFD7A-E9CC-7843-D4DF-B04877ACFB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925" y="2569793"/>
            <a:ext cx="4371196" cy="35297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0FA28A8-FFA9-365E-1B07-DB7EAF7851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6878" y="3307432"/>
            <a:ext cx="4371196" cy="2054461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EDBAA7-3903-824F-EC32-E2515C819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eaLnBrk="1" hangingPunct="1">
              <a:spcAft>
                <a:spcPts val="600"/>
              </a:spcAft>
            </a:pPr>
            <a:fld id="{C71C242F-20BE-4F6C-ABA6-9DCC8641EF60}" type="slidenum">
              <a:rPr lang="en-US" smtClean="0">
                <a:latin typeface="+mn-lt"/>
                <a:ea typeface="+mn-ea"/>
              </a:rPr>
              <a:pPr eaLnBrk="1" hangingPunct="1">
                <a:spcAft>
                  <a:spcPts val="600"/>
                </a:spcAft>
              </a:pPr>
              <a:t>3</a:t>
            </a:fld>
            <a:endParaRPr lang="en-US"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0030580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94D6AA1-A0E1-45F9-8E25-BAB8092293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57DE3B-854C-AD90-3820-01E491CCB8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1" y="194003"/>
            <a:ext cx="7886699" cy="683044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5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github.com</a:t>
            </a:r>
            <a:r>
              <a:rPr lang="en-US" sz="35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/</a:t>
            </a:r>
            <a:r>
              <a:rPr lang="en-US" sz="35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waldronlab</a:t>
            </a:r>
            <a:r>
              <a:rPr lang="en-US" sz="35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/</a:t>
            </a:r>
            <a:r>
              <a:rPr lang="en-US" sz="35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projectaspackage</a:t>
            </a:r>
            <a:endParaRPr lang="en-US" sz="35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EC631D-FEE4-97FE-A0F7-1B64888C81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" y="1500386"/>
            <a:ext cx="7278624" cy="4822089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24AF08-DA9C-3EAE-D00F-6B65BDE20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eaLnBrk="1" hangingPunct="1">
              <a:spcAft>
                <a:spcPts val="600"/>
              </a:spcAft>
            </a:pPr>
            <a:fld id="{C71C242F-20BE-4F6C-ABA6-9DCC8641EF60}" type="slidenum">
              <a:rPr lang="en-US" smtClean="0">
                <a:latin typeface="+mn-lt"/>
                <a:ea typeface="+mn-ea"/>
              </a:rPr>
              <a:pPr eaLnBrk="1" hangingPunct="1">
                <a:spcAft>
                  <a:spcPts val="600"/>
                </a:spcAft>
              </a:pPr>
              <a:t>4</a:t>
            </a:fld>
            <a:endParaRPr lang="en-US"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2713466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B41C8E-89B6-6D47-84C2-763F742B3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1C242F-20BE-4F6C-ABA6-9DCC8641EF60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1ADB72-F450-E74B-BB38-2B84F5EADE2C}"/>
              </a:ext>
            </a:extLst>
          </p:cNvPr>
          <p:cNvSpPr txBox="1"/>
          <p:nvPr/>
        </p:nvSpPr>
        <p:spPr>
          <a:xfrm>
            <a:off x="1066361" y="1356418"/>
            <a:ext cx="70112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/>
              <a:t>A Comprehensive Database of Published Microbial Signatures</a:t>
            </a:r>
            <a:endParaRPr lang="en-US" sz="1800" dirty="0"/>
          </a:p>
        </p:txBody>
      </p:sp>
      <p:graphicFrame>
        <p:nvGraphicFramePr>
          <p:cNvPr id="8" name="Content Placeholder 2">
            <a:extLst>
              <a:ext uri="{FF2B5EF4-FFF2-40B4-BE49-F238E27FC236}">
                <a16:creationId xmlns:a16="http://schemas.microsoft.com/office/drawing/2014/main" id="{264DAC3F-5079-4E2D-B7D6-CFEA151523D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2395330"/>
          <a:ext cx="8110330" cy="24080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6AFF594C-D10B-334B-7581-F087669E18AD}"/>
              </a:ext>
            </a:extLst>
          </p:cNvPr>
          <p:cNvSpPr txBox="1"/>
          <p:nvPr/>
        </p:nvSpPr>
        <p:spPr>
          <a:xfrm>
            <a:off x="696504" y="5195903"/>
            <a:ext cx="7631722" cy="7679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 eaLnBrk="1" hangingPunct="1">
              <a:lnSpc>
                <a:spcPct val="90000"/>
              </a:lnSpc>
              <a:spcAft>
                <a:spcPts val="600"/>
              </a:spcAft>
            </a:pPr>
            <a:r>
              <a:rPr lang="en-US" sz="1700" dirty="0">
                <a:latin typeface="+mn-lt"/>
                <a:ea typeface="+mn-ea"/>
              </a:rPr>
              <a:t>&gt;2,900 microbial signatures              &gt;750 published papers      &gt;50 curators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B609A2E7-9D3E-8C5E-DBD9-B888CEA9EB24}"/>
              </a:ext>
            </a:extLst>
          </p:cNvPr>
          <p:cNvSpPr txBox="1">
            <a:spLocks/>
          </p:cNvSpPr>
          <p:nvPr/>
        </p:nvSpPr>
        <p:spPr>
          <a:xfrm>
            <a:off x="628649" y="291090"/>
            <a:ext cx="7886699" cy="93268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lnSpc>
                <a:spcPct val="90000"/>
              </a:lnSpc>
              <a:spcAft>
                <a:spcPts val="0"/>
              </a:spcAft>
            </a:pPr>
            <a:r>
              <a:rPr lang="en-US" sz="4700" dirty="0" err="1"/>
              <a:t>BugSigDB</a:t>
            </a:r>
            <a:endParaRPr lang="en-US" sz="47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A4EFEE4-2B53-473E-4D46-A80EF6D25EF7}"/>
              </a:ext>
            </a:extLst>
          </p:cNvPr>
          <p:cNvSpPr txBox="1"/>
          <p:nvPr/>
        </p:nvSpPr>
        <p:spPr>
          <a:xfrm>
            <a:off x="1606699" y="6200358"/>
            <a:ext cx="58728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 err="1"/>
              <a:t>medRxiv</a:t>
            </a:r>
            <a:r>
              <a:rPr lang="en-US" sz="1600" dirty="0"/>
              <a:t> preprint </a:t>
            </a:r>
            <a:r>
              <a:rPr lang="en-US" sz="1600" dirty="0">
                <a:hlinkClick r:id="rId7"/>
              </a:rPr>
              <a:t>https://doi.org/10.1101/2022.10.24.22281483</a:t>
            </a:r>
            <a:endParaRPr lang="en-US" sz="1600" dirty="0"/>
          </a:p>
          <a:p>
            <a:pPr algn="ctr"/>
            <a:r>
              <a:rPr lang="en-US" sz="1600" dirty="0"/>
              <a:t>In Press at Nature Biotechnology</a:t>
            </a:r>
          </a:p>
        </p:txBody>
      </p:sp>
    </p:spTree>
    <p:extLst>
      <p:ext uri="{BB962C8B-B14F-4D97-AF65-F5344CB8AC3E}">
        <p14:creationId xmlns:p14="http://schemas.microsoft.com/office/powerpoint/2010/main" val="31744140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3FA1B234-FBEE-EB42-AA4A-D7F57E187669}"/>
              </a:ext>
            </a:extLst>
          </p:cNvPr>
          <p:cNvGrpSpPr/>
          <p:nvPr/>
        </p:nvGrpSpPr>
        <p:grpSpPr>
          <a:xfrm>
            <a:off x="695327" y="2220516"/>
            <a:ext cx="8064023" cy="3751240"/>
            <a:chOff x="695327" y="2220516"/>
            <a:chExt cx="8064023" cy="3751240"/>
          </a:xfrm>
        </p:grpSpPr>
        <p:pic>
          <p:nvPicPr>
            <p:cNvPr id="197" name="Google Shape;197;p33"/>
            <p:cNvPicPr preferRelativeResize="0"/>
            <p:nvPr/>
          </p:nvPicPr>
          <p:blipFill rotWithShape="1">
            <a:blip r:embed="rId3">
              <a:alphaModFix/>
            </a:blip>
            <a:srcRect l="20539" r="17178"/>
            <a:stretch/>
          </p:blipFill>
          <p:spPr>
            <a:xfrm>
              <a:off x="2743676" y="2220516"/>
              <a:ext cx="3408998" cy="3408998"/>
            </a:xfrm>
            <a:prstGeom prst="ellipse">
              <a:avLst/>
            </a:prstGeom>
            <a:noFill/>
            <a:ln>
              <a:noFill/>
            </a:ln>
          </p:spPr>
        </p:pic>
        <p:cxnSp>
          <p:nvCxnSpPr>
            <p:cNvPr id="198" name="Google Shape;198;p33"/>
            <p:cNvCxnSpPr>
              <a:stCxn id="197" idx="1"/>
            </p:cNvCxnSpPr>
            <p:nvPr/>
          </p:nvCxnSpPr>
          <p:spPr>
            <a:xfrm rot="10800000">
              <a:off x="2048012" y="2552952"/>
              <a:ext cx="1194900" cy="1668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99" name="Google Shape;199;p33"/>
            <p:cNvCxnSpPr/>
            <p:nvPr/>
          </p:nvCxnSpPr>
          <p:spPr>
            <a:xfrm rot="10800000">
              <a:off x="1781175" y="3966043"/>
              <a:ext cx="962502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00" name="Google Shape;200;p33"/>
            <p:cNvCxnSpPr/>
            <p:nvPr/>
          </p:nvCxnSpPr>
          <p:spPr>
            <a:xfrm flipH="1">
              <a:off x="5700477" y="2560026"/>
              <a:ext cx="1090849" cy="209038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01" name="Google Shape;201;p33"/>
            <p:cNvCxnSpPr/>
            <p:nvPr/>
          </p:nvCxnSpPr>
          <p:spPr>
            <a:xfrm rot="10800000">
              <a:off x="6143149" y="3979211"/>
              <a:ext cx="962502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02" name="Google Shape;202;p33"/>
            <p:cNvCxnSpPr/>
            <p:nvPr/>
          </p:nvCxnSpPr>
          <p:spPr>
            <a:xfrm flipH="1">
              <a:off x="2262426" y="5137618"/>
              <a:ext cx="980486" cy="196382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03" name="Google Shape;203;p33"/>
            <p:cNvCxnSpPr/>
            <p:nvPr/>
          </p:nvCxnSpPr>
          <p:spPr>
            <a:xfrm rot="10800000">
              <a:off x="5653439" y="5113158"/>
              <a:ext cx="1061687" cy="220842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204" name="Google Shape;204;p33"/>
            <p:cNvSpPr txBox="1"/>
            <p:nvPr/>
          </p:nvSpPr>
          <p:spPr>
            <a:xfrm>
              <a:off x="1159034" y="2390805"/>
              <a:ext cx="1028166" cy="113107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n" sz="15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Cell shapes</a:t>
              </a:r>
              <a:endParaRPr sz="1100"/>
            </a:p>
            <a:p>
              <a:pPr marL="215900" indent="-21590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Char char="•"/>
              </a:pPr>
              <a:r>
                <a:rPr lang="en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Rods</a:t>
              </a:r>
              <a:endParaRPr sz="1100"/>
            </a:p>
            <a:p>
              <a:pPr marL="215900" indent="-21590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Char char="•"/>
              </a:pPr>
              <a:r>
                <a:rPr lang="en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Circles</a:t>
              </a:r>
              <a:endParaRPr sz="1100"/>
            </a:p>
            <a:p>
              <a:pPr marL="215900" indent="-21590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Char char="•"/>
              </a:pPr>
              <a:r>
                <a:rPr lang="en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Spirals</a:t>
              </a:r>
              <a:endParaRPr sz="1100"/>
            </a:p>
            <a:p>
              <a:pPr marL="215900" indent="-21590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Char char="•"/>
              </a:pPr>
              <a:r>
                <a:rPr lang="en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…</a:t>
              </a:r>
              <a:endParaRPr sz="1100"/>
            </a:p>
          </p:txBody>
        </p:sp>
        <p:sp>
          <p:nvSpPr>
            <p:cNvPr id="205" name="Google Shape;205;p33"/>
            <p:cNvSpPr txBox="1"/>
            <p:nvPr/>
          </p:nvSpPr>
          <p:spPr>
            <a:xfrm>
              <a:off x="6753225" y="2389236"/>
              <a:ext cx="1576538" cy="133882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n" sz="15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Oxygen utilization</a:t>
              </a:r>
              <a:endParaRPr sz="1100"/>
            </a:p>
            <a:p>
              <a:pPr marL="215900" indent="-21590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Char char="•"/>
              </a:pPr>
              <a:r>
                <a:rPr lang="en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Aerobic</a:t>
              </a:r>
              <a:endParaRPr sz="1100"/>
            </a:p>
            <a:p>
              <a:pPr marL="215900" indent="-21590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Char char="•"/>
              </a:pPr>
              <a:r>
                <a:rPr lang="en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Anaerobic</a:t>
              </a:r>
              <a:endParaRPr sz="1100"/>
            </a:p>
            <a:p>
              <a:pPr marL="215900" indent="-21590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Char char="•"/>
              </a:pPr>
              <a:r>
                <a:rPr lang="en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Obligate</a:t>
              </a:r>
              <a:endParaRPr sz="1100"/>
            </a:p>
            <a:p>
              <a:pPr marL="215900" indent="-21590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Char char="•"/>
              </a:pPr>
              <a:r>
                <a:rPr lang="en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Facultative</a:t>
              </a:r>
              <a:endParaRPr sz="1100"/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" name="Google Shape;206;p33"/>
            <p:cNvSpPr txBox="1"/>
            <p:nvPr/>
          </p:nvSpPr>
          <p:spPr>
            <a:xfrm>
              <a:off x="6715125" y="5233099"/>
              <a:ext cx="1194900" cy="7386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n" sz="1500" b="1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Motility</a:t>
              </a:r>
              <a:endParaRPr sz="1100" dirty="0"/>
            </a:p>
            <a:p>
              <a:pPr marL="215900" indent="-21590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Char char="•"/>
              </a:pPr>
              <a:r>
                <a:rPr lang="en" sz="14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Yes</a:t>
              </a:r>
              <a:endParaRPr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215900" indent="-21590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Char char="•"/>
              </a:pPr>
              <a:r>
                <a:rPr lang="en" sz="14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No</a:t>
              </a:r>
              <a:endParaRPr sz="1100" dirty="0"/>
            </a:p>
          </p:txBody>
        </p:sp>
        <p:sp>
          <p:nvSpPr>
            <p:cNvPr id="207" name="Google Shape;207;p33"/>
            <p:cNvSpPr txBox="1"/>
            <p:nvPr/>
          </p:nvSpPr>
          <p:spPr>
            <a:xfrm>
              <a:off x="695327" y="3634115"/>
              <a:ext cx="1244537" cy="13849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n" sz="1500" b="1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Gram Stain </a:t>
              </a:r>
              <a:endParaRPr sz="1100" dirty="0"/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n" sz="15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(cell wall </a:t>
              </a:r>
              <a:endParaRPr sz="1100" dirty="0"/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n" sz="15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composition)</a:t>
              </a:r>
              <a:endParaRPr sz="1100" dirty="0"/>
            </a:p>
            <a:p>
              <a:pPr marL="215900" indent="-21590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Char char="•"/>
              </a:pPr>
              <a:r>
                <a:rPr lang="en" sz="14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Positive</a:t>
              </a:r>
              <a:endParaRPr sz="1100" dirty="0"/>
            </a:p>
            <a:p>
              <a:pPr marL="215900" indent="-21590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Char char="•"/>
              </a:pPr>
              <a:r>
                <a:rPr lang="en" sz="14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Negative</a:t>
              </a:r>
              <a:endParaRPr sz="1100" dirty="0"/>
            </a:p>
            <a:p>
              <a:pPr marL="215900" indent="-21590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Char char="•"/>
              </a:pPr>
              <a:r>
                <a:rPr lang="en" sz="14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Variable</a:t>
              </a:r>
              <a:endParaRPr sz="1100" dirty="0"/>
            </a:p>
          </p:txBody>
        </p:sp>
        <p:sp>
          <p:nvSpPr>
            <p:cNvPr id="208" name="Google Shape;208;p33"/>
            <p:cNvSpPr txBox="1"/>
            <p:nvPr/>
          </p:nvSpPr>
          <p:spPr>
            <a:xfrm>
              <a:off x="7138750" y="3840700"/>
              <a:ext cx="1620600" cy="154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n" sz="15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Metabolism</a:t>
              </a:r>
              <a:endParaRPr sz="1100"/>
            </a:p>
            <a:p>
              <a:pPr marL="254000" indent="-25400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Char char="•"/>
              </a:pPr>
              <a:r>
                <a:rPr lang="en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Glucose</a:t>
              </a:r>
              <a:endParaRPr sz="1100"/>
            </a:p>
            <a:p>
              <a:pPr marL="254000" indent="-25400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Char char="•"/>
              </a:pPr>
              <a:r>
                <a:rPr lang="en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Lactose</a:t>
              </a:r>
              <a:endParaRPr sz="1100"/>
            </a:p>
            <a:p>
              <a:pPr marL="254000" indent="-25400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Char char="•"/>
              </a:pPr>
              <a:r>
                <a:rPr lang="en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Nitrate/Nitrite</a:t>
              </a:r>
              <a:endParaRPr sz="1100"/>
            </a:p>
            <a:p>
              <a:pPr marL="254000" indent="-25400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Char char="•"/>
              </a:pPr>
              <a:r>
                <a:rPr lang="en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Fermenter</a:t>
              </a:r>
              <a:endParaRPr sz="1100"/>
            </a:p>
            <a:p>
              <a:pPr marL="254000" indent="-25400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Char char="•"/>
              </a:pPr>
              <a:r>
                <a:rPr lang="en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…</a:t>
              </a:r>
              <a:endParaRPr sz="1100"/>
            </a:p>
            <a:p>
              <a:pPr marL="254000" indent="-16510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" name="Google Shape;209;p33"/>
            <p:cNvSpPr txBox="1"/>
            <p:nvPr/>
          </p:nvSpPr>
          <p:spPr>
            <a:xfrm>
              <a:off x="1152526" y="5130129"/>
              <a:ext cx="1866113" cy="7386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n" sz="15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Optimal pH </a:t>
              </a:r>
              <a:endParaRPr sz="1100"/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n" sz="15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and temperature</a:t>
              </a:r>
              <a:endParaRPr sz="1100"/>
            </a:p>
            <a:p>
              <a:pPr marL="215900" indent="-21590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Char char="•"/>
              </a:pPr>
              <a:r>
                <a:rPr lang="en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Wide ranges</a:t>
              </a:r>
              <a:endParaRPr sz="1100"/>
            </a:p>
          </p:txBody>
        </p:sp>
      </p:grpSp>
      <p:sp>
        <p:nvSpPr>
          <p:cNvPr id="17" name="Title 1">
            <a:extLst>
              <a:ext uri="{FF2B5EF4-FFF2-40B4-BE49-F238E27FC236}">
                <a16:creationId xmlns:a16="http://schemas.microsoft.com/office/drawing/2014/main" id="{4927E477-ACD3-A846-B053-5075E8143F22}"/>
              </a:ext>
            </a:extLst>
          </p:cNvPr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dirty="0" err="1"/>
              <a:t>BugPhyzz</a:t>
            </a:r>
            <a:r>
              <a:rPr lang="en-US" dirty="0"/>
              <a:t>: standardization of microbial physiology annotations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A0E83B-5E32-C741-925E-82641BD2CB5B}"/>
              </a:ext>
            </a:extLst>
          </p:cNvPr>
          <p:cNvSpPr txBox="1"/>
          <p:nvPr/>
        </p:nvSpPr>
        <p:spPr>
          <a:xfrm>
            <a:off x="831273" y="6222670"/>
            <a:ext cx="65067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Leads: Kelly </a:t>
            </a:r>
            <a:r>
              <a:rPr lang="en-US" dirty="0" err="1"/>
              <a:t>Eckenrode</a:t>
            </a:r>
            <a:r>
              <a:rPr lang="en-US" dirty="0"/>
              <a:t>, Samuel </a:t>
            </a:r>
            <a:r>
              <a:rPr lang="en-US" dirty="0" err="1"/>
              <a:t>Gamboa-Tuz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9430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Group 51">
            <a:extLst>
              <a:ext uri="{FF2B5EF4-FFF2-40B4-BE49-F238E27FC236}">
                <a16:creationId xmlns:a16="http://schemas.microsoft.com/office/drawing/2014/main" id="{B90E0FED-5ECC-A9BD-ED8A-59212922C94D}"/>
              </a:ext>
            </a:extLst>
          </p:cNvPr>
          <p:cNvGrpSpPr/>
          <p:nvPr/>
        </p:nvGrpSpPr>
        <p:grpSpPr>
          <a:xfrm>
            <a:off x="203428" y="247927"/>
            <a:ext cx="8737143" cy="6518633"/>
            <a:chOff x="263689" y="312374"/>
            <a:chExt cx="8737143" cy="6518633"/>
          </a:xfrm>
        </p:grpSpPr>
        <p:sp>
          <p:nvSpPr>
            <p:cNvPr id="11" name="Rectangle: Rounded Corners 39">
              <a:extLst>
                <a:ext uri="{FF2B5EF4-FFF2-40B4-BE49-F238E27FC236}">
                  <a16:creationId xmlns:a16="http://schemas.microsoft.com/office/drawing/2014/main" id="{5CE2E302-0F89-3648-B79C-CD857AE7ECFA}"/>
                </a:ext>
              </a:extLst>
            </p:cNvPr>
            <p:cNvSpPr/>
            <p:nvPr/>
          </p:nvSpPr>
          <p:spPr>
            <a:xfrm>
              <a:off x="682355" y="312374"/>
              <a:ext cx="7482980" cy="556514"/>
            </a:xfrm>
            <a:prstGeom prst="roundRect">
              <a:avLst/>
            </a:prstGeom>
            <a:solidFill>
              <a:schemeClr val="tx1"/>
            </a:solidFill>
            <a:ln>
              <a:solidFill>
                <a:srgbClr val="C1E2F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  <a:latin typeface="Arial" panose="020B0604020202020204" pitchFamily="34" charset="0"/>
                </a:rPr>
                <a:t>STORMS analytic sample size flowcharts (item 3.6)</a:t>
              </a:r>
              <a:endParaRPr lang="en-AU" sz="2400" dirty="0">
                <a:solidFill>
                  <a:schemeClr val="bg1"/>
                </a:solidFill>
              </a:endParaRPr>
            </a:p>
          </p:txBody>
        </p: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B1CE5F22-66E0-4363-595C-1B9A51793A9C}"/>
                </a:ext>
              </a:extLst>
            </p:cNvPr>
            <p:cNvGrpSpPr/>
            <p:nvPr/>
          </p:nvGrpSpPr>
          <p:grpSpPr>
            <a:xfrm>
              <a:off x="263689" y="972153"/>
              <a:ext cx="8737143" cy="5858854"/>
              <a:chOff x="263689" y="972153"/>
              <a:chExt cx="8737143" cy="5858854"/>
            </a:xfrm>
          </p:grpSpPr>
          <p:sp>
            <p:nvSpPr>
              <p:cNvPr id="3" name="Flowchart: Alternate Process 44">
                <a:extLst>
                  <a:ext uri="{FF2B5EF4-FFF2-40B4-BE49-F238E27FC236}">
                    <a16:creationId xmlns:a16="http://schemas.microsoft.com/office/drawing/2014/main" id="{893A1677-6BC4-8343-9CFA-90F05F8FBB0E}"/>
                  </a:ext>
                </a:extLst>
              </p:cNvPr>
              <p:cNvSpPr/>
              <p:nvPr/>
            </p:nvSpPr>
            <p:spPr>
              <a:xfrm>
                <a:off x="2286492" y="4053622"/>
                <a:ext cx="1850906" cy="451427"/>
              </a:xfrm>
              <a:prstGeom prst="flowChartAlternateProcess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b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r>
                  <a:rPr lang="en-AU" sz="1100" b="1" dirty="0">
                    <a:latin typeface="Times New Roman" panose="02020603050405020304" pitchFamily="18" charset="0"/>
                    <a:ea typeface="DengXian"/>
                    <a:cs typeface="Arial" panose="020B0604020202020204" pitchFamily="34" charset="0"/>
                  </a:rPr>
                  <a:t>Drop out</a:t>
                </a:r>
                <a:r>
                  <a:rPr lang="en-AU" sz="1100" dirty="0">
                    <a:latin typeface="Times New Roman" panose="02020603050405020304" pitchFamily="18" charset="0"/>
                    <a:ea typeface="DengXian"/>
                    <a:cs typeface="Arial" panose="020B0604020202020204" pitchFamily="34" charset="0"/>
                  </a:rPr>
                  <a:t>: </a:t>
                </a:r>
              </a:p>
              <a:p>
                <a:r>
                  <a:rPr lang="en-AU" sz="1100" dirty="0" err="1">
                    <a:latin typeface="Times New Roman" panose="02020603050405020304" pitchFamily="18" charset="0"/>
                    <a:ea typeface="DengXian"/>
                    <a:cs typeface="Arial" panose="020B0604020202020204" pitchFamily="34" charset="0"/>
                  </a:rPr>
                  <a:t>xxxx</a:t>
                </a:r>
                <a:r>
                  <a:rPr lang="en-AU" sz="1100" dirty="0">
                    <a:latin typeface="Times New Roman" panose="02020603050405020304" pitchFamily="18" charset="0"/>
                    <a:ea typeface="DengXian"/>
                    <a:cs typeface="Arial" panose="020B0604020202020204" pitchFamily="34" charset="0"/>
                  </a:rPr>
                  <a:t> n=xx </a:t>
                </a:r>
                <a:endParaRPr lang="en-AU" sz="1600" dirty="0">
                  <a:effectLst/>
                  <a:latin typeface="Times New Roman" panose="02020603050405020304" pitchFamily="18" charset="0"/>
                  <a:ea typeface="DengXian"/>
                  <a:cs typeface="Arial" panose="020B0604020202020204" pitchFamily="34" charset="0"/>
                </a:endParaRPr>
              </a:p>
            </p:txBody>
          </p:sp>
          <p:sp>
            <p:nvSpPr>
              <p:cNvPr id="4" name="Flowchart: Alternate Process 42">
                <a:extLst>
                  <a:ext uri="{FF2B5EF4-FFF2-40B4-BE49-F238E27FC236}">
                    <a16:creationId xmlns:a16="http://schemas.microsoft.com/office/drawing/2014/main" id="{E6506E0D-7304-F848-824A-BFDB28BF58AA}"/>
                  </a:ext>
                </a:extLst>
              </p:cNvPr>
              <p:cNvSpPr/>
              <p:nvPr/>
            </p:nvSpPr>
            <p:spPr>
              <a:xfrm>
                <a:off x="2286492" y="2977825"/>
                <a:ext cx="1850911" cy="451427"/>
              </a:xfrm>
              <a:prstGeom prst="flowChartAlternateProcess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b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50000"/>
                  </a:lnSpc>
                  <a:spcBef>
                    <a:spcPts val="600"/>
                  </a:spcBef>
                  <a:spcAft>
                    <a:spcPts val="0"/>
                  </a:spcAft>
                </a:pPr>
                <a:r>
                  <a:rPr lang="en-AU" sz="1100" b="1" dirty="0">
                    <a:latin typeface="Times New Roman" panose="02020603050405020304" pitchFamily="18" charset="0"/>
                    <a:ea typeface="DengXian"/>
                    <a:cs typeface="Arial" panose="020B0604020202020204" pitchFamily="34" charset="0"/>
                  </a:rPr>
                  <a:t>Excluded</a:t>
                </a:r>
                <a:r>
                  <a:rPr lang="en-AU" sz="1100" dirty="0">
                    <a:latin typeface="Times New Roman" panose="02020603050405020304" pitchFamily="18" charset="0"/>
                    <a:ea typeface="DengXian"/>
                    <a:cs typeface="Arial" panose="020B0604020202020204" pitchFamily="34" charset="0"/>
                  </a:rPr>
                  <a:t>:</a:t>
                </a:r>
              </a:p>
              <a:p>
                <a:pPr>
                  <a:lnSpc>
                    <a:spcPct val="50000"/>
                  </a:lnSpc>
                  <a:spcBef>
                    <a:spcPts val="600"/>
                  </a:spcBef>
                </a:pPr>
                <a:r>
                  <a:rPr lang="en-AU" sz="1100" dirty="0" err="1">
                    <a:latin typeface="Times New Roman" panose="02020603050405020304" pitchFamily="18" charset="0"/>
                    <a:ea typeface="DengXian"/>
                    <a:cs typeface="Arial" panose="020B0604020202020204" pitchFamily="34" charset="0"/>
                  </a:rPr>
                  <a:t>xxxx</a:t>
                </a:r>
                <a:r>
                  <a:rPr lang="en-AU" sz="1100" dirty="0">
                    <a:latin typeface="Times New Roman" panose="02020603050405020304" pitchFamily="18" charset="0"/>
                    <a:ea typeface="DengXian"/>
                    <a:cs typeface="Arial" panose="020B0604020202020204" pitchFamily="34" charset="0"/>
                  </a:rPr>
                  <a:t> n=xx </a:t>
                </a:r>
                <a:endParaRPr lang="en-AU" sz="1600" dirty="0">
                  <a:effectLst/>
                  <a:latin typeface="Times New Roman" panose="02020603050405020304" pitchFamily="18" charset="0"/>
                  <a:ea typeface="DengXian"/>
                  <a:cs typeface="Arial" panose="020B0604020202020204" pitchFamily="34" charset="0"/>
                </a:endParaRPr>
              </a:p>
            </p:txBody>
          </p:sp>
          <p:sp>
            <p:nvSpPr>
              <p:cNvPr id="5" name="Flowchart: Alternate Process 3">
                <a:extLst>
                  <a:ext uri="{FF2B5EF4-FFF2-40B4-BE49-F238E27FC236}">
                    <a16:creationId xmlns:a16="http://schemas.microsoft.com/office/drawing/2014/main" id="{6D07A3EE-F5CE-3940-AB1A-121101D2E092}"/>
                  </a:ext>
                </a:extLst>
              </p:cNvPr>
              <p:cNvSpPr/>
              <p:nvPr/>
            </p:nvSpPr>
            <p:spPr>
              <a:xfrm>
                <a:off x="263697" y="1432286"/>
                <a:ext cx="1676400" cy="419100"/>
              </a:xfrm>
              <a:prstGeom prst="flowChartAlternateProcess">
                <a:avLst/>
              </a:prstGeom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07000"/>
                  </a:lnSpc>
                  <a:spcBef>
                    <a:spcPts val="600"/>
                  </a:spcBef>
                  <a:spcAft>
                    <a:spcPts val="1400"/>
                  </a:spcAft>
                </a:pPr>
                <a:r>
                  <a:rPr lang="en-AU" sz="1100" dirty="0">
                    <a:latin typeface="Times New Roman" panose="02020603050405020304" pitchFamily="18" charset="0"/>
                    <a:ea typeface="DengXian"/>
                    <a:cs typeface="Arial" panose="020B0604020202020204" pitchFamily="34" charset="0"/>
                  </a:rPr>
                  <a:t>Expressions of interest n=xx</a:t>
                </a:r>
              </a:p>
            </p:txBody>
          </p:sp>
          <p:sp>
            <p:nvSpPr>
              <p:cNvPr id="6" name="Flowchart: Alternate Process 7">
                <a:extLst>
                  <a:ext uri="{FF2B5EF4-FFF2-40B4-BE49-F238E27FC236}">
                    <a16:creationId xmlns:a16="http://schemas.microsoft.com/office/drawing/2014/main" id="{8C628DC9-6F04-4747-9FE8-45C8A94BD4B2}"/>
                  </a:ext>
                </a:extLst>
              </p:cNvPr>
              <p:cNvSpPr/>
              <p:nvPr/>
            </p:nvSpPr>
            <p:spPr>
              <a:xfrm>
                <a:off x="2255778" y="1938049"/>
                <a:ext cx="1850922" cy="478411"/>
              </a:xfrm>
              <a:prstGeom prst="flowChartAlternateProcess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b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07000"/>
                  </a:lnSpc>
                  <a:spcBef>
                    <a:spcPts val="600"/>
                  </a:spcBef>
                  <a:spcAft>
                    <a:spcPts val="0"/>
                  </a:spcAft>
                </a:pPr>
                <a:r>
                  <a:rPr lang="en-AU" sz="1100" b="1" dirty="0">
                    <a:latin typeface="Times New Roman" panose="02020603050405020304" pitchFamily="18" charset="0"/>
                    <a:ea typeface="DengXian"/>
                    <a:cs typeface="Arial" panose="020B0604020202020204" pitchFamily="34" charset="0"/>
                  </a:rPr>
                  <a:t>Assessment for eligibility:</a:t>
                </a:r>
                <a:endParaRPr lang="en-AU" sz="1100" b="1" dirty="0">
                  <a:effectLst/>
                  <a:latin typeface="Times New Roman" panose="02020603050405020304" pitchFamily="18" charset="0"/>
                  <a:ea typeface="DengXian"/>
                  <a:cs typeface="Arial" panose="020B0604020202020204" pitchFamily="34" charset="0"/>
                </a:endParaRPr>
              </a:p>
              <a:p>
                <a:pPr>
                  <a:lnSpc>
                    <a:spcPct val="50000"/>
                  </a:lnSpc>
                  <a:spcBef>
                    <a:spcPts val="600"/>
                  </a:spcBef>
                  <a:spcAft>
                    <a:spcPts val="0"/>
                  </a:spcAft>
                </a:pPr>
                <a:r>
                  <a:rPr lang="en-AU" sz="1100" dirty="0" err="1">
                    <a:latin typeface="Times New Roman" panose="02020603050405020304" pitchFamily="18" charset="0"/>
                    <a:ea typeface="DengXian"/>
                    <a:cs typeface="Arial" panose="020B0604020202020204" pitchFamily="34" charset="0"/>
                  </a:rPr>
                  <a:t>xxxx</a:t>
                </a:r>
                <a:r>
                  <a:rPr lang="en-AU" sz="1100" dirty="0">
                    <a:latin typeface="Times New Roman" panose="02020603050405020304" pitchFamily="18" charset="0"/>
                    <a:ea typeface="DengXian"/>
                    <a:cs typeface="Arial" panose="020B0604020202020204" pitchFamily="34" charset="0"/>
                  </a:rPr>
                  <a:t> n=xx</a:t>
                </a:r>
              </a:p>
            </p:txBody>
          </p:sp>
          <p:sp>
            <p:nvSpPr>
              <p:cNvPr id="7" name="Flowchart: Alternate Process 10">
                <a:extLst>
                  <a:ext uri="{FF2B5EF4-FFF2-40B4-BE49-F238E27FC236}">
                    <a16:creationId xmlns:a16="http://schemas.microsoft.com/office/drawing/2014/main" id="{0B32661D-4EB1-4A4E-B515-DD499D509E15}"/>
                  </a:ext>
                </a:extLst>
              </p:cNvPr>
              <p:cNvSpPr/>
              <p:nvPr/>
            </p:nvSpPr>
            <p:spPr>
              <a:xfrm>
                <a:off x="536276" y="2480118"/>
                <a:ext cx="1133476" cy="457200"/>
              </a:xfrm>
              <a:prstGeom prst="flowChartAlternateProcess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07000"/>
                  </a:lnSpc>
                  <a:spcBef>
                    <a:spcPts val="600"/>
                  </a:spcBef>
                  <a:spcAft>
                    <a:spcPts val="1400"/>
                  </a:spcAft>
                </a:pPr>
                <a:r>
                  <a:rPr lang="en-AU" sz="1100" dirty="0">
                    <a:latin typeface="Times New Roman" panose="02020603050405020304" pitchFamily="18" charset="0"/>
                    <a:ea typeface="DengXian"/>
                    <a:cs typeface="Arial" panose="020B0604020202020204" pitchFamily="34" charset="0"/>
                  </a:rPr>
                  <a:t>Screened n=xx</a:t>
                </a:r>
                <a:endParaRPr lang="en-AU" sz="1600" dirty="0">
                  <a:effectLst/>
                  <a:latin typeface="Times New Roman" panose="02020603050405020304" pitchFamily="18" charset="0"/>
                  <a:ea typeface="DengXian"/>
                  <a:cs typeface="Arial" panose="020B0604020202020204" pitchFamily="34" charset="0"/>
                </a:endParaRPr>
              </a:p>
            </p:txBody>
          </p:sp>
          <p:cxnSp>
            <p:nvCxnSpPr>
              <p:cNvPr id="8" name="Straight Arrow Connector 7">
                <a:extLst>
                  <a:ext uri="{FF2B5EF4-FFF2-40B4-BE49-F238E27FC236}">
                    <a16:creationId xmlns:a16="http://schemas.microsoft.com/office/drawing/2014/main" id="{AE6C2747-560C-4642-B6B0-78620D1117B1}"/>
                  </a:ext>
                </a:extLst>
              </p:cNvPr>
              <p:cNvCxnSpPr/>
              <p:nvPr/>
            </p:nvCxnSpPr>
            <p:spPr>
              <a:xfrm>
                <a:off x="1101520" y="2960567"/>
                <a:ext cx="0" cy="57150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" name="Flowchart: Alternate Process 13">
                <a:extLst>
                  <a:ext uri="{FF2B5EF4-FFF2-40B4-BE49-F238E27FC236}">
                    <a16:creationId xmlns:a16="http://schemas.microsoft.com/office/drawing/2014/main" id="{25399E94-4AA2-7048-A859-A2155F5CE23A}"/>
                  </a:ext>
                </a:extLst>
              </p:cNvPr>
              <p:cNvSpPr/>
              <p:nvPr/>
            </p:nvSpPr>
            <p:spPr>
              <a:xfrm>
                <a:off x="536276" y="3558300"/>
                <a:ext cx="1133475" cy="438150"/>
              </a:xfrm>
              <a:prstGeom prst="flowChartAlternateProcess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07000"/>
                  </a:lnSpc>
                  <a:spcBef>
                    <a:spcPts val="600"/>
                  </a:spcBef>
                  <a:spcAft>
                    <a:spcPts val="1400"/>
                  </a:spcAft>
                </a:pPr>
                <a:r>
                  <a:rPr lang="en-AU" sz="11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DengXian"/>
                    <a:cs typeface="Arial" panose="020B0604020202020204" pitchFamily="34" charset="0"/>
                  </a:rPr>
                  <a:t>Recruited n=xx</a:t>
                </a:r>
                <a:endParaRPr lang="en-AU" sz="1600" dirty="0"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DengXian"/>
                  <a:cs typeface="Arial" panose="020B0604020202020204" pitchFamily="34" charset="0"/>
                </a:endParaRPr>
              </a:p>
            </p:txBody>
          </p:sp>
          <p:sp>
            <p:nvSpPr>
              <p:cNvPr id="10" name="Text Box 31">
                <a:extLst>
                  <a:ext uri="{FF2B5EF4-FFF2-40B4-BE49-F238E27FC236}">
                    <a16:creationId xmlns:a16="http://schemas.microsoft.com/office/drawing/2014/main" id="{1BF43F41-E16F-184C-9437-8CACCFBD2FC1}"/>
                  </a:ext>
                </a:extLst>
              </p:cNvPr>
              <p:cNvSpPr txBox="1"/>
              <p:nvPr/>
            </p:nvSpPr>
            <p:spPr>
              <a:xfrm>
                <a:off x="682355" y="4743233"/>
                <a:ext cx="814388" cy="228600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07000"/>
                  </a:lnSpc>
                  <a:spcBef>
                    <a:spcPts val="600"/>
                  </a:spcBef>
                  <a:spcAft>
                    <a:spcPts val="1400"/>
                  </a:spcAft>
                </a:pPr>
                <a:endParaRPr lang="en-AU" sz="1200" dirty="0">
                  <a:effectLst/>
                  <a:latin typeface="Times New Roman" panose="02020603050405020304" pitchFamily="18" charset="0"/>
                  <a:ea typeface="DengXian"/>
                  <a:cs typeface="Arial" panose="020B0604020202020204" pitchFamily="34" charset="0"/>
                </a:endParaRPr>
              </a:p>
            </p:txBody>
          </p:sp>
          <p:cxnSp>
            <p:nvCxnSpPr>
              <p:cNvPr id="12" name="Straight Arrow Connector 11">
                <a:extLst>
                  <a:ext uri="{FF2B5EF4-FFF2-40B4-BE49-F238E27FC236}">
                    <a16:creationId xmlns:a16="http://schemas.microsoft.com/office/drawing/2014/main" id="{938E3625-64B1-644F-A5A6-EE846AC3BA8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92113" y="2170539"/>
                <a:ext cx="1155275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143719CA-93EF-5C41-8DB8-4A55244AB7B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00503" y="3210844"/>
                <a:ext cx="1155275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BE98FC51-EBA4-A943-8919-C77FC73CA165}"/>
                  </a:ext>
                </a:extLst>
              </p:cNvPr>
              <p:cNvCxnSpPr/>
              <p:nvPr/>
            </p:nvCxnSpPr>
            <p:spPr>
              <a:xfrm>
                <a:off x="1089550" y="1878881"/>
                <a:ext cx="0" cy="57150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Flowchart: Alternate Process 60">
                <a:extLst>
                  <a:ext uri="{FF2B5EF4-FFF2-40B4-BE49-F238E27FC236}">
                    <a16:creationId xmlns:a16="http://schemas.microsoft.com/office/drawing/2014/main" id="{551C2C58-25AF-A24C-AAF3-FDBCB4CCEF54}"/>
                  </a:ext>
                </a:extLst>
              </p:cNvPr>
              <p:cNvSpPr/>
              <p:nvPr/>
            </p:nvSpPr>
            <p:spPr>
              <a:xfrm>
                <a:off x="380398" y="4626957"/>
                <a:ext cx="1462007" cy="438150"/>
              </a:xfrm>
              <a:prstGeom prst="flowChartAlternateProcess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07000"/>
                  </a:lnSpc>
                  <a:spcBef>
                    <a:spcPts val="600"/>
                  </a:spcBef>
                  <a:spcAft>
                    <a:spcPts val="1400"/>
                  </a:spcAft>
                </a:pPr>
                <a:r>
                  <a:rPr lang="en-AU" sz="11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DengXian"/>
                    <a:cs typeface="Arial" panose="020B0604020202020204" pitchFamily="34" charset="0"/>
                  </a:rPr>
                  <a:t>Data available for analyses n=xx </a:t>
                </a:r>
                <a:endParaRPr lang="en-AU" sz="1600" dirty="0"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DengXian"/>
                  <a:cs typeface="Arial" panose="020B0604020202020204" pitchFamily="34" charset="0"/>
                </a:endParaRPr>
              </a:p>
            </p:txBody>
          </p: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32097953-4BF0-B743-98DA-E2139A138697}"/>
                  </a:ext>
                </a:extLst>
              </p:cNvPr>
              <p:cNvCxnSpPr/>
              <p:nvPr/>
            </p:nvCxnSpPr>
            <p:spPr>
              <a:xfrm>
                <a:off x="1101520" y="4018978"/>
                <a:ext cx="0" cy="57150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843EC5AE-C998-0C4B-9F25-A33437657A8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00503" y="4269255"/>
                <a:ext cx="1155275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" name="Text Box 31">
                <a:extLst>
                  <a:ext uri="{FF2B5EF4-FFF2-40B4-BE49-F238E27FC236}">
                    <a16:creationId xmlns:a16="http://schemas.microsoft.com/office/drawing/2014/main" id="{0DF4D89C-48DC-6A49-B624-0693E81D5A4C}"/>
                  </a:ext>
                </a:extLst>
              </p:cNvPr>
              <p:cNvSpPr txBox="1"/>
              <p:nvPr/>
            </p:nvSpPr>
            <p:spPr>
              <a:xfrm>
                <a:off x="682355" y="5773392"/>
                <a:ext cx="814388" cy="228600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07000"/>
                  </a:lnSpc>
                  <a:spcBef>
                    <a:spcPts val="600"/>
                  </a:spcBef>
                  <a:spcAft>
                    <a:spcPts val="1400"/>
                  </a:spcAft>
                </a:pPr>
                <a:endParaRPr lang="en-AU" sz="1200" dirty="0">
                  <a:effectLst/>
                  <a:latin typeface="Times New Roman" panose="02020603050405020304" pitchFamily="18" charset="0"/>
                  <a:ea typeface="DengXian"/>
                  <a:cs typeface="Arial" panose="020B0604020202020204" pitchFamily="34" charset="0"/>
                </a:endParaRPr>
              </a:p>
            </p:txBody>
          </p:sp>
          <p:sp>
            <p:nvSpPr>
              <p:cNvPr id="19" name="Flowchart: Alternate Process 66">
                <a:extLst>
                  <a:ext uri="{FF2B5EF4-FFF2-40B4-BE49-F238E27FC236}">
                    <a16:creationId xmlns:a16="http://schemas.microsoft.com/office/drawing/2014/main" id="{5A580DF4-A6F7-364D-A336-5F1808F3B3D7}"/>
                  </a:ext>
                </a:extLst>
              </p:cNvPr>
              <p:cNvSpPr/>
              <p:nvPr/>
            </p:nvSpPr>
            <p:spPr>
              <a:xfrm>
                <a:off x="263689" y="5654192"/>
                <a:ext cx="1676400" cy="430621"/>
              </a:xfrm>
              <a:prstGeom prst="flowChartAlternateProcess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07000"/>
                  </a:lnSpc>
                  <a:spcBef>
                    <a:spcPts val="600"/>
                  </a:spcBef>
                  <a:spcAft>
                    <a:spcPts val="1400"/>
                  </a:spcAft>
                </a:pPr>
                <a:r>
                  <a:rPr lang="en-AU" sz="11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DengXian"/>
                    <a:cs typeface="Arial" panose="020B0604020202020204" pitchFamily="34" charset="0"/>
                  </a:rPr>
                  <a:t>Total samples included in the analyses n=xx</a:t>
                </a:r>
                <a:endParaRPr lang="en-AU" sz="1600" dirty="0"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DengXian"/>
                  <a:cs typeface="Arial" panose="020B0604020202020204" pitchFamily="34" charset="0"/>
                </a:endParaRPr>
              </a:p>
            </p:txBody>
          </p:sp>
          <p:cxnSp>
            <p:nvCxnSpPr>
              <p:cNvPr id="20" name="Straight Arrow Connector 19">
                <a:extLst>
                  <a:ext uri="{FF2B5EF4-FFF2-40B4-BE49-F238E27FC236}">
                    <a16:creationId xmlns:a16="http://schemas.microsoft.com/office/drawing/2014/main" id="{39CBF6F1-1BB2-D344-ABA6-E69092BA6B2D}"/>
                  </a:ext>
                </a:extLst>
              </p:cNvPr>
              <p:cNvCxnSpPr/>
              <p:nvPr/>
            </p:nvCxnSpPr>
            <p:spPr>
              <a:xfrm>
                <a:off x="1101520" y="5065915"/>
                <a:ext cx="0" cy="57150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Arrow Connector 20">
                <a:extLst>
                  <a:ext uri="{FF2B5EF4-FFF2-40B4-BE49-F238E27FC236}">
                    <a16:creationId xmlns:a16="http://schemas.microsoft.com/office/drawing/2014/main" id="{CC51CB1D-43B3-6E42-9B63-9B2F921BB1A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00503" y="5316192"/>
                <a:ext cx="1155275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" name="Flowchart: Alternate Process 69">
                <a:extLst>
                  <a:ext uri="{FF2B5EF4-FFF2-40B4-BE49-F238E27FC236}">
                    <a16:creationId xmlns:a16="http://schemas.microsoft.com/office/drawing/2014/main" id="{9882F0B3-EF93-694B-926F-3D00817886C9}"/>
                  </a:ext>
                </a:extLst>
              </p:cNvPr>
              <p:cNvSpPr/>
              <p:nvPr/>
            </p:nvSpPr>
            <p:spPr>
              <a:xfrm>
                <a:off x="7123746" y="2980173"/>
                <a:ext cx="1850911" cy="451427"/>
              </a:xfrm>
              <a:prstGeom prst="flowChartAlternateProcess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b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50000"/>
                  </a:lnSpc>
                  <a:spcBef>
                    <a:spcPts val="600"/>
                  </a:spcBef>
                  <a:spcAft>
                    <a:spcPts val="0"/>
                  </a:spcAft>
                </a:pPr>
                <a:r>
                  <a:rPr lang="en-AU" sz="1100" b="1" dirty="0">
                    <a:latin typeface="Times New Roman" panose="02020603050405020304" pitchFamily="18" charset="0"/>
                    <a:ea typeface="DengXian"/>
                    <a:cs typeface="Arial" panose="020B0604020202020204" pitchFamily="34" charset="0"/>
                  </a:rPr>
                  <a:t>Excluded</a:t>
                </a:r>
                <a:r>
                  <a:rPr lang="en-AU" sz="1100" dirty="0">
                    <a:latin typeface="Times New Roman" panose="02020603050405020304" pitchFamily="18" charset="0"/>
                    <a:ea typeface="DengXian"/>
                    <a:cs typeface="Arial" panose="020B0604020202020204" pitchFamily="34" charset="0"/>
                  </a:rPr>
                  <a:t>:</a:t>
                </a:r>
              </a:p>
              <a:p>
                <a:pPr>
                  <a:lnSpc>
                    <a:spcPct val="50000"/>
                  </a:lnSpc>
                  <a:spcBef>
                    <a:spcPts val="600"/>
                  </a:spcBef>
                </a:pPr>
                <a:r>
                  <a:rPr lang="en-AU" sz="1100" dirty="0" err="1">
                    <a:latin typeface="Times New Roman" panose="02020603050405020304" pitchFamily="18" charset="0"/>
                    <a:ea typeface="DengXian"/>
                    <a:cs typeface="Arial" panose="020B0604020202020204" pitchFamily="34" charset="0"/>
                  </a:rPr>
                  <a:t>xxxx</a:t>
                </a:r>
                <a:r>
                  <a:rPr lang="en-AU" sz="1100" dirty="0">
                    <a:latin typeface="Times New Roman" panose="02020603050405020304" pitchFamily="18" charset="0"/>
                    <a:ea typeface="DengXian"/>
                    <a:cs typeface="Arial" panose="020B0604020202020204" pitchFamily="34" charset="0"/>
                  </a:rPr>
                  <a:t> n=xx </a:t>
                </a:r>
                <a:endParaRPr lang="en-AU" sz="1600" dirty="0">
                  <a:effectLst/>
                  <a:latin typeface="Times New Roman" panose="02020603050405020304" pitchFamily="18" charset="0"/>
                  <a:ea typeface="DengXian"/>
                  <a:cs typeface="Arial" panose="020B0604020202020204" pitchFamily="34" charset="0"/>
                </a:endParaRPr>
              </a:p>
            </p:txBody>
          </p:sp>
          <p:sp>
            <p:nvSpPr>
              <p:cNvPr id="23" name="Flowchart: Alternate Process 70">
                <a:extLst>
                  <a:ext uri="{FF2B5EF4-FFF2-40B4-BE49-F238E27FC236}">
                    <a16:creationId xmlns:a16="http://schemas.microsoft.com/office/drawing/2014/main" id="{0515D177-487E-DB4D-9C01-37085969241D}"/>
                  </a:ext>
                </a:extLst>
              </p:cNvPr>
              <p:cNvSpPr/>
              <p:nvPr/>
            </p:nvSpPr>
            <p:spPr>
              <a:xfrm>
                <a:off x="5100951" y="1434634"/>
                <a:ext cx="1676400" cy="419100"/>
              </a:xfrm>
              <a:prstGeom prst="flowChartAlternateProcess">
                <a:avLst/>
              </a:prstGeom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07000"/>
                  </a:lnSpc>
                  <a:spcBef>
                    <a:spcPts val="600"/>
                  </a:spcBef>
                  <a:spcAft>
                    <a:spcPts val="1400"/>
                  </a:spcAft>
                </a:pPr>
                <a:r>
                  <a:rPr lang="en-AU" sz="1100" dirty="0">
                    <a:latin typeface="Times New Roman" panose="02020603050405020304" pitchFamily="18" charset="0"/>
                    <a:ea typeface="DengXian"/>
                    <a:cs typeface="Arial" panose="020B0604020202020204" pitchFamily="34" charset="0"/>
                  </a:rPr>
                  <a:t>Expressions of interest n=xx</a:t>
                </a:r>
              </a:p>
            </p:txBody>
          </p:sp>
          <p:sp>
            <p:nvSpPr>
              <p:cNvPr id="24" name="Flowchart: Alternate Process 71">
                <a:extLst>
                  <a:ext uri="{FF2B5EF4-FFF2-40B4-BE49-F238E27FC236}">
                    <a16:creationId xmlns:a16="http://schemas.microsoft.com/office/drawing/2014/main" id="{77455F25-9745-6A41-A369-3591D7CE9E00}"/>
                  </a:ext>
                </a:extLst>
              </p:cNvPr>
              <p:cNvSpPr/>
              <p:nvPr/>
            </p:nvSpPr>
            <p:spPr>
              <a:xfrm>
                <a:off x="7093032" y="1940397"/>
                <a:ext cx="1850922" cy="478411"/>
              </a:xfrm>
              <a:prstGeom prst="flowChartAlternateProcess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b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07000"/>
                  </a:lnSpc>
                  <a:spcBef>
                    <a:spcPts val="600"/>
                  </a:spcBef>
                  <a:spcAft>
                    <a:spcPts val="0"/>
                  </a:spcAft>
                </a:pPr>
                <a:r>
                  <a:rPr lang="en-AU" sz="1100" b="1" dirty="0">
                    <a:latin typeface="Times New Roman" panose="02020603050405020304" pitchFamily="18" charset="0"/>
                    <a:ea typeface="DengXian"/>
                    <a:cs typeface="Arial" panose="020B0604020202020204" pitchFamily="34" charset="0"/>
                  </a:rPr>
                  <a:t>Assessment for eligibility:</a:t>
                </a:r>
                <a:endParaRPr lang="en-AU" sz="1100" b="1" dirty="0">
                  <a:effectLst/>
                  <a:latin typeface="Times New Roman" panose="02020603050405020304" pitchFamily="18" charset="0"/>
                  <a:ea typeface="DengXian"/>
                  <a:cs typeface="Arial" panose="020B0604020202020204" pitchFamily="34" charset="0"/>
                </a:endParaRPr>
              </a:p>
              <a:p>
                <a:pPr>
                  <a:lnSpc>
                    <a:spcPct val="50000"/>
                  </a:lnSpc>
                  <a:spcBef>
                    <a:spcPts val="600"/>
                  </a:spcBef>
                  <a:spcAft>
                    <a:spcPts val="0"/>
                  </a:spcAft>
                </a:pPr>
                <a:r>
                  <a:rPr lang="en-AU" sz="1100" dirty="0" err="1">
                    <a:latin typeface="Times New Roman" panose="02020603050405020304" pitchFamily="18" charset="0"/>
                    <a:ea typeface="DengXian"/>
                    <a:cs typeface="Arial" panose="020B0604020202020204" pitchFamily="34" charset="0"/>
                  </a:rPr>
                  <a:t>xxxx</a:t>
                </a:r>
                <a:r>
                  <a:rPr lang="en-AU" sz="1100" dirty="0">
                    <a:latin typeface="Times New Roman" panose="02020603050405020304" pitchFamily="18" charset="0"/>
                    <a:ea typeface="DengXian"/>
                    <a:cs typeface="Arial" panose="020B0604020202020204" pitchFamily="34" charset="0"/>
                  </a:rPr>
                  <a:t> n=xx</a:t>
                </a:r>
              </a:p>
            </p:txBody>
          </p:sp>
          <p:sp>
            <p:nvSpPr>
              <p:cNvPr id="25" name="Flowchart: Alternate Process 72">
                <a:extLst>
                  <a:ext uri="{FF2B5EF4-FFF2-40B4-BE49-F238E27FC236}">
                    <a16:creationId xmlns:a16="http://schemas.microsoft.com/office/drawing/2014/main" id="{5F1A809B-702B-F642-A3A6-A3F658B66179}"/>
                  </a:ext>
                </a:extLst>
              </p:cNvPr>
              <p:cNvSpPr/>
              <p:nvPr/>
            </p:nvSpPr>
            <p:spPr>
              <a:xfrm>
                <a:off x="5373530" y="2482466"/>
                <a:ext cx="1133476" cy="457200"/>
              </a:xfrm>
              <a:prstGeom prst="flowChartAlternateProcess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07000"/>
                  </a:lnSpc>
                  <a:spcBef>
                    <a:spcPts val="600"/>
                  </a:spcBef>
                  <a:spcAft>
                    <a:spcPts val="1400"/>
                  </a:spcAft>
                </a:pPr>
                <a:r>
                  <a:rPr lang="en-AU" sz="1100" dirty="0">
                    <a:latin typeface="Times New Roman" panose="02020603050405020304" pitchFamily="18" charset="0"/>
                    <a:ea typeface="DengXian"/>
                    <a:cs typeface="Arial" panose="020B0604020202020204" pitchFamily="34" charset="0"/>
                  </a:rPr>
                  <a:t>Screened n=xx</a:t>
                </a:r>
                <a:endParaRPr lang="en-AU" sz="1600" dirty="0">
                  <a:effectLst/>
                  <a:latin typeface="Times New Roman" panose="02020603050405020304" pitchFamily="18" charset="0"/>
                  <a:ea typeface="DengXian"/>
                  <a:cs typeface="Arial" panose="020B0604020202020204" pitchFamily="34" charset="0"/>
                </a:endParaRPr>
              </a:p>
            </p:txBody>
          </p:sp>
          <p:cxnSp>
            <p:nvCxnSpPr>
              <p:cNvPr id="26" name="Straight Arrow Connector 25">
                <a:extLst>
                  <a:ext uri="{FF2B5EF4-FFF2-40B4-BE49-F238E27FC236}">
                    <a16:creationId xmlns:a16="http://schemas.microsoft.com/office/drawing/2014/main" id="{376C35CB-20AE-5540-B398-A0CF64041190}"/>
                  </a:ext>
                </a:extLst>
              </p:cNvPr>
              <p:cNvCxnSpPr/>
              <p:nvPr/>
            </p:nvCxnSpPr>
            <p:spPr>
              <a:xfrm>
                <a:off x="5938774" y="2962915"/>
                <a:ext cx="0" cy="57150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" name="Flowchart: Alternate Process 74">
                <a:extLst>
                  <a:ext uri="{FF2B5EF4-FFF2-40B4-BE49-F238E27FC236}">
                    <a16:creationId xmlns:a16="http://schemas.microsoft.com/office/drawing/2014/main" id="{42E4012E-9E25-674E-AF16-07790884E56B}"/>
                  </a:ext>
                </a:extLst>
              </p:cNvPr>
              <p:cNvSpPr/>
              <p:nvPr/>
            </p:nvSpPr>
            <p:spPr>
              <a:xfrm>
                <a:off x="5312489" y="3552619"/>
                <a:ext cx="1292878" cy="438150"/>
              </a:xfrm>
              <a:prstGeom prst="flowChartAlternateProcess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07000"/>
                  </a:lnSpc>
                  <a:spcBef>
                    <a:spcPts val="600"/>
                  </a:spcBef>
                  <a:spcAft>
                    <a:spcPts val="1400"/>
                  </a:spcAft>
                </a:pPr>
                <a:r>
                  <a:rPr lang="en-AU" sz="11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DengXian"/>
                    <a:cs typeface="Arial" panose="020B0604020202020204" pitchFamily="34" charset="0"/>
                  </a:rPr>
                  <a:t>Recruited and randomised n=xx</a:t>
                </a:r>
                <a:endParaRPr lang="en-AU" sz="1600" dirty="0"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DengXian"/>
                  <a:cs typeface="Arial" panose="020B0604020202020204" pitchFamily="34" charset="0"/>
                </a:endParaRPr>
              </a:p>
            </p:txBody>
          </p:sp>
          <p:cxnSp>
            <p:nvCxnSpPr>
              <p:cNvPr id="28" name="Straight Arrow Connector 27">
                <a:extLst>
                  <a:ext uri="{FF2B5EF4-FFF2-40B4-BE49-F238E27FC236}">
                    <a16:creationId xmlns:a16="http://schemas.microsoft.com/office/drawing/2014/main" id="{279420D0-6EE4-7E4D-B090-10E3B9E0240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29367" y="2172887"/>
                <a:ext cx="1155275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39199DD6-D0BF-B643-8A8A-4A0050CA8AF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37757" y="3213192"/>
                <a:ext cx="1155275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Arrow Connector 29">
                <a:extLst>
                  <a:ext uri="{FF2B5EF4-FFF2-40B4-BE49-F238E27FC236}">
                    <a16:creationId xmlns:a16="http://schemas.microsoft.com/office/drawing/2014/main" id="{2FCC342C-7E1E-4E47-A30A-AA5B4239FAC7}"/>
                  </a:ext>
                </a:extLst>
              </p:cNvPr>
              <p:cNvCxnSpPr/>
              <p:nvPr/>
            </p:nvCxnSpPr>
            <p:spPr>
              <a:xfrm>
                <a:off x="5926804" y="1881229"/>
                <a:ext cx="0" cy="57150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E8F50906-5CA1-EA42-ABCA-5B53C6C04145}"/>
                  </a:ext>
                </a:extLst>
              </p:cNvPr>
              <p:cNvSpPr/>
              <p:nvPr/>
            </p:nvSpPr>
            <p:spPr>
              <a:xfrm>
                <a:off x="1111402" y="972153"/>
                <a:ext cx="1949193" cy="370290"/>
              </a:xfrm>
              <a:prstGeom prst="rect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AU" dirty="0">
                    <a:solidFill>
                      <a:schemeClr val="bg1"/>
                    </a:solidFill>
                  </a:rPr>
                  <a:t>Observational</a:t>
                </a:r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E35DB703-EAF9-0D43-9B14-3939C41FAEBE}"/>
                  </a:ext>
                </a:extLst>
              </p:cNvPr>
              <p:cNvSpPr/>
              <p:nvPr/>
            </p:nvSpPr>
            <p:spPr>
              <a:xfrm>
                <a:off x="5756374" y="979968"/>
                <a:ext cx="1949193" cy="370290"/>
              </a:xfrm>
              <a:prstGeom prst="rect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AU" dirty="0">
                    <a:solidFill>
                      <a:schemeClr val="bg1"/>
                    </a:solidFill>
                  </a:rPr>
                  <a:t>Experimental</a:t>
                </a:r>
              </a:p>
            </p:txBody>
          </p:sp>
          <p:sp>
            <p:nvSpPr>
              <p:cNvPr id="33" name="Flowchart: Alternate Process 79">
                <a:extLst>
                  <a:ext uri="{FF2B5EF4-FFF2-40B4-BE49-F238E27FC236}">
                    <a16:creationId xmlns:a16="http://schemas.microsoft.com/office/drawing/2014/main" id="{B179F969-553A-CB45-9E69-36C9DCE910B2}"/>
                  </a:ext>
                </a:extLst>
              </p:cNvPr>
              <p:cNvSpPr/>
              <p:nvPr/>
            </p:nvSpPr>
            <p:spPr>
              <a:xfrm>
                <a:off x="7149921" y="4703111"/>
                <a:ext cx="1798559" cy="451427"/>
              </a:xfrm>
              <a:prstGeom prst="flowChartAlternateProcess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b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r>
                  <a:rPr lang="en-AU" sz="1100" b="1" dirty="0">
                    <a:latin typeface="Times New Roman" panose="02020603050405020304" pitchFamily="18" charset="0"/>
                    <a:ea typeface="DengXian"/>
                    <a:cs typeface="Arial" panose="020B0604020202020204" pitchFamily="34" charset="0"/>
                  </a:rPr>
                  <a:t>Drop out</a:t>
                </a:r>
                <a:r>
                  <a:rPr lang="en-AU" sz="1100" dirty="0">
                    <a:latin typeface="Times New Roman" panose="02020603050405020304" pitchFamily="18" charset="0"/>
                    <a:ea typeface="DengXian"/>
                    <a:cs typeface="Arial" panose="020B0604020202020204" pitchFamily="34" charset="0"/>
                  </a:rPr>
                  <a:t>: </a:t>
                </a:r>
              </a:p>
              <a:p>
                <a:r>
                  <a:rPr lang="en-AU" sz="1100" dirty="0" err="1">
                    <a:latin typeface="Times New Roman" panose="02020603050405020304" pitchFamily="18" charset="0"/>
                    <a:ea typeface="DengXian"/>
                    <a:cs typeface="Arial" panose="020B0604020202020204" pitchFamily="34" charset="0"/>
                  </a:rPr>
                  <a:t>xxxx</a:t>
                </a:r>
                <a:r>
                  <a:rPr lang="en-AU" sz="1100" dirty="0">
                    <a:latin typeface="Times New Roman" panose="02020603050405020304" pitchFamily="18" charset="0"/>
                    <a:ea typeface="DengXian"/>
                    <a:cs typeface="Arial" panose="020B0604020202020204" pitchFamily="34" charset="0"/>
                  </a:rPr>
                  <a:t> n=xx </a:t>
                </a:r>
                <a:endParaRPr lang="en-AU" sz="1600" dirty="0">
                  <a:effectLst/>
                  <a:latin typeface="Times New Roman" panose="02020603050405020304" pitchFamily="18" charset="0"/>
                  <a:ea typeface="DengXian"/>
                  <a:cs typeface="Arial" panose="020B0604020202020204" pitchFamily="34" charset="0"/>
                </a:endParaRPr>
              </a:p>
            </p:txBody>
          </p:sp>
          <p:cxnSp>
            <p:nvCxnSpPr>
              <p:cNvPr id="34" name="Straight Arrow Connector 33">
                <a:extLst>
                  <a:ext uri="{FF2B5EF4-FFF2-40B4-BE49-F238E27FC236}">
                    <a16:creationId xmlns:a16="http://schemas.microsoft.com/office/drawing/2014/main" id="{DB1257B0-FE96-7D46-9DFB-D5909DF5225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511144" y="4848668"/>
                <a:ext cx="1612602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Arrow Connector 34">
                <a:extLst>
                  <a:ext uri="{FF2B5EF4-FFF2-40B4-BE49-F238E27FC236}">
                    <a16:creationId xmlns:a16="http://schemas.microsoft.com/office/drawing/2014/main" id="{DC328CA5-A6D1-9A41-B081-A9A63E13EADF}"/>
                  </a:ext>
                </a:extLst>
              </p:cNvPr>
              <p:cNvCxnSpPr/>
              <p:nvPr/>
            </p:nvCxnSpPr>
            <p:spPr>
              <a:xfrm>
                <a:off x="5504244" y="4015910"/>
                <a:ext cx="0" cy="34290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6" name="Straight Arrow Connector 35">
                <a:extLst>
                  <a:ext uri="{FF2B5EF4-FFF2-40B4-BE49-F238E27FC236}">
                    <a16:creationId xmlns:a16="http://schemas.microsoft.com/office/drawing/2014/main" id="{044A4FB7-3E97-BB42-BEAE-1D3EE2E5802E}"/>
                  </a:ext>
                </a:extLst>
              </p:cNvPr>
              <p:cNvCxnSpPr/>
              <p:nvPr/>
            </p:nvCxnSpPr>
            <p:spPr>
              <a:xfrm>
                <a:off x="6358234" y="4012402"/>
                <a:ext cx="0" cy="34290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7" name="Flowchart: Alternate Process 84">
                <a:extLst>
                  <a:ext uri="{FF2B5EF4-FFF2-40B4-BE49-F238E27FC236}">
                    <a16:creationId xmlns:a16="http://schemas.microsoft.com/office/drawing/2014/main" id="{2621F6A5-EC14-B64F-ADE6-E001BFEE5B80}"/>
                  </a:ext>
                </a:extLst>
              </p:cNvPr>
              <p:cNvSpPr/>
              <p:nvPr/>
            </p:nvSpPr>
            <p:spPr>
              <a:xfrm>
                <a:off x="4745751" y="4358810"/>
                <a:ext cx="1133476" cy="342900"/>
              </a:xfrm>
              <a:prstGeom prst="flowChartAlternateProcess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07000"/>
                  </a:lnSpc>
                  <a:spcBef>
                    <a:spcPts val="600"/>
                  </a:spcBef>
                  <a:spcAft>
                    <a:spcPts val="1400"/>
                  </a:spcAft>
                </a:pPr>
                <a:r>
                  <a:rPr lang="en-AU" sz="1100">
                    <a:latin typeface="Times New Roman" panose="02020603050405020304" pitchFamily="18" charset="0"/>
                    <a:ea typeface="DengXian"/>
                    <a:cs typeface="Arial" panose="020B0604020202020204" pitchFamily="34" charset="0"/>
                  </a:rPr>
                  <a:t>n=xx Group 1</a:t>
                </a:r>
                <a:endParaRPr lang="en-AU" sz="1600" dirty="0">
                  <a:effectLst/>
                  <a:latin typeface="Times New Roman" panose="02020603050405020304" pitchFamily="18" charset="0"/>
                  <a:ea typeface="DengXian"/>
                  <a:cs typeface="Arial" panose="020B0604020202020204" pitchFamily="34" charset="0"/>
                </a:endParaRPr>
              </a:p>
            </p:txBody>
          </p:sp>
          <p:cxnSp>
            <p:nvCxnSpPr>
              <p:cNvPr id="38" name="Straight Arrow Connector 37">
                <a:extLst>
                  <a:ext uri="{FF2B5EF4-FFF2-40B4-BE49-F238E27FC236}">
                    <a16:creationId xmlns:a16="http://schemas.microsoft.com/office/drawing/2014/main" id="{B637BF0A-EBD7-274F-92A3-B7390CD0FDF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368130" y="4928824"/>
                <a:ext cx="755616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" name="Flowchart: Alternate Process 103">
                <a:extLst>
                  <a:ext uri="{FF2B5EF4-FFF2-40B4-BE49-F238E27FC236}">
                    <a16:creationId xmlns:a16="http://schemas.microsoft.com/office/drawing/2014/main" id="{96E90C3C-6C8F-9B45-9FB4-8A87D7AD564D}"/>
                  </a:ext>
                </a:extLst>
              </p:cNvPr>
              <p:cNvSpPr/>
              <p:nvPr/>
            </p:nvSpPr>
            <p:spPr>
              <a:xfrm>
                <a:off x="5209094" y="5090980"/>
                <a:ext cx="1457325" cy="438150"/>
              </a:xfrm>
              <a:prstGeom prst="flowChartAlternateProcess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07000"/>
                  </a:lnSpc>
                  <a:spcBef>
                    <a:spcPts val="600"/>
                  </a:spcBef>
                  <a:spcAft>
                    <a:spcPts val="1400"/>
                  </a:spcAft>
                </a:pPr>
                <a:r>
                  <a:rPr lang="en-AU" sz="11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DengXian"/>
                    <a:cs typeface="Arial" panose="020B0604020202020204" pitchFamily="34" charset="0"/>
                  </a:rPr>
                  <a:t>Completed trial n=xx</a:t>
                </a:r>
                <a:endParaRPr lang="en-AU" sz="1600" dirty="0"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DengXian"/>
                  <a:cs typeface="Arial" panose="020B0604020202020204" pitchFamily="34" charset="0"/>
                </a:endParaRPr>
              </a:p>
            </p:txBody>
          </p:sp>
          <p:sp>
            <p:nvSpPr>
              <p:cNvPr id="40" name="Flowchart: Alternate Process 105">
                <a:extLst>
                  <a:ext uri="{FF2B5EF4-FFF2-40B4-BE49-F238E27FC236}">
                    <a16:creationId xmlns:a16="http://schemas.microsoft.com/office/drawing/2014/main" id="{6F49EEEA-17A4-8C4D-AAAC-B568B07CED88}"/>
                  </a:ext>
                </a:extLst>
              </p:cNvPr>
              <p:cNvSpPr/>
              <p:nvPr/>
            </p:nvSpPr>
            <p:spPr>
              <a:xfrm>
                <a:off x="5924940" y="4358808"/>
                <a:ext cx="1133476" cy="342900"/>
              </a:xfrm>
              <a:prstGeom prst="flowChartAlternateProcess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07000"/>
                  </a:lnSpc>
                  <a:spcBef>
                    <a:spcPts val="600"/>
                  </a:spcBef>
                  <a:spcAft>
                    <a:spcPts val="1400"/>
                  </a:spcAft>
                </a:pPr>
                <a:r>
                  <a:rPr lang="en-AU" sz="1100" dirty="0">
                    <a:latin typeface="Times New Roman" panose="02020603050405020304" pitchFamily="18" charset="0"/>
                    <a:ea typeface="DengXian"/>
                    <a:cs typeface="Arial" panose="020B0604020202020204" pitchFamily="34" charset="0"/>
                  </a:rPr>
                  <a:t>n=xx Group 2</a:t>
                </a:r>
                <a:endParaRPr lang="en-AU" sz="1600" dirty="0">
                  <a:effectLst/>
                  <a:latin typeface="Times New Roman" panose="02020603050405020304" pitchFamily="18" charset="0"/>
                  <a:ea typeface="DengXian"/>
                  <a:cs typeface="Arial" panose="020B0604020202020204" pitchFamily="34" charset="0"/>
                </a:endParaRPr>
              </a:p>
            </p:txBody>
          </p:sp>
          <p:cxnSp>
            <p:nvCxnSpPr>
              <p:cNvPr id="41" name="Straight Arrow Connector 40">
                <a:extLst>
                  <a:ext uri="{FF2B5EF4-FFF2-40B4-BE49-F238E27FC236}">
                    <a16:creationId xmlns:a16="http://schemas.microsoft.com/office/drawing/2014/main" id="{119C99DA-74BF-2A4D-B70A-6C93A580E28E}"/>
                  </a:ext>
                </a:extLst>
              </p:cNvPr>
              <p:cNvCxnSpPr/>
              <p:nvPr/>
            </p:nvCxnSpPr>
            <p:spPr>
              <a:xfrm>
                <a:off x="5504244" y="4717658"/>
                <a:ext cx="0" cy="34290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2" name="Straight Arrow Connector 41">
                <a:extLst>
                  <a:ext uri="{FF2B5EF4-FFF2-40B4-BE49-F238E27FC236}">
                    <a16:creationId xmlns:a16="http://schemas.microsoft.com/office/drawing/2014/main" id="{2A51468D-C0AB-1348-AD26-6516347438D7}"/>
                  </a:ext>
                </a:extLst>
              </p:cNvPr>
              <p:cNvCxnSpPr/>
              <p:nvPr/>
            </p:nvCxnSpPr>
            <p:spPr>
              <a:xfrm>
                <a:off x="6358234" y="4714150"/>
                <a:ext cx="0" cy="34290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3" name="Flowchart: Alternate Process 108">
                <a:extLst>
                  <a:ext uri="{FF2B5EF4-FFF2-40B4-BE49-F238E27FC236}">
                    <a16:creationId xmlns:a16="http://schemas.microsoft.com/office/drawing/2014/main" id="{09D2C703-4C6D-A146-9B78-35010EAF104B}"/>
                  </a:ext>
                </a:extLst>
              </p:cNvPr>
              <p:cNvSpPr/>
              <p:nvPr/>
            </p:nvSpPr>
            <p:spPr>
              <a:xfrm>
                <a:off x="5120734" y="6090715"/>
                <a:ext cx="1676388" cy="457200"/>
              </a:xfrm>
              <a:prstGeom prst="flowChartAlternateProcess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07000"/>
                  </a:lnSpc>
                  <a:spcBef>
                    <a:spcPts val="600"/>
                  </a:spcBef>
                  <a:spcAft>
                    <a:spcPts val="1400"/>
                  </a:spcAft>
                </a:pPr>
                <a:r>
                  <a:rPr lang="en-AU" sz="11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DengXian"/>
                    <a:cs typeface="Arial" panose="020B0604020202020204" pitchFamily="34" charset="0"/>
                  </a:rPr>
                  <a:t>Total samples included in the analyses n=xx</a:t>
                </a:r>
                <a:endParaRPr lang="en-AU" sz="1600" dirty="0"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DengXian"/>
                  <a:cs typeface="Arial" panose="020B0604020202020204" pitchFamily="34" charset="0"/>
                </a:endParaRPr>
              </a:p>
            </p:txBody>
          </p:sp>
          <p:sp>
            <p:nvSpPr>
              <p:cNvPr id="44" name="Flowchart: Alternate Process 109">
                <a:extLst>
                  <a:ext uri="{FF2B5EF4-FFF2-40B4-BE49-F238E27FC236}">
                    <a16:creationId xmlns:a16="http://schemas.microsoft.com/office/drawing/2014/main" id="{1DEAAF18-9CDC-4C40-A74B-390A1E9A1EE4}"/>
                  </a:ext>
                </a:extLst>
              </p:cNvPr>
              <p:cNvSpPr/>
              <p:nvPr/>
            </p:nvSpPr>
            <p:spPr>
              <a:xfrm>
                <a:off x="7149921" y="5530592"/>
                <a:ext cx="1850911" cy="633359"/>
              </a:xfrm>
              <a:prstGeom prst="flowChartAlternateProcess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b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50000"/>
                  </a:lnSpc>
                  <a:spcBef>
                    <a:spcPts val="600"/>
                  </a:spcBef>
                  <a:spcAft>
                    <a:spcPts val="0"/>
                  </a:spcAft>
                </a:pPr>
                <a:r>
                  <a:rPr lang="en-AU" sz="1100" b="1" dirty="0">
                    <a:latin typeface="Times New Roman" panose="02020603050405020304" pitchFamily="18" charset="0"/>
                    <a:ea typeface="DengXian"/>
                    <a:cs typeface="Arial" panose="020B0604020202020204" pitchFamily="34" charset="0"/>
                  </a:rPr>
                  <a:t>Excluded</a:t>
                </a:r>
                <a:r>
                  <a:rPr lang="en-AU" sz="1100" dirty="0">
                    <a:latin typeface="Times New Roman" panose="02020603050405020304" pitchFamily="18" charset="0"/>
                    <a:ea typeface="DengXian"/>
                    <a:cs typeface="Arial" panose="020B0604020202020204" pitchFamily="34" charset="0"/>
                  </a:rPr>
                  <a:t>:</a:t>
                </a:r>
              </a:p>
              <a:p>
                <a:pPr>
                  <a:lnSpc>
                    <a:spcPct val="50000"/>
                  </a:lnSpc>
                  <a:spcBef>
                    <a:spcPts val="600"/>
                  </a:spcBef>
                </a:pPr>
                <a:r>
                  <a:rPr lang="en-AU" sz="1100" dirty="0">
                    <a:latin typeface="Times New Roman" panose="02020603050405020304" pitchFamily="18" charset="0"/>
                    <a:ea typeface="DengXian"/>
                    <a:cs typeface="Arial" panose="020B0604020202020204" pitchFamily="34" charset="0"/>
                  </a:rPr>
                  <a:t>Lack of sequencing n=xx </a:t>
                </a:r>
              </a:p>
              <a:p>
                <a:pPr>
                  <a:lnSpc>
                    <a:spcPct val="50000"/>
                  </a:lnSpc>
                  <a:spcBef>
                    <a:spcPts val="600"/>
                  </a:spcBef>
                </a:pPr>
                <a:r>
                  <a:rPr lang="en-AU" sz="1100" dirty="0">
                    <a:effectLst/>
                    <a:latin typeface="Times New Roman" panose="02020603050405020304" pitchFamily="18" charset="0"/>
                    <a:ea typeface="DengXian"/>
                    <a:cs typeface="Arial" panose="020B0604020202020204" pitchFamily="34" charset="0"/>
                  </a:rPr>
                  <a:t>Low </a:t>
                </a:r>
                <a:r>
                  <a:rPr lang="en-AU" sz="1100" dirty="0">
                    <a:latin typeface="Times New Roman" panose="02020603050405020304" pitchFamily="18" charset="0"/>
                    <a:ea typeface="DengXian"/>
                    <a:cs typeface="Arial" panose="020B0604020202020204" pitchFamily="34" charset="0"/>
                  </a:rPr>
                  <a:t>number of reads n=xx</a:t>
                </a:r>
                <a:endParaRPr lang="en-AU" sz="1600" dirty="0">
                  <a:effectLst/>
                  <a:latin typeface="Times New Roman" panose="02020603050405020304" pitchFamily="18" charset="0"/>
                  <a:ea typeface="DengXian"/>
                  <a:cs typeface="Arial" panose="020B0604020202020204" pitchFamily="34" charset="0"/>
                </a:endParaRPr>
              </a:p>
            </p:txBody>
          </p:sp>
          <p:cxnSp>
            <p:nvCxnSpPr>
              <p:cNvPr id="45" name="Straight Arrow Connector 44">
                <a:extLst>
                  <a:ext uri="{FF2B5EF4-FFF2-40B4-BE49-F238E27FC236}">
                    <a16:creationId xmlns:a16="http://schemas.microsoft.com/office/drawing/2014/main" id="{D1E58C66-D31B-F94A-BF8A-E70E5DA52B83}"/>
                  </a:ext>
                </a:extLst>
              </p:cNvPr>
              <p:cNvCxnSpPr/>
              <p:nvPr/>
            </p:nvCxnSpPr>
            <p:spPr>
              <a:xfrm>
                <a:off x="5964949" y="5513334"/>
                <a:ext cx="0" cy="57150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Arrow Connector 45">
                <a:extLst>
                  <a:ext uri="{FF2B5EF4-FFF2-40B4-BE49-F238E27FC236}">
                    <a16:creationId xmlns:a16="http://schemas.microsoft.com/office/drawing/2014/main" id="{FFE2BE53-F6E4-404B-8E89-9FFA9832A4E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63932" y="5763611"/>
                <a:ext cx="1155275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7" name="Flowchart: Alternate Process 112">
                <a:extLst>
                  <a:ext uri="{FF2B5EF4-FFF2-40B4-BE49-F238E27FC236}">
                    <a16:creationId xmlns:a16="http://schemas.microsoft.com/office/drawing/2014/main" id="{57B8E532-6851-C243-A6B2-55A09E90AA3B}"/>
                  </a:ext>
                </a:extLst>
              </p:cNvPr>
              <p:cNvSpPr/>
              <p:nvPr/>
            </p:nvSpPr>
            <p:spPr>
              <a:xfrm>
                <a:off x="2286487" y="5034985"/>
                <a:ext cx="1850911" cy="633359"/>
              </a:xfrm>
              <a:prstGeom prst="flowChartAlternateProcess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b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50000"/>
                  </a:lnSpc>
                  <a:spcBef>
                    <a:spcPts val="600"/>
                  </a:spcBef>
                  <a:spcAft>
                    <a:spcPts val="0"/>
                  </a:spcAft>
                </a:pPr>
                <a:r>
                  <a:rPr lang="en-AU" sz="1100" b="1" dirty="0">
                    <a:latin typeface="Times New Roman" panose="02020603050405020304" pitchFamily="18" charset="0"/>
                    <a:ea typeface="DengXian"/>
                    <a:cs typeface="Arial" panose="020B0604020202020204" pitchFamily="34" charset="0"/>
                  </a:rPr>
                  <a:t>Excluded</a:t>
                </a:r>
                <a:r>
                  <a:rPr lang="en-AU" sz="1100" dirty="0">
                    <a:latin typeface="Times New Roman" panose="02020603050405020304" pitchFamily="18" charset="0"/>
                    <a:ea typeface="DengXian"/>
                    <a:cs typeface="Arial" panose="020B0604020202020204" pitchFamily="34" charset="0"/>
                  </a:rPr>
                  <a:t>:</a:t>
                </a:r>
              </a:p>
              <a:p>
                <a:pPr>
                  <a:lnSpc>
                    <a:spcPct val="50000"/>
                  </a:lnSpc>
                  <a:spcBef>
                    <a:spcPts val="600"/>
                  </a:spcBef>
                </a:pPr>
                <a:r>
                  <a:rPr lang="en-AU" sz="1100" dirty="0">
                    <a:latin typeface="Times New Roman" panose="02020603050405020304" pitchFamily="18" charset="0"/>
                    <a:ea typeface="DengXian"/>
                    <a:cs typeface="Arial" panose="020B0604020202020204" pitchFamily="34" charset="0"/>
                  </a:rPr>
                  <a:t>Lack of sequencing n=xx </a:t>
                </a:r>
              </a:p>
              <a:p>
                <a:pPr>
                  <a:lnSpc>
                    <a:spcPct val="50000"/>
                  </a:lnSpc>
                  <a:spcBef>
                    <a:spcPts val="600"/>
                  </a:spcBef>
                </a:pPr>
                <a:r>
                  <a:rPr lang="en-AU" sz="1100" dirty="0">
                    <a:effectLst/>
                    <a:latin typeface="Times New Roman" panose="02020603050405020304" pitchFamily="18" charset="0"/>
                    <a:ea typeface="DengXian"/>
                    <a:cs typeface="Arial" panose="020B0604020202020204" pitchFamily="34" charset="0"/>
                  </a:rPr>
                  <a:t>Low </a:t>
                </a:r>
                <a:r>
                  <a:rPr lang="en-AU" sz="1100" dirty="0">
                    <a:latin typeface="Times New Roman" panose="02020603050405020304" pitchFamily="18" charset="0"/>
                    <a:ea typeface="DengXian"/>
                    <a:cs typeface="Arial" panose="020B0604020202020204" pitchFamily="34" charset="0"/>
                  </a:rPr>
                  <a:t>number of reads n=xx</a:t>
                </a:r>
                <a:endParaRPr lang="en-AU" sz="1600" dirty="0">
                  <a:effectLst/>
                  <a:latin typeface="Times New Roman" panose="02020603050405020304" pitchFamily="18" charset="0"/>
                  <a:ea typeface="DengXian"/>
                  <a:cs typeface="Arial" panose="020B0604020202020204" pitchFamily="34" charset="0"/>
                </a:endParaRPr>
              </a:p>
            </p:txBody>
          </p:sp>
          <p:pic>
            <p:nvPicPr>
              <p:cNvPr id="49" name="Picture 48">
                <a:extLst>
                  <a:ext uri="{FF2B5EF4-FFF2-40B4-BE49-F238E27FC236}">
                    <a16:creationId xmlns:a16="http://schemas.microsoft.com/office/drawing/2014/main" id="{3045D684-AEF7-514C-9763-42317CC6FDD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7096406" y="6383018"/>
                <a:ext cx="1783905" cy="195234"/>
              </a:xfrm>
              <a:prstGeom prst="rect">
                <a:avLst/>
              </a:prstGeom>
            </p:spPr>
          </p:pic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8DCC14E3-ADA4-3E4E-81B1-3224A3DCC572}"/>
                  </a:ext>
                </a:extLst>
              </p:cNvPr>
              <p:cNvSpPr txBox="1"/>
              <p:nvPr/>
            </p:nvSpPr>
            <p:spPr>
              <a:xfrm>
                <a:off x="7012033" y="6554008"/>
                <a:ext cx="197150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 err="1">
                    <a:latin typeface="+mn-lt"/>
                  </a:rPr>
                  <a:t>www.stormsmicrobiome.org</a:t>
                </a:r>
                <a:endParaRPr lang="en-US" sz="1200" dirty="0">
                  <a:latin typeface="+mn-lt"/>
                </a:endParaRPr>
              </a:p>
            </p:txBody>
          </p:sp>
        </p:grpSp>
      </p:grpSp>
      <p:pic>
        <p:nvPicPr>
          <p:cNvPr id="1026" name="Picture 2" descr="CC0">
            <a:extLst>
              <a:ext uri="{FF2B5EF4-FFF2-40B4-BE49-F238E27FC236}">
                <a16:creationId xmlns:a16="http://schemas.microsoft.com/office/drawing/2014/main" id="{26ED1F54-EBF3-23BB-1420-072BB40CC3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5524" y="5805055"/>
            <a:ext cx="1117600" cy="393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62960A6-6BCE-9AFD-F760-CD17A2689547}"/>
              </a:ext>
            </a:extLst>
          </p:cNvPr>
          <p:cNvSpPr txBox="1"/>
          <p:nvPr/>
        </p:nvSpPr>
        <p:spPr>
          <a:xfrm>
            <a:off x="259869" y="6431533"/>
            <a:ext cx="35317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err="1"/>
              <a:t>Mirzayi</a:t>
            </a:r>
            <a:r>
              <a:rPr lang="en-US" sz="1800" dirty="0"/>
              <a:t> </a:t>
            </a:r>
            <a:r>
              <a:rPr lang="en-US" sz="1800" i="1" dirty="0"/>
              <a:t>et al.</a:t>
            </a:r>
            <a:r>
              <a:rPr lang="en-US" sz="1800" dirty="0"/>
              <a:t> Nat. Medicine 2021</a:t>
            </a:r>
          </a:p>
        </p:txBody>
      </p:sp>
    </p:spTree>
    <p:extLst>
      <p:ext uri="{BB962C8B-B14F-4D97-AF65-F5344CB8AC3E}">
        <p14:creationId xmlns:p14="http://schemas.microsoft.com/office/powerpoint/2010/main" val="4659325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2187ED-3C8F-5956-A8E5-8C47E9BCD7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0039" y="2801437"/>
            <a:ext cx="8229600" cy="2317315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dirty="0"/>
              <a:t>A recurring bite-sized online alternative to multi-day microbiome conferences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regular short-format (~3 hours) conferences that provide all the key elements of a traditional conference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2EF1D7-117B-FC0D-9248-5D9B1C5ED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1C242F-20BE-4F6C-ABA6-9DCC8641EF60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3074" name="Picture 2" descr="Logo">
            <a:extLst>
              <a:ext uri="{FF2B5EF4-FFF2-40B4-BE49-F238E27FC236}">
                <a16:creationId xmlns:a16="http://schemas.microsoft.com/office/drawing/2014/main" id="{455A1EDD-4617-CC6F-80CC-974F17B9A2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82" y="95816"/>
            <a:ext cx="6162806" cy="24715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512D5AC-AED0-23A5-0741-B76F9A67CCD5}"/>
              </a:ext>
            </a:extLst>
          </p:cNvPr>
          <p:cNvSpPr txBox="1"/>
          <p:nvPr/>
        </p:nvSpPr>
        <p:spPr>
          <a:xfrm>
            <a:off x="2383420" y="5661764"/>
            <a:ext cx="43771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www.microbiome-vif.org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1584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6B56C5-57C9-5C14-8F7A-A84922DC77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9268" y="4579780"/>
            <a:ext cx="5542767" cy="1018488"/>
          </a:xfrm>
        </p:spPr>
        <p:txBody>
          <a:bodyPr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2400" dirty="0"/>
              <a:t>EuroBioC2023 Ghent, Belgium, Sept 20-22</a:t>
            </a:r>
          </a:p>
          <a:p>
            <a:pPr marL="0" indent="0" algn="ctr">
              <a:buNone/>
            </a:pPr>
            <a:r>
              <a:rPr lang="en-US" sz="2400" dirty="0"/>
              <a:t>partially hybrid</a:t>
            </a:r>
          </a:p>
          <a:p>
            <a:pPr marL="0" indent="0" algn="ctr">
              <a:buNone/>
            </a:pPr>
            <a:r>
              <a:rPr lang="en-US" sz="2400" dirty="0"/>
              <a:t>https://eurobioc2023.bioconductor.org/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0E20E8-1C01-9B61-980C-746DDD198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1C242F-20BE-4F6C-ABA6-9DCC8641EF60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4100" name="Picture 4">
            <a:extLst>
              <a:ext uri="{FF2B5EF4-FFF2-40B4-BE49-F238E27FC236}">
                <a16:creationId xmlns:a16="http://schemas.microsoft.com/office/drawing/2014/main" id="{3723ACC3-D53D-E9CC-E66D-6E4DE9FCD2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3059" y="3639137"/>
            <a:ext cx="2503741" cy="2899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>
            <a:extLst>
              <a:ext uri="{FF2B5EF4-FFF2-40B4-BE49-F238E27FC236}">
                <a16:creationId xmlns:a16="http://schemas.microsoft.com/office/drawing/2014/main" id="{A1ECD47B-3113-7F0F-3E3E-B11B347105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2043" y="66641"/>
            <a:ext cx="4045907" cy="11646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F598CD8-8DEC-28E4-C292-65EC64530217}"/>
              </a:ext>
            </a:extLst>
          </p:cNvPr>
          <p:cNvSpPr txBox="1">
            <a:spLocks/>
          </p:cNvSpPr>
          <p:nvPr/>
        </p:nvSpPr>
        <p:spPr>
          <a:xfrm>
            <a:off x="3220651" y="1804870"/>
            <a:ext cx="5542767" cy="1018488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auto">
              <a:spcAft>
                <a:spcPts val="0"/>
              </a:spcAft>
              <a:buFont typeface="Arial" pitchFamily="34" charset="0"/>
              <a:buNone/>
            </a:pPr>
            <a:r>
              <a:rPr lang="en-US" sz="2400" dirty="0"/>
              <a:t>BioC2023 Boston, USA, Aug 2-4</a:t>
            </a:r>
          </a:p>
          <a:p>
            <a:pPr marL="0" indent="0" algn="ctr" fontAlgn="auto">
              <a:spcAft>
                <a:spcPts val="0"/>
              </a:spcAft>
              <a:buFont typeface="Arial" pitchFamily="34" charset="0"/>
              <a:buNone/>
            </a:pPr>
            <a:r>
              <a:rPr lang="en-US" sz="2400" dirty="0"/>
              <a:t>fully hybrid</a:t>
            </a:r>
          </a:p>
          <a:p>
            <a:pPr marL="0" indent="0" algn="ctr" fontAlgn="auto">
              <a:spcAft>
                <a:spcPts val="0"/>
              </a:spcAft>
              <a:buFont typeface="Arial" pitchFamily="34" charset="0"/>
              <a:buNone/>
            </a:pPr>
            <a:r>
              <a:rPr lang="en-US" sz="2400" dirty="0"/>
              <a:t>https://bioc2023.bioconductor.org/</a:t>
            </a:r>
          </a:p>
        </p:txBody>
      </p:sp>
      <p:pic>
        <p:nvPicPr>
          <p:cNvPr id="4104" name="Picture 8">
            <a:extLst>
              <a:ext uri="{FF2B5EF4-FFF2-40B4-BE49-F238E27FC236}">
                <a16:creationId xmlns:a16="http://schemas.microsoft.com/office/drawing/2014/main" id="{C800E727-2202-5FB1-6EA5-5992E579DD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0920" y="864226"/>
            <a:ext cx="2503741" cy="2899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49045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CDA1E-578D-3EE8-80AF-DAE2B0664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Pitfall 1: clustering &amp; classification tools find clusters in continuous variation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48FCD2-BD99-1FF1-47C5-D276B72E27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1C242F-20BE-4F6C-ABA6-9DCC8641EF60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6A02AE2-60D0-3C12-E181-256569B31AB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467" t="16184" r="6074" b="18842"/>
          <a:stretch/>
        </p:blipFill>
        <p:spPr>
          <a:xfrm>
            <a:off x="2057240" y="1676709"/>
            <a:ext cx="5230951" cy="175229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45AADB2-2097-4586-01A0-2F64091A06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8833" y="3612017"/>
            <a:ext cx="2966334" cy="2561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78934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B3CDA1E-578D-3EE8-80AF-DAE2B0664CF8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Pitfall 2: clustering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lang="en-US" dirty="0"/>
                  <a:t> classification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B3CDA1E-578D-3EE8-80AF-DAE2B0664CF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389" r="-1389" b="-98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AEA7CD-B345-90FB-FF6C-BFFE9CF142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Clustering</a:t>
            </a:r>
            <a:r>
              <a:rPr lang="en-US" dirty="0"/>
              <a:t>: grouping similar observations together in a training dataset</a:t>
            </a:r>
          </a:p>
          <a:p>
            <a:pPr lvl="1"/>
            <a:r>
              <a:rPr lang="en-US" dirty="0"/>
              <a:t>good for exploration, discovery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Classification</a:t>
            </a:r>
            <a:r>
              <a:rPr lang="en-US" dirty="0"/>
              <a:t>: assigning a single observation to a class or subtype</a:t>
            </a:r>
          </a:p>
          <a:p>
            <a:pPr lvl="1"/>
            <a:r>
              <a:rPr lang="en-US" dirty="0"/>
              <a:t>required for application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48FCD2-BD99-1FF1-47C5-D276B72E27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1C242F-20BE-4F6C-ABA6-9DCC8641EF60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1921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C97963-8153-B440-D39E-353E7C816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1C242F-20BE-4F6C-ABA6-9DCC8641EF60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2050" name="Picture 2" descr="Figure">
            <a:extLst>
              <a:ext uri="{FF2B5EF4-FFF2-40B4-BE49-F238E27FC236}">
                <a16:creationId xmlns:a16="http://schemas.microsoft.com/office/drawing/2014/main" id="{84EF9615-A988-C84B-E24C-B221FA538BA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1852" b="42320"/>
          <a:stretch/>
        </p:blipFill>
        <p:spPr bwMode="auto">
          <a:xfrm>
            <a:off x="649750" y="2875038"/>
            <a:ext cx="2573867" cy="27342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EFA0B6A-C294-4367-57A2-0E67C195C38A}"/>
              </a:ext>
            </a:extLst>
          </p:cNvPr>
          <p:cNvSpPr txBox="1"/>
          <p:nvPr/>
        </p:nvSpPr>
        <p:spPr>
          <a:xfrm>
            <a:off x="1195058" y="1425559"/>
            <a:ext cx="694933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Dip 1: define a separation between observations</a:t>
            </a:r>
          </a:p>
          <a:p>
            <a:r>
              <a:rPr lang="en-US" dirty="0"/>
              <a:t>Dip 2: test for a difference across the separation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490DF7-920A-226F-BE26-9D4FCB31E87C}"/>
              </a:ext>
            </a:extLst>
          </p:cNvPr>
          <p:cNvSpPr txBox="1"/>
          <p:nvPr/>
        </p:nvSpPr>
        <p:spPr>
          <a:xfrm>
            <a:off x="903750" y="5834983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2B2AE28-8D26-A88C-D36C-494EFB0D8BEE}"/>
              </a:ext>
            </a:extLst>
          </p:cNvPr>
          <p:cNvSpPr txBox="1"/>
          <p:nvPr/>
        </p:nvSpPr>
        <p:spPr>
          <a:xfrm>
            <a:off x="807406" y="2480325"/>
            <a:ext cx="26084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García-</a:t>
            </a:r>
            <a:r>
              <a:rPr lang="en-US" sz="1000" dirty="0" err="1"/>
              <a:t>Mantrana</a:t>
            </a:r>
            <a:r>
              <a:rPr lang="en-US" sz="1000" dirty="0"/>
              <a:t> </a:t>
            </a:r>
            <a:r>
              <a:rPr lang="en-US" sz="1000" i="1" dirty="0"/>
              <a:t>et al., Gut Microbes 2020</a:t>
            </a:r>
            <a:endParaRPr lang="en-US" sz="1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C227457-4E40-4970-DBF1-BF2C881CE7D0}"/>
              </a:ext>
            </a:extLst>
          </p:cNvPr>
          <p:cNvSpPr txBox="1"/>
          <p:nvPr/>
        </p:nvSpPr>
        <p:spPr>
          <a:xfrm>
            <a:off x="3757877" y="2746920"/>
            <a:ext cx="5109091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Courier" pitchFamily="2" charset="0"/>
              </a:rPr>
              <a:t>set.seed</a:t>
            </a:r>
            <a:r>
              <a:rPr lang="en-US" sz="1000" dirty="0">
                <a:latin typeface="Courier" pitchFamily="2" charset="0"/>
              </a:rPr>
              <a:t>(1)</a:t>
            </a:r>
          </a:p>
          <a:p>
            <a:r>
              <a:rPr lang="en-US" sz="1000" dirty="0">
                <a:latin typeface="Courier" pitchFamily="2" charset="0"/>
              </a:rPr>
              <a:t>mat &lt;- matrix(</a:t>
            </a:r>
            <a:r>
              <a:rPr lang="en-US" sz="1000" dirty="0" err="1">
                <a:latin typeface="Courier" pitchFamily="2" charset="0"/>
              </a:rPr>
              <a:t>rnorm</a:t>
            </a:r>
            <a:r>
              <a:rPr lang="en-US" sz="1000" dirty="0">
                <a:latin typeface="Courier" pitchFamily="2" charset="0"/>
              </a:rPr>
              <a:t>(1e6), </a:t>
            </a:r>
            <a:r>
              <a:rPr lang="en-US" sz="1000" dirty="0" err="1">
                <a:latin typeface="Courier" pitchFamily="2" charset="0"/>
              </a:rPr>
              <a:t>ncol</a:t>
            </a:r>
            <a:r>
              <a:rPr lang="en-US" sz="1000" dirty="0">
                <a:latin typeface="Courier" pitchFamily="2" charset="0"/>
              </a:rPr>
              <a:t> = 1000)</a:t>
            </a:r>
          </a:p>
          <a:p>
            <a:r>
              <a:rPr lang="en-US" sz="1000" dirty="0" err="1">
                <a:latin typeface="Courier" pitchFamily="2" charset="0"/>
              </a:rPr>
              <a:t>mdist</a:t>
            </a:r>
            <a:r>
              <a:rPr lang="en-US" sz="1000" dirty="0">
                <a:latin typeface="Courier" pitchFamily="2" charset="0"/>
              </a:rPr>
              <a:t> &lt;- </a:t>
            </a:r>
            <a:r>
              <a:rPr lang="en-US" sz="1000" dirty="0" err="1">
                <a:latin typeface="Courier" pitchFamily="2" charset="0"/>
              </a:rPr>
              <a:t>dist</a:t>
            </a:r>
            <a:r>
              <a:rPr lang="en-US" sz="1000" dirty="0">
                <a:latin typeface="Courier" pitchFamily="2" charset="0"/>
              </a:rPr>
              <a:t>(mat)</a:t>
            </a:r>
          </a:p>
          <a:p>
            <a:r>
              <a:rPr lang="en-US" sz="1000" dirty="0" err="1">
                <a:latin typeface="Courier" pitchFamily="2" charset="0"/>
              </a:rPr>
              <a:t>hc</a:t>
            </a:r>
            <a:r>
              <a:rPr lang="en-US" sz="1000" dirty="0">
                <a:latin typeface="Courier" pitchFamily="2" charset="0"/>
              </a:rPr>
              <a:t> &lt;- </a:t>
            </a:r>
            <a:r>
              <a:rPr lang="en-US" sz="1000" dirty="0" err="1">
                <a:latin typeface="Courier" pitchFamily="2" charset="0"/>
              </a:rPr>
              <a:t>hclust</a:t>
            </a:r>
            <a:r>
              <a:rPr lang="en-US" sz="1000" dirty="0">
                <a:latin typeface="Courier" pitchFamily="2" charset="0"/>
              </a:rPr>
              <a:t>(</a:t>
            </a:r>
            <a:r>
              <a:rPr lang="en-US" sz="1000" dirty="0" err="1">
                <a:latin typeface="Courier" pitchFamily="2" charset="0"/>
              </a:rPr>
              <a:t>mdist</a:t>
            </a:r>
            <a:r>
              <a:rPr lang="en-US" sz="1000" dirty="0">
                <a:latin typeface="Courier" pitchFamily="2" charset="0"/>
              </a:rPr>
              <a:t>)</a:t>
            </a:r>
          </a:p>
          <a:p>
            <a:r>
              <a:rPr lang="en-US" sz="1000" dirty="0">
                <a:latin typeface="Courier" pitchFamily="2" charset="0"/>
              </a:rPr>
              <a:t>cl &lt;- </a:t>
            </a:r>
            <a:r>
              <a:rPr lang="en-US" sz="1000" dirty="0" err="1">
                <a:latin typeface="Courier" pitchFamily="2" charset="0"/>
              </a:rPr>
              <a:t>cutree</a:t>
            </a:r>
            <a:r>
              <a:rPr lang="en-US" sz="1000" dirty="0">
                <a:latin typeface="Courier" pitchFamily="2" charset="0"/>
              </a:rPr>
              <a:t>(</a:t>
            </a:r>
            <a:r>
              <a:rPr lang="en-US" sz="1000" dirty="0" err="1">
                <a:latin typeface="Courier" pitchFamily="2" charset="0"/>
              </a:rPr>
              <a:t>hc</a:t>
            </a:r>
            <a:r>
              <a:rPr lang="en-US" sz="1000" dirty="0">
                <a:latin typeface="Courier" pitchFamily="2" charset="0"/>
              </a:rPr>
              <a:t>, k = 20)</a:t>
            </a:r>
          </a:p>
          <a:p>
            <a:r>
              <a:rPr lang="en-US" sz="1000" dirty="0" err="1">
                <a:latin typeface="Courier" pitchFamily="2" charset="0"/>
              </a:rPr>
              <a:t>GUniFrac</a:t>
            </a:r>
            <a:r>
              <a:rPr lang="en-US" sz="1000" dirty="0">
                <a:latin typeface="Courier" pitchFamily="2" charset="0"/>
              </a:rPr>
              <a:t>::</a:t>
            </a:r>
            <a:r>
              <a:rPr lang="en-US" sz="1000" dirty="0" err="1">
                <a:latin typeface="Courier" pitchFamily="2" charset="0"/>
              </a:rPr>
              <a:t>PermanovaG</a:t>
            </a:r>
            <a:r>
              <a:rPr lang="en-US" sz="1000" dirty="0">
                <a:latin typeface="Courier" pitchFamily="2" charset="0"/>
              </a:rPr>
              <a:t>(list(</a:t>
            </a:r>
            <a:r>
              <a:rPr lang="en-US" sz="1000" dirty="0" err="1">
                <a:latin typeface="Courier" pitchFamily="2" charset="0"/>
              </a:rPr>
              <a:t>mdist</a:t>
            </a:r>
            <a:r>
              <a:rPr lang="en-US" sz="1000" dirty="0">
                <a:latin typeface="Courier" pitchFamily="2" charset="0"/>
              </a:rPr>
              <a:t>) ~ cl)</a:t>
            </a:r>
          </a:p>
          <a:p>
            <a:r>
              <a:rPr lang="en-US" sz="1000" dirty="0">
                <a:latin typeface="Courier" pitchFamily="2" charset="0"/>
              </a:rPr>
              <a:t>...</a:t>
            </a:r>
          </a:p>
          <a:p>
            <a:r>
              <a:rPr lang="en-US" sz="1000" dirty="0">
                <a:latin typeface="Courier" pitchFamily="2" charset="0"/>
              </a:rPr>
              <a:t>#&gt; Permutation: free</a:t>
            </a:r>
          </a:p>
          <a:p>
            <a:r>
              <a:rPr lang="en-US" sz="1000" dirty="0">
                <a:latin typeface="Courier" pitchFamily="2" charset="0"/>
              </a:rPr>
              <a:t>#&gt; Number of permutations: 999</a:t>
            </a:r>
          </a:p>
          <a:p>
            <a:r>
              <a:rPr lang="en-US" sz="1000" dirty="0">
                <a:latin typeface="Courier" pitchFamily="2" charset="0"/>
              </a:rPr>
              <a:t>#&gt;</a:t>
            </a:r>
          </a:p>
          <a:p>
            <a:r>
              <a:rPr lang="en-US" sz="1000" dirty="0">
                <a:latin typeface="Courier" pitchFamily="2" charset="0"/>
              </a:rPr>
              <a:t>#&gt; Terms added sequentially (first to last)</a:t>
            </a:r>
          </a:p>
          <a:p>
            <a:r>
              <a:rPr lang="en-US" sz="1000" dirty="0">
                <a:latin typeface="Courier" pitchFamily="2" charset="0"/>
              </a:rPr>
              <a:t>#&gt;</a:t>
            </a:r>
          </a:p>
          <a:p>
            <a:r>
              <a:rPr lang="en-US" sz="1000" dirty="0">
                <a:latin typeface="Courier" pitchFamily="2" charset="0"/>
              </a:rPr>
              <a:t>#&gt;    </a:t>
            </a:r>
            <a:r>
              <a:rPr lang="en-US" sz="1000" dirty="0" err="1">
                <a:latin typeface="Courier" pitchFamily="2" charset="0"/>
              </a:rPr>
              <a:t>Df</a:t>
            </a:r>
            <a:r>
              <a:rPr lang="en-US" sz="1000" dirty="0">
                <a:latin typeface="Courier" pitchFamily="2" charset="0"/>
              </a:rPr>
              <a:t> </a:t>
            </a:r>
            <a:r>
              <a:rPr lang="en-US" sz="1000" dirty="0" err="1">
                <a:latin typeface="Courier" pitchFamily="2" charset="0"/>
              </a:rPr>
              <a:t>SumsOfSqs</a:t>
            </a:r>
            <a:r>
              <a:rPr lang="en-US" sz="1000" dirty="0">
                <a:latin typeface="Courier" pitchFamily="2" charset="0"/>
              </a:rPr>
              <a:t> </a:t>
            </a:r>
            <a:r>
              <a:rPr lang="en-US" sz="1000" dirty="0" err="1">
                <a:latin typeface="Courier" pitchFamily="2" charset="0"/>
              </a:rPr>
              <a:t>MeanSqs</a:t>
            </a:r>
            <a:r>
              <a:rPr lang="en-US" sz="1000" dirty="0">
                <a:latin typeface="Courier" pitchFamily="2" charset="0"/>
              </a:rPr>
              <a:t> </a:t>
            </a:r>
            <a:r>
              <a:rPr lang="en-US" sz="1000" dirty="0" err="1">
                <a:latin typeface="Courier" pitchFamily="2" charset="0"/>
              </a:rPr>
              <a:t>F.Model</a:t>
            </a:r>
            <a:r>
              <a:rPr lang="en-US" sz="1000" dirty="0">
                <a:latin typeface="Courier" pitchFamily="2" charset="0"/>
              </a:rPr>
              <a:t> R2      </a:t>
            </a:r>
            <a:r>
              <a:rPr lang="en-US" sz="1000" dirty="0" err="1">
                <a:latin typeface="Courier" pitchFamily="2" charset="0"/>
              </a:rPr>
              <a:t>Pr</a:t>
            </a:r>
            <a:r>
              <a:rPr lang="en-US" sz="1000" dirty="0">
                <a:latin typeface="Courier" pitchFamily="2" charset="0"/>
              </a:rPr>
              <a:t>(&gt;F)</a:t>
            </a:r>
          </a:p>
          <a:p>
            <a:r>
              <a:rPr lang="en-US" sz="1000" dirty="0">
                <a:latin typeface="Courier" pitchFamily="2" charset="0"/>
              </a:rPr>
              <a:t>#&gt; cl 1  1235      1234.9  1.2346  0.00124 </a:t>
            </a:r>
            <a:r>
              <a:rPr lang="en-US" sz="1000" dirty="0">
                <a:highlight>
                  <a:srgbClr val="FFFF00"/>
                </a:highlight>
                <a:latin typeface="Courier" pitchFamily="2" charset="0"/>
              </a:rPr>
              <a:t>0.001 ***</a:t>
            </a:r>
          </a:p>
          <a:p>
            <a:r>
              <a:rPr lang="en-US" sz="1000" dirty="0">
                <a:latin typeface="Courier" pitchFamily="2" charset="0"/>
              </a:rPr>
              <a:t>#&gt; Residuals 998 998182 1000.2 0.99876</a:t>
            </a:r>
          </a:p>
          <a:p>
            <a:r>
              <a:rPr lang="en-US" sz="1000" dirty="0">
                <a:latin typeface="Courier" pitchFamily="2" charset="0"/>
              </a:rPr>
              <a:t>#&gt; Total 999 999417 1.00000</a:t>
            </a:r>
          </a:p>
          <a:p>
            <a:r>
              <a:rPr lang="en-US" sz="1000" dirty="0">
                <a:latin typeface="Courier" pitchFamily="2" charset="0"/>
              </a:rPr>
              <a:t>#&gt; ---</a:t>
            </a:r>
          </a:p>
          <a:p>
            <a:r>
              <a:rPr lang="en-US" sz="1000" dirty="0">
                <a:latin typeface="Courier" pitchFamily="2" charset="0"/>
              </a:rPr>
              <a:t>#&gt; </a:t>
            </a:r>
            <a:r>
              <a:rPr lang="en-US" sz="1000" dirty="0" err="1">
                <a:latin typeface="Courier" pitchFamily="2" charset="0"/>
              </a:rPr>
              <a:t>Signif</a:t>
            </a:r>
            <a:r>
              <a:rPr lang="en-US" sz="1000" dirty="0">
                <a:latin typeface="Courier" pitchFamily="2" charset="0"/>
              </a:rPr>
              <a:t>. codes: 0 '***' 0.001 '**' 0.01 '*' 0.05 '.' 0.1 ' ' 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AC6BC8D-6AE1-03F4-292D-919BCA0CA29B}"/>
              </a:ext>
            </a:extLst>
          </p:cNvPr>
          <p:cNvSpPr txBox="1"/>
          <p:nvPr/>
        </p:nvSpPr>
        <p:spPr>
          <a:xfrm>
            <a:off x="5542820" y="2480324"/>
            <a:ext cx="153920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/>
              <a:t>My simulated example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EAD7C33-BAA0-B92E-3E71-6311334F34B8}"/>
              </a:ext>
            </a:extLst>
          </p:cNvPr>
          <p:cNvSpPr/>
          <p:nvPr/>
        </p:nvSpPr>
        <p:spPr>
          <a:xfrm>
            <a:off x="1344017" y="3363025"/>
            <a:ext cx="672099" cy="199505"/>
          </a:xfrm>
          <a:prstGeom prst="rect">
            <a:avLst/>
          </a:prstGeom>
          <a:solidFill>
            <a:srgbClr val="FFFF00">
              <a:alpha val="51031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114D130-CFE0-31E1-5BEB-0FDC69561320}"/>
              </a:ext>
            </a:extLst>
          </p:cNvPr>
          <p:cNvSpPr/>
          <p:nvPr/>
        </p:nvSpPr>
        <p:spPr>
          <a:xfrm>
            <a:off x="582599" y="2772408"/>
            <a:ext cx="2774731" cy="2830894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417208EA-E8BA-2004-9D11-49F9DA949056}"/>
              </a:ext>
            </a:extLst>
          </p:cNvPr>
          <p:cNvSpPr/>
          <p:nvPr/>
        </p:nvSpPr>
        <p:spPr>
          <a:xfrm>
            <a:off x="3537691" y="2742966"/>
            <a:ext cx="5440047" cy="2830894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8EB17BF-956E-F1B7-FC9B-CE42982BB6E5}"/>
              </a:ext>
            </a:extLst>
          </p:cNvPr>
          <p:cNvSpPr txBox="1"/>
          <p:nvPr/>
        </p:nvSpPr>
        <p:spPr>
          <a:xfrm>
            <a:off x="1590125" y="5911805"/>
            <a:ext cx="5641096" cy="8890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200" dirty="0"/>
              <a:t>[1] Daniela Whitten “Double-dipping” in statistics</a:t>
            </a:r>
          </a:p>
          <a:p>
            <a:pPr algn="ctr">
              <a:lnSpc>
                <a:spcPct val="150000"/>
              </a:lnSpc>
            </a:pPr>
            <a:r>
              <a:rPr lang="en-US" sz="1200" dirty="0">
                <a:hlinkClick r:id="rId3"/>
              </a:rPr>
              <a:t>https://youtu.be/tiv--XjPl9M</a:t>
            </a:r>
            <a:r>
              <a:rPr lang="en-US" sz="1200" dirty="0"/>
              <a:t> </a:t>
            </a:r>
          </a:p>
          <a:p>
            <a:pPr algn="ctr">
              <a:lnSpc>
                <a:spcPct val="150000"/>
              </a:lnSpc>
            </a:pPr>
            <a:r>
              <a:rPr lang="en-US" sz="1200" dirty="0">
                <a:hlinkClick r:id="rId4"/>
              </a:rPr>
              <a:t>https://arxiv.org/abs/2012.02936</a:t>
            </a:r>
            <a:r>
              <a:rPr lang="en-US" sz="1200" dirty="0"/>
              <a:t> and </a:t>
            </a:r>
            <a:r>
              <a:rPr lang="en-US" sz="1200" dirty="0">
                <a:hlinkClick r:id="rId5"/>
              </a:rPr>
              <a:t>https://pubmed.ncbi.nlm.nih.gov/31521605</a:t>
            </a:r>
            <a:r>
              <a:rPr lang="en-US" sz="1200" dirty="0"/>
              <a:t> </a:t>
            </a: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662C7823-7E81-5151-D1AC-54C47C955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Pitfall 3: “double-dipping” [1]</a:t>
            </a:r>
          </a:p>
        </p:txBody>
      </p:sp>
    </p:spTree>
    <p:extLst>
      <p:ext uri="{BB962C8B-B14F-4D97-AF65-F5344CB8AC3E}">
        <p14:creationId xmlns:p14="http://schemas.microsoft.com/office/powerpoint/2010/main" val="24560212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3E475-8A3B-884A-93D5-656D1F5C5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Pitfall 3: “double-dipping” [1]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C97963-8153-B440-D39E-353E7C816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1C242F-20BE-4F6C-ABA6-9DCC8641EF60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0FF490-1E24-F463-5E9B-708C9A4D3B6E}"/>
              </a:ext>
            </a:extLst>
          </p:cNvPr>
          <p:cNvSpPr txBox="1"/>
          <p:nvPr/>
        </p:nvSpPr>
        <p:spPr>
          <a:xfrm>
            <a:off x="1590125" y="5911805"/>
            <a:ext cx="5641096" cy="8890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200" dirty="0"/>
              <a:t>[1] Daniela Whitten “Double-dipping” in statistics</a:t>
            </a:r>
          </a:p>
          <a:p>
            <a:pPr algn="ctr">
              <a:lnSpc>
                <a:spcPct val="150000"/>
              </a:lnSpc>
            </a:pPr>
            <a:r>
              <a:rPr lang="en-US" sz="1200" dirty="0">
                <a:hlinkClick r:id="rId2"/>
              </a:rPr>
              <a:t>https://youtu.be/tiv--XjPl9M</a:t>
            </a:r>
            <a:r>
              <a:rPr lang="en-US" sz="1200" dirty="0"/>
              <a:t> </a:t>
            </a:r>
          </a:p>
          <a:p>
            <a:pPr algn="ctr">
              <a:lnSpc>
                <a:spcPct val="150000"/>
              </a:lnSpc>
            </a:pPr>
            <a:r>
              <a:rPr lang="en-US" sz="1200" dirty="0">
                <a:hlinkClick r:id="rId3"/>
              </a:rPr>
              <a:t>https://arxiv.org/abs/2012.02936</a:t>
            </a:r>
            <a:r>
              <a:rPr lang="en-US" sz="1200" dirty="0"/>
              <a:t> and </a:t>
            </a:r>
            <a:r>
              <a:rPr lang="en-US" sz="1200" dirty="0">
                <a:hlinkClick r:id="rId4"/>
              </a:rPr>
              <a:t>https://pubmed.ncbi.nlm.nih.gov/31521605</a:t>
            </a:r>
            <a:r>
              <a:rPr lang="en-US" sz="1200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490DF7-920A-226F-BE26-9D4FCB31E87C}"/>
              </a:ext>
            </a:extLst>
          </p:cNvPr>
          <p:cNvSpPr txBox="1"/>
          <p:nvPr/>
        </p:nvSpPr>
        <p:spPr>
          <a:xfrm>
            <a:off x="903750" y="5834983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2B4DEC-455D-4EAD-0A66-53FD861E23A8}"/>
              </a:ext>
            </a:extLst>
          </p:cNvPr>
          <p:cNvSpPr txBox="1"/>
          <p:nvPr/>
        </p:nvSpPr>
        <p:spPr>
          <a:xfrm>
            <a:off x="1489658" y="3119976"/>
            <a:ext cx="719714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Even applying a fully-specified classifier to a validation dataset </a:t>
            </a:r>
            <a:r>
              <a:rPr lang="en-US" b="1" dirty="0"/>
              <a:t>does not protect </a:t>
            </a:r>
            <a:r>
              <a:rPr lang="en-US" dirty="0"/>
              <a:t>against “double-dipping”</a:t>
            </a:r>
          </a:p>
          <a:p>
            <a:endParaRPr lang="en-US" dirty="0"/>
          </a:p>
          <a:p>
            <a:r>
              <a:rPr lang="en-US" dirty="0"/>
              <a:t>However, valid methods of statistical inference exist</a:t>
            </a:r>
          </a:p>
        </p:txBody>
      </p:sp>
      <p:pic>
        <p:nvPicPr>
          <p:cNvPr id="11" name="Graphic 10" descr="Warning with solid fill">
            <a:extLst>
              <a:ext uri="{FF2B5EF4-FFF2-40B4-BE49-F238E27FC236}">
                <a16:creationId xmlns:a16="http://schemas.microsoft.com/office/drawing/2014/main" id="{8A024710-AD66-12EA-672F-C664AF8E95C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1869" y="326294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1383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D1B89-130A-BC27-47ED-7B0A79A93F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of double-dipping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F7190E-F95B-F009-73FD-DA1A7F584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1C242F-20BE-4F6C-ABA6-9DCC8641EF60}" type="slidenum">
              <a:rPr lang="en-US" smtClean="0"/>
              <a:pPr/>
              <a:t>14</a:t>
            </a:fld>
            <a:endParaRPr lang="en-US"/>
          </a:p>
        </p:txBody>
      </p:sp>
      <p:pic>
        <p:nvPicPr>
          <p:cNvPr id="1026" name="Picture 2" descr="How can 8 billion people sustainably share a planet? – DW – 11/15/2022">
            <a:extLst>
              <a:ext uri="{FF2B5EF4-FFF2-40B4-BE49-F238E27FC236}">
                <a16:creationId xmlns:a16="http://schemas.microsoft.com/office/drawing/2014/main" id="{230C32BF-B0F1-906A-C7CC-45EBE8CBD09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599"/>
          <a:stretch/>
        </p:blipFill>
        <p:spPr bwMode="auto">
          <a:xfrm>
            <a:off x="228600" y="2400299"/>
            <a:ext cx="2486025" cy="28289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C33F486-46D1-775A-DCA2-1D95C425B4E0}"/>
              </a:ext>
            </a:extLst>
          </p:cNvPr>
          <p:cNvSpPr txBox="1"/>
          <p:nvPr/>
        </p:nvSpPr>
        <p:spPr>
          <a:xfrm>
            <a:off x="3374008" y="1514747"/>
            <a:ext cx="25987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Subtype classifier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61771A8-CCB3-65E5-4A2D-2BF791CFA4E9}"/>
              </a:ext>
            </a:extLst>
          </p:cNvPr>
          <p:cNvSpPr txBox="1"/>
          <p:nvPr/>
        </p:nvSpPr>
        <p:spPr>
          <a:xfrm>
            <a:off x="3643313" y="2535188"/>
            <a:ext cx="22300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Elderly &gt;70 </a:t>
            </a:r>
            <a:r>
              <a:rPr lang="en-US" dirty="0" err="1"/>
              <a:t>yrs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9D2081-EA18-8B26-6A86-B821A15C2C09}"/>
              </a:ext>
            </a:extLst>
          </p:cNvPr>
          <p:cNvSpPr txBox="1"/>
          <p:nvPr/>
        </p:nvSpPr>
        <p:spPr>
          <a:xfrm>
            <a:off x="3643313" y="4596111"/>
            <a:ext cx="24368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Children &lt;18 </a:t>
            </a:r>
            <a:r>
              <a:rPr lang="en-US" dirty="0" err="1"/>
              <a:t>yrs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4084CD1-3D1F-E36E-1C63-1A79AF34E9A6}"/>
              </a:ext>
            </a:extLst>
          </p:cNvPr>
          <p:cNvSpPr txBox="1"/>
          <p:nvPr/>
        </p:nvSpPr>
        <p:spPr>
          <a:xfrm>
            <a:off x="3648510" y="3565649"/>
            <a:ext cx="18469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Unclassified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512AEB7-5B92-2C10-70AA-24347B45C59F}"/>
              </a:ext>
            </a:extLst>
          </p:cNvPr>
          <p:cNvCxnSpPr>
            <a:stCxn id="1026" idx="3"/>
            <a:endCxn id="6" idx="1"/>
          </p:cNvCxnSpPr>
          <p:nvPr/>
        </p:nvCxnSpPr>
        <p:spPr>
          <a:xfrm flipV="1">
            <a:off x="2714625" y="2766021"/>
            <a:ext cx="928688" cy="104874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3678C7C-4889-AE90-982A-62A08E9F69C2}"/>
              </a:ext>
            </a:extLst>
          </p:cNvPr>
          <p:cNvCxnSpPr>
            <a:stCxn id="1026" idx="3"/>
            <a:endCxn id="8" idx="1"/>
          </p:cNvCxnSpPr>
          <p:nvPr/>
        </p:nvCxnSpPr>
        <p:spPr>
          <a:xfrm flipV="1">
            <a:off x="2714625" y="3796482"/>
            <a:ext cx="933885" cy="1828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33F88EC-5EA0-A998-C36C-AA1329F990EB}"/>
              </a:ext>
            </a:extLst>
          </p:cNvPr>
          <p:cNvCxnSpPr>
            <a:stCxn id="1026" idx="3"/>
            <a:endCxn id="7" idx="1"/>
          </p:cNvCxnSpPr>
          <p:nvPr/>
        </p:nvCxnSpPr>
        <p:spPr>
          <a:xfrm>
            <a:off x="2714625" y="3814762"/>
            <a:ext cx="928688" cy="101218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ight Brace 14">
            <a:extLst>
              <a:ext uri="{FF2B5EF4-FFF2-40B4-BE49-F238E27FC236}">
                <a16:creationId xmlns:a16="http://schemas.microsoft.com/office/drawing/2014/main" id="{C8874649-09EB-F51E-73C7-A5B95D79B567}"/>
              </a:ext>
            </a:extLst>
          </p:cNvPr>
          <p:cNvSpPr/>
          <p:nvPr/>
        </p:nvSpPr>
        <p:spPr>
          <a:xfrm>
            <a:off x="6069496" y="2535188"/>
            <a:ext cx="483704" cy="2522588"/>
          </a:xfrm>
          <a:prstGeom prst="righ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B470DC2-0D5F-6120-4AF2-49122992A54C}"/>
              </a:ext>
            </a:extLst>
          </p:cNvPr>
          <p:cNvSpPr txBox="1"/>
          <p:nvPr/>
        </p:nvSpPr>
        <p:spPr>
          <a:xfrm>
            <a:off x="6838968" y="3196316"/>
            <a:ext cx="23050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Statistical test for:</a:t>
            </a:r>
          </a:p>
          <a:p>
            <a:r>
              <a:rPr lang="en-US" sz="20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age difference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survival difference</a:t>
            </a:r>
          </a:p>
        </p:txBody>
      </p:sp>
    </p:spTree>
    <p:extLst>
      <p:ext uri="{BB962C8B-B14F-4D97-AF65-F5344CB8AC3E}">
        <p14:creationId xmlns:p14="http://schemas.microsoft.com/office/powerpoint/2010/main" val="35699908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74218</TotalTime>
  <Words>840</Words>
  <Application>Microsoft Macintosh PowerPoint</Application>
  <PresentationFormat>On-screen Show (4:3)</PresentationFormat>
  <Paragraphs>170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Cambria Math</vt:lpstr>
      <vt:lpstr>Courier</vt:lpstr>
      <vt:lpstr>Times New Roman</vt:lpstr>
      <vt:lpstr>Office Theme</vt:lpstr>
      <vt:lpstr>Analyst-friendly data in Bioconductor</vt:lpstr>
      <vt:lpstr>data.isph.org</vt:lpstr>
      <vt:lpstr>github.com/waldronlab/nychanesmicrobiome</vt:lpstr>
      <vt:lpstr>github.com/waldronlab/projectaspackage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Pitfall 1: clustering &amp; classification tools find clusters in continuous variation</vt:lpstr>
      <vt:lpstr>Pitfall 2: clustering ≠ classification</vt:lpstr>
      <vt:lpstr>Pitfall 3: “double-dipping” [1]</vt:lpstr>
      <vt:lpstr>Pitfall 3: “double-dipping” [1]</vt:lpstr>
      <vt:lpstr>Example of double-dipping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Levi Waldron</dc:creator>
  <cp:lastModifiedBy>Levi Waldron</cp:lastModifiedBy>
  <cp:revision>3382</cp:revision>
  <dcterms:created xsi:type="dcterms:W3CDTF">2006-04-21T21:58:28Z</dcterms:created>
  <dcterms:modified xsi:type="dcterms:W3CDTF">2023-06-29T15:33:37Z</dcterms:modified>
</cp:coreProperties>
</file>