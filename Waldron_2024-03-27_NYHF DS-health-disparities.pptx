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6"/>
  </p:notesMasterIdLst>
  <p:handoutMasterIdLst>
    <p:handoutMasterId r:id="rId17"/>
  </p:handoutMasterIdLst>
  <p:sldIdLst>
    <p:sldId id="256" r:id="rId2"/>
    <p:sldId id="686" r:id="rId3"/>
    <p:sldId id="691" r:id="rId4"/>
    <p:sldId id="679" r:id="rId5"/>
    <p:sldId id="685" r:id="rId6"/>
    <p:sldId id="680" r:id="rId7"/>
    <p:sldId id="683" r:id="rId8"/>
    <p:sldId id="692" r:id="rId9"/>
    <p:sldId id="690" r:id="rId10"/>
    <p:sldId id="684" r:id="rId11"/>
    <p:sldId id="694" r:id="rId12"/>
    <p:sldId id="693" r:id="rId13"/>
    <p:sldId id="687" r:id="rId14"/>
    <p:sldId id="678" r:id="rId15"/>
  </p:sldIdLst>
  <p:sldSz cx="12192000" cy="6858000"/>
  <p:notesSz cx="6985000" cy="92837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p:defaultTextStyle>
  <p:extLst>
    <p:ext uri="{521415D9-36F7-43E2-AB2F-B90AF26B5E84}">
      <p14:sectionLst xmlns:p14="http://schemas.microsoft.com/office/powerpoint/2010/main">
        <p14:section name="Default Section" id="{BF0DED3F-89D9-1C47-96B2-18AA82D3C9EB}">
          <p14:sldIdLst>
            <p14:sldId id="256"/>
            <p14:sldId id="686"/>
            <p14:sldId id="691"/>
            <p14:sldId id="679"/>
            <p14:sldId id="685"/>
            <p14:sldId id="680"/>
            <p14:sldId id="683"/>
            <p14:sldId id="692"/>
            <p14:sldId id="690"/>
            <p14:sldId id="684"/>
            <p14:sldId id="694"/>
            <p14:sldId id="693"/>
            <p14:sldId id="687"/>
            <p14:sldId id="6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vi.Waldron56" initials="L" lastIdx="2" clrIdx="0">
    <p:extLst>
      <p:ext uri="{19B8F6BF-5375-455C-9EA6-DF929625EA0E}">
        <p15:presenceInfo xmlns:p15="http://schemas.microsoft.com/office/powerpoint/2012/main" userId="S::levi.waldron56@login.cuny.edu::c74a3ce4-869e-48ea-8915-14044909b53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91C4"/>
    <a:srgbClr val="B3B701"/>
    <a:srgbClr val="0000FF"/>
    <a:srgbClr val="5DD5FF"/>
    <a:srgbClr val="85DFFF"/>
    <a:srgbClr val="3FCDFF"/>
    <a:srgbClr val="11C1FF"/>
    <a:srgbClr val="0078A2"/>
    <a:srgbClr val="005A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75" autoAdjust="0"/>
    <p:restoredTop sz="85627" autoAdjust="0"/>
  </p:normalViewPr>
  <p:slideViewPr>
    <p:cSldViewPr snapToGrid="0">
      <p:cViewPr varScale="1">
        <p:scale>
          <a:sx n="108" d="100"/>
          <a:sy n="108" d="100"/>
        </p:scale>
        <p:origin x="744" y="200"/>
      </p:cViewPr>
      <p:guideLst>
        <p:guide orient="horz" pos="2160"/>
        <p:guide pos="3840"/>
      </p:guideLst>
    </p:cSldViewPr>
  </p:slideViewPr>
  <p:outlineViewPr>
    <p:cViewPr>
      <p:scale>
        <a:sx n="33" d="100"/>
        <a:sy n="33" d="100"/>
      </p:scale>
      <p:origin x="0" y="2718"/>
    </p:cViewPr>
  </p:outlineViewPr>
  <p:notesTextViewPr>
    <p:cViewPr>
      <p:scale>
        <a:sx n="125" d="100"/>
        <a:sy n="125" d="100"/>
      </p:scale>
      <p:origin x="0" y="0"/>
    </p:cViewPr>
  </p:notesTextViewPr>
  <p:sorterViewPr>
    <p:cViewPr>
      <p:scale>
        <a:sx n="48" d="100"/>
        <a:sy n="48" d="100"/>
      </p:scale>
      <p:origin x="0" y="2388"/>
    </p:cViewPr>
  </p:sorterViewPr>
  <p:notesViewPr>
    <p:cSldViewPr snapToGrid="0">
      <p:cViewPr varScale="1">
        <p:scale>
          <a:sx n="70" d="100"/>
          <a:sy n="70" d="100"/>
        </p:scale>
        <p:origin x="-3258" y="-114"/>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FC537BD1-336C-499A-9357-A5A986E43ECB}" type="datetimeFigureOut">
              <a:rPr lang="en-US" smtClean="0"/>
              <a:pPr/>
              <a:t>3/28/24</a:t>
            </a:fld>
            <a:endParaRPr lang="en-US"/>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185E343B-D4B1-4171-9113-4DFF710A3A77}" type="slidenum">
              <a:rPr lang="en-US" smtClean="0"/>
              <a:pPr/>
              <a:t>‹#›</a:t>
            </a:fld>
            <a:endParaRPr lang="en-US"/>
          </a:p>
        </p:txBody>
      </p:sp>
    </p:spTree>
    <p:extLst>
      <p:ext uri="{BB962C8B-B14F-4D97-AF65-F5344CB8AC3E}">
        <p14:creationId xmlns:p14="http://schemas.microsoft.com/office/powerpoint/2010/main" val="980982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defRPr sz="1200"/>
            </a:lvl1pPr>
          </a:lstStyle>
          <a:p>
            <a:endParaRPr lang="en-US"/>
          </a:p>
        </p:txBody>
      </p:sp>
      <p:sp>
        <p:nvSpPr>
          <p:cNvPr id="3075" name="Rectangle 3"/>
          <p:cNvSpPr>
            <a:spLocks noGrp="1" noChangeArrowheads="1"/>
          </p:cNvSpPr>
          <p:nvPr>
            <p:ph type="dt" idx="1"/>
          </p:nvPr>
        </p:nvSpPr>
        <p:spPr bwMode="auto">
          <a:xfrm>
            <a:off x="3958167"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lgn="r">
              <a:defRPr sz="1200"/>
            </a:lvl1pPr>
          </a:lstStyle>
          <a:p>
            <a:endParaRPr lang="en-US"/>
          </a:p>
        </p:txBody>
      </p:sp>
      <p:sp>
        <p:nvSpPr>
          <p:cNvPr id="3076" name="Rectangle 4"/>
          <p:cNvSpPr>
            <a:spLocks noGrp="1" noRot="1" noChangeAspect="1" noChangeArrowheads="1" noTextEdit="1"/>
          </p:cNvSpPr>
          <p:nvPr>
            <p:ph type="sldImg" idx="2"/>
          </p:nvPr>
        </p:nvSpPr>
        <p:spPr bwMode="auto">
          <a:xfrm>
            <a:off x="398463" y="696913"/>
            <a:ext cx="6188075" cy="3481387"/>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931334" y="4409758"/>
            <a:ext cx="5122333" cy="417766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defRPr sz="1200"/>
            </a:lvl1pPr>
          </a:lstStyle>
          <a:p>
            <a:endParaRPr lang="en-US"/>
          </a:p>
        </p:txBody>
      </p:sp>
      <p:sp>
        <p:nvSpPr>
          <p:cNvPr id="3079" name="Rectangle 7"/>
          <p:cNvSpPr>
            <a:spLocks noGrp="1" noChangeArrowheads="1"/>
          </p:cNvSpPr>
          <p:nvPr>
            <p:ph type="sldNum" sz="quarter" idx="5"/>
          </p:nvPr>
        </p:nvSpPr>
        <p:spPr bwMode="auto">
          <a:xfrm>
            <a:off x="3958167"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lgn="r">
              <a:defRPr sz="1200"/>
            </a:lvl1pPr>
          </a:lstStyle>
          <a:p>
            <a:fld id="{8C865A49-EB5E-4903-ACE8-213423977F78}" type="slidenum">
              <a:rPr lang="en-US"/>
              <a:pPr/>
              <a:t>‹#›</a:t>
            </a:fld>
            <a:endParaRPr lang="en-US"/>
          </a:p>
        </p:txBody>
      </p:sp>
    </p:spTree>
    <p:extLst>
      <p:ext uri="{BB962C8B-B14F-4D97-AF65-F5344CB8AC3E}">
        <p14:creationId xmlns:p14="http://schemas.microsoft.com/office/powerpoint/2010/main" val="41869871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reuters.com/authors/jeffrey-dasti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696913"/>
            <a:ext cx="6188075" cy="3481387"/>
          </a:xfrm>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charset="0"/>
              <a:ea typeface="ＭＳ Ｐゴシック" pitchFamily="1" charset="-128"/>
              <a:cs typeface="+mn-cs"/>
            </a:endParaRPr>
          </a:p>
        </p:txBody>
      </p:sp>
      <p:sp>
        <p:nvSpPr>
          <p:cNvPr id="4" name="Slide Number Placeholder 3"/>
          <p:cNvSpPr>
            <a:spLocks noGrp="1"/>
          </p:cNvSpPr>
          <p:nvPr>
            <p:ph type="sldNum" sz="quarter" idx="10"/>
          </p:nvPr>
        </p:nvSpPr>
        <p:spPr/>
        <p:txBody>
          <a:bodyPr/>
          <a:lstStyle/>
          <a:p>
            <a:fld id="{8C865A49-EB5E-4903-ACE8-213423977F78}" type="slidenum">
              <a:rPr lang="en-US" smtClean="0"/>
              <a:pPr/>
              <a:t>1</a:t>
            </a:fld>
            <a:endParaRPr lang="en-US"/>
          </a:p>
        </p:txBody>
      </p:sp>
    </p:spTree>
    <p:extLst>
      <p:ext uri="{BB962C8B-B14F-4D97-AF65-F5344CB8AC3E}">
        <p14:creationId xmlns:p14="http://schemas.microsoft.com/office/powerpoint/2010/main" val="2054048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2</a:t>
            </a:fld>
            <a:endParaRPr lang="en-US"/>
          </a:p>
        </p:txBody>
      </p:sp>
    </p:spTree>
    <p:extLst>
      <p:ext uri="{BB962C8B-B14F-4D97-AF65-F5344CB8AC3E}">
        <p14:creationId xmlns:p14="http://schemas.microsoft.com/office/powerpoint/2010/main" val="1608843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404040"/>
                </a:solidFill>
                <a:effectLst/>
                <a:latin typeface="var(--tr-font-medium)"/>
              </a:rPr>
              <a:t>Insight - Amazon scraps secret AI recruiting tool that showed bias against women</a:t>
            </a:r>
          </a:p>
          <a:p>
            <a:pPr algn="l"/>
            <a:r>
              <a:rPr lang="en-US" b="0" i="0" u="none" strike="noStrike" dirty="0">
                <a:solidFill>
                  <a:srgbClr val="404040"/>
                </a:solidFill>
                <a:effectLst/>
                <a:latin typeface="var(--tr-font-regular)"/>
              </a:rPr>
              <a:t>By </a:t>
            </a:r>
            <a:r>
              <a:rPr lang="en-US" b="0" i="0" u="none" strike="noStrike" dirty="0">
                <a:solidFill>
                  <a:srgbClr val="404040"/>
                </a:solidFill>
                <a:effectLst/>
                <a:latin typeface="var(--tr-font-medium)"/>
                <a:hlinkClick r:id="rId3"/>
              </a:rPr>
              <a:t>Jeffrey Dastin</a:t>
            </a:r>
            <a:endParaRPr lang="en-US" b="0" i="0" u="none" strike="noStrike" dirty="0">
              <a:solidFill>
                <a:srgbClr val="404040"/>
              </a:solidFill>
              <a:effectLst/>
              <a:latin typeface="var(--tr-font-medium)"/>
            </a:endParaRPr>
          </a:p>
          <a:p>
            <a:pPr algn="l"/>
            <a:r>
              <a:rPr lang="en-US" b="0" i="0" dirty="0">
                <a:solidFill>
                  <a:srgbClr val="000000"/>
                </a:solidFill>
                <a:effectLst/>
                <a:latin typeface="Times" pitchFamily="2" charset="0"/>
              </a:rPr>
              <a:t>October 10, 2018</a:t>
            </a:r>
          </a:p>
          <a:p>
            <a:r>
              <a:rPr lang="en-US" dirty="0"/>
              <a:t>https://</a:t>
            </a:r>
            <a:r>
              <a:rPr lang="en-US" dirty="0" err="1"/>
              <a:t>www.reuters.com</a:t>
            </a:r>
            <a:r>
              <a:rPr lang="en-US" dirty="0"/>
              <a:t>/article/us-amazon-com-jobs-automation-insight/amazon-scraps-secret-ai-recruiting-tool-that-showed-bias-against-women-idUSKCN1MK08G/</a:t>
            </a:r>
          </a:p>
          <a:p>
            <a:endParaRPr lang="en-US" dirty="0"/>
          </a:p>
          <a:p>
            <a:r>
              <a:rPr lang="en-US" b="0" i="0" dirty="0">
                <a:solidFill>
                  <a:srgbClr val="404040"/>
                </a:solidFill>
                <a:effectLst/>
                <a:latin typeface="knowledge-regular"/>
              </a:rPr>
              <a:t>It penalized resumes that included the word "women's," as in "women's chess club captain." And it downgraded graduates of two all-women's colleges, according to people familiar with the matter.</a:t>
            </a: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7</a:t>
            </a:fld>
            <a:endParaRPr lang="en-US"/>
          </a:p>
        </p:txBody>
      </p:sp>
    </p:spTree>
    <p:extLst>
      <p:ext uri="{BB962C8B-B14F-4D97-AF65-F5344CB8AC3E}">
        <p14:creationId xmlns:p14="http://schemas.microsoft.com/office/powerpoint/2010/main" val="780791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11</a:t>
            </a:fld>
            <a:endParaRPr lang="en-US"/>
          </a:p>
        </p:txBody>
      </p:sp>
    </p:spTree>
    <p:extLst>
      <p:ext uri="{BB962C8B-B14F-4D97-AF65-F5344CB8AC3E}">
        <p14:creationId xmlns:p14="http://schemas.microsoft.com/office/powerpoint/2010/main" val="5305990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149B-02C2-486B-B75A-700EE76F6898}" type="slidenum">
              <a:rPr lang="en-US" smtClean="0"/>
              <a:pPr/>
              <a:t>‹#›</a:t>
            </a:fld>
            <a:endParaRPr lang="en-US"/>
          </a:p>
        </p:txBody>
      </p:sp>
      <p:pic>
        <p:nvPicPr>
          <p:cNvPr id="7" name="Picture 2" descr="C:\Documents and Settings\eblis\My Documents\My Dropbox\working\website_09-27-09\logo_side_big-02.png"/>
          <p:cNvPicPr>
            <a:picLocks noChangeAspect="1" noChangeArrowheads="1"/>
          </p:cNvPicPr>
          <p:nvPr userDrawn="1"/>
        </p:nvPicPr>
        <p:blipFill>
          <a:blip r:embed="rId2" cstate="print"/>
          <a:srcRect/>
          <a:stretch>
            <a:fillRect/>
          </a:stretch>
        </p:blipFill>
        <p:spPr bwMode="auto">
          <a:xfrm>
            <a:off x="1" y="1066801"/>
            <a:ext cx="2107457" cy="316535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C242F-20BE-4F6C-ABA6-9DCC8641EF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8DF25-4D78-4EE5-B83E-1582EE0F26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78028-53A3-436D-A27A-F8121CE5CB6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866A2-4A13-452A-BF39-D3C45AC49E0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4A0C0E-8BF0-4721-8DD7-E8BD3CE0AC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AFAAF-5E43-4A48-94B3-8EA7C99441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9619D-5089-4F3D-97DE-E3F82B8AA18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CD016-BBD3-4D5D-B93B-73EA93A3DC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20DF7C-E865-4281-945D-9857A56130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CD48-F7F9-4128-AFA7-3B5B14F364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98000"/>
            <a:lum contrast="100000"/>
          </a:blip>
          <a:srcRect/>
          <a:stretch>
            <a:fillRect r="90000" b="8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07311-B00B-4602-9329-240EBA90A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dc.gov/aging/disparities/" TargetMode="External"/><Relationship Id="rId2" Type="http://schemas.openxmlformats.org/officeDocument/2006/relationships/hyperlink" Target="https://www.nhlbi.nih.gov/health/educational/healthdisp" TargetMode="External"/><Relationship Id="rId1" Type="http://schemas.openxmlformats.org/officeDocument/2006/relationships/slideLayout" Target="../slideLayouts/slideLayout2.xml"/><Relationship Id="rId4" Type="http://schemas.openxmlformats.org/officeDocument/2006/relationships/hyperlink" Target="https://www.who.int/news-room/facts-in-pictures/detail/health-inequities-and-their-caus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80D692B-5469-8941-9ABF-8536F6838B9A}"/>
              </a:ext>
            </a:extLst>
          </p:cNvPr>
          <p:cNvPicPr>
            <a:picLocks noChangeAspect="1"/>
          </p:cNvPicPr>
          <p:nvPr/>
        </p:nvPicPr>
        <p:blipFill>
          <a:blip r:embed="rId3"/>
          <a:stretch>
            <a:fillRect/>
          </a:stretch>
        </p:blipFill>
        <p:spPr>
          <a:xfrm>
            <a:off x="5073485" y="4989328"/>
            <a:ext cx="514516" cy="270121"/>
          </a:xfrm>
          <a:prstGeom prst="rect">
            <a:avLst/>
          </a:prstGeom>
        </p:spPr>
      </p:pic>
      <p:sp>
        <p:nvSpPr>
          <p:cNvPr id="2" name="Title 1"/>
          <p:cNvSpPr>
            <a:spLocks noGrp="1"/>
          </p:cNvSpPr>
          <p:nvPr>
            <p:ph type="ctrTitle"/>
          </p:nvPr>
        </p:nvSpPr>
        <p:spPr>
          <a:xfrm>
            <a:off x="623944" y="471949"/>
            <a:ext cx="10886738" cy="3124157"/>
          </a:xfrm>
        </p:spPr>
        <p:txBody>
          <a:bodyPr>
            <a:normAutofit/>
          </a:bodyPr>
          <a:lstStyle/>
          <a:p>
            <a:r>
              <a:rPr lang="en-US" sz="2800" dirty="0"/>
              <a:t>Roles of Data Science in Health Disparities and Equity</a:t>
            </a:r>
            <a:br>
              <a:rPr lang="en-US" sz="2800" dirty="0"/>
            </a:br>
            <a:br>
              <a:rPr lang="en-US" sz="2800" dirty="0"/>
            </a:br>
            <a:r>
              <a:rPr lang="en-US" sz="2800" dirty="0"/>
              <a:t>24</a:t>
            </a:r>
            <a:r>
              <a:rPr lang="en-US" sz="2800" baseline="30000" dirty="0"/>
              <a:t>th</a:t>
            </a:r>
            <a:r>
              <a:rPr lang="en-US" sz="2800" dirty="0"/>
              <a:t> New York Health Forum</a:t>
            </a:r>
            <a:br>
              <a:rPr lang="en-US" sz="2800" dirty="0"/>
            </a:br>
            <a:r>
              <a:rPr lang="en-US" sz="2800" dirty="0"/>
              <a:t>Innovation and Collaboration in the Life Sciences and Healthcare</a:t>
            </a:r>
            <a:br>
              <a:rPr lang="en-US" sz="2800" dirty="0"/>
            </a:br>
            <a:br>
              <a:rPr lang="en-US" sz="2800" dirty="0"/>
            </a:br>
            <a:r>
              <a:rPr lang="en-US" sz="2800" dirty="0"/>
              <a:t>March 28, 2024</a:t>
            </a:r>
          </a:p>
        </p:txBody>
      </p:sp>
      <p:sp>
        <p:nvSpPr>
          <p:cNvPr id="3" name="Subtitle 2"/>
          <p:cNvSpPr>
            <a:spLocks noGrp="1"/>
          </p:cNvSpPr>
          <p:nvPr>
            <p:ph type="subTitle" idx="1"/>
          </p:nvPr>
        </p:nvSpPr>
        <p:spPr>
          <a:xfrm>
            <a:off x="2705100" y="3950560"/>
            <a:ext cx="7086600" cy="1429790"/>
          </a:xfrm>
        </p:spPr>
        <p:txBody>
          <a:bodyPr>
            <a:normAutofit lnSpcReduction="10000"/>
          </a:bodyPr>
          <a:lstStyle/>
          <a:p>
            <a:r>
              <a:rPr lang="en-US" sz="2000" dirty="0"/>
              <a:t>Levi Waldron</a:t>
            </a:r>
          </a:p>
          <a:p>
            <a:r>
              <a:rPr lang="en-US" sz="2000" dirty="0"/>
              <a:t>City University of New York</a:t>
            </a:r>
          </a:p>
          <a:p>
            <a:r>
              <a:rPr lang="en-US" sz="2000" dirty="0"/>
              <a:t>Graduate School of Public Health and Health Policy</a:t>
            </a:r>
          </a:p>
          <a:p>
            <a:r>
              <a:rPr lang="en-US" sz="2000" dirty="0"/>
              <a:t>@leviwaldron1</a:t>
            </a:r>
          </a:p>
        </p:txBody>
      </p:sp>
      <p:pic>
        <p:nvPicPr>
          <p:cNvPr id="10" name="Picture 9">
            <a:extLst>
              <a:ext uri="{FF2B5EF4-FFF2-40B4-BE49-F238E27FC236}">
                <a16:creationId xmlns:a16="http://schemas.microsoft.com/office/drawing/2014/main" id="{8798A49C-B0AD-7C45-ADBC-F33D37E0AF3B}"/>
              </a:ext>
            </a:extLst>
          </p:cNvPr>
          <p:cNvPicPr>
            <a:picLocks noChangeAspect="1"/>
          </p:cNvPicPr>
          <p:nvPr/>
        </p:nvPicPr>
        <p:blipFill>
          <a:blip r:embed="rId4"/>
          <a:stretch>
            <a:fillRect/>
          </a:stretch>
        </p:blipFill>
        <p:spPr>
          <a:xfrm>
            <a:off x="10856976" y="6077730"/>
            <a:ext cx="1335024" cy="776446"/>
          </a:xfrm>
          <a:prstGeom prst="rect">
            <a:avLst/>
          </a:prstGeom>
        </p:spPr>
      </p:pic>
      <p:pic>
        <p:nvPicPr>
          <p:cNvPr id="12" name="Picture 11">
            <a:extLst>
              <a:ext uri="{FF2B5EF4-FFF2-40B4-BE49-F238E27FC236}">
                <a16:creationId xmlns:a16="http://schemas.microsoft.com/office/drawing/2014/main" id="{6B0F47EC-ECE8-7C43-9E3F-54667EF9EB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134820"/>
            <a:ext cx="4510359" cy="719356"/>
          </a:xfrm>
          <a:prstGeom prst="rect">
            <a:avLst/>
          </a:prstGeom>
        </p:spPr>
      </p:pic>
      <p:sp>
        <p:nvSpPr>
          <p:cNvPr id="14" name="TextBox 13">
            <a:extLst>
              <a:ext uri="{FF2B5EF4-FFF2-40B4-BE49-F238E27FC236}">
                <a16:creationId xmlns:a16="http://schemas.microsoft.com/office/drawing/2014/main" id="{7EA8DBA2-7126-CF48-AEC0-669294A9F6A6}"/>
              </a:ext>
            </a:extLst>
          </p:cNvPr>
          <p:cNvSpPr txBox="1"/>
          <p:nvPr/>
        </p:nvSpPr>
        <p:spPr>
          <a:xfrm>
            <a:off x="1820778" y="5406881"/>
            <a:ext cx="8855245" cy="523220"/>
          </a:xfrm>
          <a:prstGeom prst="rect">
            <a:avLst/>
          </a:prstGeom>
          <a:noFill/>
        </p:spPr>
        <p:txBody>
          <a:bodyPr wrap="none" rtlCol="0">
            <a:spAutoFit/>
          </a:bodyPr>
          <a:lstStyle/>
          <a:p>
            <a:r>
              <a:rPr lang="en-US" sz="1400" b="1" dirty="0"/>
              <a:t>NCI:	</a:t>
            </a:r>
            <a:r>
              <a:rPr lang="en-US" sz="1400" dirty="0"/>
              <a:t>5 R01 CA230551</a:t>
            </a:r>
            <a:r>
              <a:rPr lang="en-US" sz="1400" i="1" dirty="0"/>
              <a:t> Exploiting public metagenomic data to uncover cancer-microbiome relationships</a:t>
            </a:r>
          </a:p>
          <a:p>
            <a:r>
              <a:rPr lang="en-US" sz="1400" b="1" dirty="0"/>
              <a:t>NCI</a:t>
            </a:r>
            <a:r>
              <a:rPr lang="en-US" sz="1400" b="1" i="1" dirty="0"/>
              <a:t>:	</a:t>
            </a:r>
            <a:r>
              <a:rPr lang="en-US" sz="1400" i="1" dirty="0"/>
              <a:t>2 U24 CA180996 Cancer Genomics: Integrative and Scalable Solutions in R/Bioconductor</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2000" advTm="11634"/>
    </mc:Choice>
    <mc:Fallback xmlns="">
      <p:transition spd="slow" advTm="11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A66075-9925-54D4-C70E-E9B3FF426610}"/>
              </a:ext>
            </a:extLst>
          </p:cNvPr>
          <p:cNvSpPr>
            <a:spLocks noGrp="1"/>
          </p:cNvSpPr>
          <p:nvPr>
            <p:ph type="title"/>
          </p:nvPr>
        </p:nvSpPr>
        <p:spPr>
          <a:xfrm>
            <a:off x="838200" y="0"/>
            <a:ext cx="10515600" cy="983228"/>
          </a:xfrm>
        </p:spPr>
        <p:txBody>
          <a:bodyPr vert="horz" lIns="91440" tIns="45720" rIns="91440" bIns="45720" rtlCol="0" anchor="ctr">
            <a:normAutofit/>
          </a:bodyPr>
          <a:lstStyle/>
          <a:p>
            <a:pPr algn="l">
              <a:lnSpc>
                <a:spcPct val="90000"/>
              </a:lnSpc>
            </a:pPr>
            <a:r>
              <a:rPr lang="en-US" sz="5200" kern="1200" dirty="0">
                <a:solidFill>
                  <a:schemeClr val="tx1"/>
                </a:solidFill>
                <a:latin typeface="+mj-lt"/>
                <a:ea typeface="+mj-ea"/>
                <a:cs typeface="+mj-cs"/>
              </a:rPr>
              <a:t>Data Science &amp; AI/ML in health care</a:t>
            </a:r>
          </a:p>
        </p:txBody>
      </p:sp>
      <p:pic>
        <p:nvPicPr>
          <p:cNvPr id="1026" name="Picture 2">
            <a:extLst>
              <a:ext uri="{FF2B5EF4-FFF2-40B4-BE49-F238E27FC236}">
                <a16:creationId xmlns:a16="http://schemas.microsoft.com/office/drawing/2014/main" id="{D9369DA7-F348-A358-9A9F-F78A72A1CA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996"/>
          <a:stretch/>
        </p:blipFill>
        <p:spPr bwMode="auto">
          <a:xfrm>
            <a:off x="1230894" y="1163388"/>
            <a:ext cx="7990598" cy="49917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7085A77B-50E9-3A76-426A-63FBEE525D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416"/>
          <a:stretch/>
        </p:blipFill>
        <p:spPr bwMode="auto">
          <a:xfrm>
            <a:off x="657394" y="1148047"/>
            <a:ext cx="10696406" cy="499173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25C528E-87EC-E19B-D659-A069B93921B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eaLnBrk="1" hangingPunct="1">
              <a:spcAft>
                <a:spcPts val="600"/>
              </a:spcAft>
            </a:pPr>
            <a:fld id="{C71C242F-20BE-4F6C-ABA6-9DCC8641EF60}" type="slidenum">
              <a:rPr lang="en-US" smtClean="0">
                <a:latin typeface="+mn-lt"/>
                <a:ea typeface="+mn-ea"/>
              </a:rPr>
              <a:pPr eaLnBrk="1" hangingPunct="1">
                <a:spcAft>
                  <a:spcPts val="600"/>
                </a:spcAft>
              </a:pPr>
              <a:t>2</a:t>
            </a:fld>
            <a:endParaRPr lang="en-US">
              <a:latin typeface="+mn-lt"/>
              <a:ea typeface="+mn-ea"/>
            </a:endParaRPr>
          </a:p>
        </p:txBody>
      </p:sp>
      <p:sp>
        <p:nvSpPr>
          <p:cNvPr id="6" name="TextBox 5">
            <a:extLst>
              <a:ext uri="{FF2B5EF4-FFF2-40B4-BE49-F238E27FC236}">
                <a16:creationId xmlns:a16="http://schemas.microsoft.com/office/drawing/2014/main" id="{0EBD00BC-6E81-4C4A-91D2-DC2195575ED9}"/>
              </a:ext>
            </a:extLst>
          </p:cNvPr>
          <p:cNvSpPr txBox="1"/>
          <p:nvPr/>
        </p:nvSpPr>
        <p:spPr>
          <a:xfrm>
            <a:off x="941988" y="6429039"/>
            <a:ext cx="10065320" cy="307777"/>
          </a:xfrm>
          <a:prstGeom prst="rect">
            <a:avLst/>
          </a:prstGeom>
          <a:noFill/>
        </p:spPr>
        <p:txBody>
          <a:bodyPr wrap="none" rtlCol="0">
            <a:spAutoFit/>
          </a:bodyPr>
          <a:lstStyle/>
          <a:p>
            <a:r>
              <a:rPr lang="en-US" sz="1400" dirty="0"/>
              <a:t>Credit: </a:t>
            </a:r>
            <a:r>
              <a:rPr lang="en-US" sz="1400" dirty="0" err="1"/>
              <a:t>Haug</a:t>
            </a:r>
            <a:r>
              <a:rPr lang="en-US" sz="1400" dirty="0"/>
              <a:t> and Drazen, Artificial Intelligence and Machine Learning in Clinical Medicine, N </a:t>
            </a:r>
            <a:r>
              <a:rPr lang="en-US" sz="1400" dirty="0" err="1"/>
              <a:t>Engl</a:t>
            </a:r>
            <a:r>
              <a:rPr lang="en-US" sz="1400" dirty="0"/>
              <a:t> J Med 2023;388:1201-1208</a:t>
            </a:r>
          </a:p>
        </p:txBody>
      </p:sp>
    </p:spTree>
    <p:extLst>
      <p:ext uri="{BB962C8B-B14F-4D97-AF65-F5344CB8AC3E}">
        <p14:creationId xmlns:p14="http://schemas.microsoft.com/office/powerpoint/2010/main" val="394794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D9FC13-618D-CE16-43B2-37750B9DAE2C}"/>
              </a:ext>
            </a:extLst>
          </p:cNvPr>
          <p:cNvSpPr>
            <a:spLocks noGrp="1"/>
          </p:cNvSpPr>
          <p:nvPr>
            <p:ph type="title"/>
          </p:nvPr>
        </p:nvSpPr>
        <p:spPr>
          <a:xfrm>
            <a:off x="7555471" y="136525"/>
            <a:ext cx="4455295" cy="900967"/>
          </a:xfrm>
        </p:spPr>
        <p:txBody>
          <a:bodyPr vert="horz" lIns="91440" tIns="45720" rIns="91440" bIns="45720" rtlCol="0" anchor="ctr">
            <a:normAutofit fontScale="90000"/>
          </a:bodyPr>
          <a:lstStyle/>
          <a:p>
            <a:pPr algn="l">
              <a:lnSpc>
                <a:spcPct val="90000"/>
              </a:lnSpc>
            </a:pPr>
            <a:r>
              <a:rPr lang="en-US" kern="1200" dirty="0">
                <a:solidFill>
                  <a:schemeClr val="tx1"/>
                </a:solidFill>
                <a:latin typeface="+mj-lt"/>
                <a:ea typeface="+mj-ea"/>
                <a:cs typeface="+mj-cs"/>
              </a:rPr>
              <a:t>Medical Note Taking</a:t>
            </a:r>
          </a:p>
        </p:txBody>
      </p:sp>
      <p:pic>
        <p:nvPicPr>
          <p:cNvPr id="1026" name="Picture 2">
            <a:extLst>
              <a:ext uri="{FF2B5EF4-FFF2-40B4-BE49-F238E27FC236}">
                <a16:creationId xmlns:a16="http://schemas.microsoft.com/office/drawing/2014/main" id="{0C35EE48-F267-3795-311E-C08BCBB1B6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372"/>
          <a:stretch/>
        </p:blipFill>
        <p:spPr bwMode="auto">
          <a:xfrm>
            <a:off x="181234" y="0"/>
            <a:ext cx="7193002" cy="6861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8E645842-5B48-634B-0471-F62865FCF8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103"/>
          <a:stretch/>
        </p:blipFill>
        <p:spPr bwMode="auto">
          <a:xfrm>
            <a:off x="3657601" y="1452817"/>
            <a:ext cx="8353166" cy="442588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FE44D46-31EE-DA26-C8F6-0567CF78B36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eaLnBrk="1" hangingPunct="1">
              <a:spcAft>
                <a:spcPts val="600"/>
              </a:spcAft>
            </a:pPr>
            <a:fld id="{C71C242F-20BE-4F6C-ABA6-9DCC8641EF60}" type="slidenum">
              <a:rPr lang="en-US" smtClean="0">
                <a:latin typeface="+mn-lt"/>
                <a:ea typeface="+mn-ea"/>
              </a:rPr>
              <a:pPr eaLnBrk="1" hangingPunct="1">
                <a:spcAft>
                  <a:spcPts val="600"/>
                </a:spcAft>
              </a:pPr>
              <a:t>3</a:t>
            </a:fld>
            <a:endParaRPr lang="en-US">
              <a:latin typeface="+mn-lt"/>
              <a:ea typeface="+mn-ea"/>
            </a:endParaRPr>
          </a:p>
        </p:txBody>
      </p:sp>
      <p:sp>
        <p:nvSpPr>
          <p:cNvPr id="10" name="TextBox 9">
            <a:extLst>
              <a:ext uri="{FF2B5EF4-FFF2-40B4-BE49-F238E27FC236}">
                <a16:creationId xmlns:a16="http://schemas.microsoft.com/office/drawing/2014/main" id="{07ACA82B-D9E0-67CC-47FF-653B8A72791A}"/>
              </a:ext>
            </a:extLst>
          </p:cNvPr>
          <p:cNvSpPr txBox="1"/>
          <p:nvPr/>
        </p:nvSpPr>
        <p:spPr>
          <a:xfrm>
            <a:off x="7555471" y="5916489"/>
            <a:ext cx="3950677" cy="738664"/>
          </a:xfrm>
          <a:prstGeom prst="rect">
            <a:avLst/>
          </a:prstGeom>
          <a:noFill/>
        </p:spPr>
        <p:txBody>
          <a:bodyPr wrap="square" rtlCol="0">
            <a:spAutoFit/>
          </a:bodyPr>
          <a:lstStyle/>
          <a:p>
            <a:r>
              <a:rPr lang="en-US" sz="1400" dirty="0"/>
              <a:t>Peter </a:t>
            </a:r>
            <a:r>
              <a:rPr lang="en-US" sz="1400" i="1" dirty="0"/>
              <a:t>et al.</a:t>
            </a:r>
            <a:r>
              <a:rPr lang="en-US" sz="1400" dirty="0"/>
              <a:t> </a:t>
            </a:r>
            <a:r>
              <a:rPr lang="en-US" sz="1400" b="1" dirty="0"/>
              <a:t>Benefits, Limits, and Risks of GPT-4 as an AI Chatbot for Medicine</a:t>
            </a:r>
            <a:r>
              <a:rPr lang="en-US" sz="1400" dirty="0"/>
              <a:t>. </a:t>
            </a:r>
            <a:r>
              <a:rPr lang="en-US" sz="1400" i="1" dirty="0"/>
              <a:t>N. Engl. J. Med.</a:t>
            </a:r>
            <a:r>
              <a:rPr lang="en-US" sz="1400" dirty="0"/>
              <a:t> 2023, </a:t>
            </a:r>
            <a:r>
              <a:rPr lang="en-US" sz="1400" b="1" dirty="0"/>
              <a:t>388</a:t>
            </a:r>
            <a:r>
              <a:rPr lang="en-US" sz="1400" dirty="0"/>
              <a:t>:1233–1239.</a:t>
            </a:r>
          </a:p>
        </p:txBody>
      </p:sp>
    </p:spTree>
    <p:extLst>
      <p:ext uri="{BB962C8B-B14F-4D97-AF65-F5344CB8AC3E}">
        <p14:creationId xmlns:p14="http://schemas.microsoft.com/office/powerpoint/2010/main" val="1799392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120273-A95C-284B-6C83-9C6312EE69BC}"/>
              </a:ext>
            </a:extLst>
          </p:cNvPr>
          <p:cNvSpPr>
            <a:spLocks noGrp="1"/>
          </p:cNvSpPr>
          <p:nvPr>
            <p:ph type="title"/>
          </p:nvPr>
        </p:nvSpPr>
        <p:spPr/>
        <p:txBody>
          <a:bodyPr/>
          <a:lstStyle/>
          <a:p>
            <a:r>
              <a:rPr lang="en-US" dirty="0"/>
              <a:t>Health disparities: definitions</a:t>
            </a:r>
          </a:p>
        </p:txBody>
      </p:sp>
      <p:sp>
        <p:nvSpPr>
          <p:cNvPr id="6" name="Content Placeholder 5">
            <a:extLst>
              <a:ext uri="{FF2B5EF4-FFF2-40B4-BE49-F238E27FC236}">
                <a16:creationId xmlns:a16="http://schemas.microsoft.com/office/drawing/2014/main" id="{2C548BF1-97AA-5888-23BB-431D893C894C}"/>
              </a:ext>
            </a:extLst>
          </p:cNvPr>
          <p:cNvSpPr>
            <a:spLocks noGrp="1"/>
          </p:cNvSpPr>
          <p:nvPr>
            <p:ph idx="1"/>
          </p:nvPr>
        </p:nvSpPr>
        <p:spPr/>
        <p:txBody>
          <a:bodyPr>
            <a:normAutofit fontScale="62500" lnSpcReduction="20000"/>
          </a:bodyPr>
          <a:lstStyle/>
          <a:p>
            <a:pPr marL="0" indent="0">
              <a:buNone/>
            </a:pPr>
            <a:endParaRPr lang="en-US" dirty="0"/>
          </a:p>
          <a:p>
            <a:pPr marL="514350" indent="-514350">
              <a:buFont typeface="+mj-lt"/>
              <a:buAutoNum type="arabicPeriod"/>
            </a:pPr>
            <a:r>
              <a:rPr lang="en-US" dirty="0"/>
              <a:t>NIH 2002: </a:t>
            </a:r>
            <a:r>
              <a:rPr lang="en-US" b="1" dirty="0"/>
              <a:t>differences </a:t>
            </a:r>
            <a:r>
              <a:rPr lang="en-US" dirty="0"/>
              <a:t>in the incidence, prevalence, mortality, and burden of diseases and other adverse health conditions that </a:t>
            </a:r>
            <a:r>
              <a:rPr lang="en-US" b="1" dirty="0"/>
              <a:t>exist among specific population groups</a:t>
            </a:r>
            <a:r>
              <a:rPr lang="en-US" dirty="0"/>
              <a:t>. Strategic Research Plan and Budget to Reduce and Ultimately Eliminate Health Disparities Volume I Fiscal Years 2002-2006. </a:t>
            </a:r>
            <a:r>
              <a:rPr lang="en-US" dirty="0">
                <a:hlinkClick r:id="rId2"/>
              </a:rPr>
              <a:t>https://www.nhlbi.nih.gov/health/educational/healthdisp</a:t>
            </a:r>
            <a:r>
              <a:rPr lang="en-US" dirty="0"/>
              <a:t> </a:t>
            </a:r>
          </a:p>
          <a:p>
            <a:pPr marL="514350" indent="-514350">
              <a:buFont typeface="+mj-lt"/>
              <a:buAutoNum type="arabicPeriod"/>
            </a:pPr>
            <a:r>
              <a:rPr lang="en-US" dirty="0"/>
              <a:t>CDC 2017: </a:t>
            </a:r>
            <a:r>
              <a:rPr lang="en-US" b="1" dirty="0"/>
              <a:t>preventable differences</a:t>
            </a:r>
            <a:r>
              <a:rPr lang="en-US" dirty="0"/>
              <a:t> in the burden of disease, injury, violence, or opportunities to achieve optimal health that are experienced by </a:t>
            </a:r>
            <a:r>
              <a:rPr lang="en-US" b="1" dirty="0"/>
              <a:t>socially disadvantaged populations</a:t>
            </a:r>
            <a:r>
              <a:rPr lang="en-US" dirty="0"/>
              <a:t>. Web: “Alzheimer’s Disease and Health Aging” </a:t>
            </a:r>
            <a:r>
              <a:rPr lang="en-US" dirty="0">
                <a:hlinkClick r:id="rId3"/>
              </a:rPr>
              <a:t>https://www.cdc.gov/aging/disparities/</a:t>
            </a:r>
            <a:r>
              <a:rPr lang="en-US" dirty="0"/>
              <a:t> </a:t>
            </a:r>
          </a:p>
          <a:p>
            <a:pPr marL="514350" indent="-514350">
              <a:buFont typeface="+mj-lt"/>
              <a:buAutoNum type="arabicPeriod"/>
            </a:pPr>
            <a:r>
              <a:rPr lang="en-US" dirty="0"/>
              <a:t>WHO 2018: differences in health status </a:t>
            </a:r>
            <a:r>
              <a:rPr lang="en-US" b="1" dirty="0"/>
              <a:t>or in the distribution of health resources</a:t>
            </a:r>
            <a:r>
              <a:rPr lang="en-US" dirty="0"/>
              <a:t> between different population groups, </a:t>
            </a:r>
            <a:r>
              <a:rPr lang="en-US" b="1" dirty="0"/>
              <a:t>arising from the social conditions</a:t>
            </a:r>
            <a:r>
              <a:rPr lang="en-US" dirty="0"/>
              <a:t> in which people are born, grow, live, work and age. Website: “Health inequities and their causes.”  </a:t>
            </a:r>
            <a:r>
              <a:rPr lang="en-US" dirty="0">
                <a:hlinkClick r:id="rId4"/>
              </a:rPr>
              <a:t>https://www.who.int/news-room/facts-in-pictures/detail/health-inequities-and-their-causes</a:t>
            </a:r>
            <a:r>
              <a:rPr lang="en-US" dirty="0"/>
              <a:t> </a:t>
            </a:r>
          </a:p>
          <a:p>
            <a:pPr marL="514350" indent="-514350">
              <a:buFont typeface="+mj-lt"/>
              <a:buAutoNum type="arabicPeriod"/>
            </a:pPr>
            <a:r>
              <a:rPr lang="en-US" dirty="0"/>
              <a:t>IOM 2002: </a:t>
            </a:r>
            <a:r>
              <a:rPr lang="en-US" b="1" dirty="0"/>
              <a:t>racial or ethnic differences</a:t>
            </a:r>
            <a:r>
              <a:rPr lang="en-US" dirty="0"/>
              <a:t> in the quality of health care that are </a:t>
            </a:r>
            <a:r>
              <a:rPr lang="en-US" b="1" dirty="0"/>
              <a:t>not due to access-related factors or clinical needs, preferences, and appropriateness of intervention</a:t>
            </a:r>
            <a:r>
              <a:rPr lang="en-US" dirty="0"/>
              <a:t>. Stith </a:t>
            </a:r>
            <a:r>
              <a:rPr lang="en-US" i="1" dirty="0"/>
              <a:t>et al. 2002 </a:t>
            </a:r>
            <a:r>
              <a:rPr lang="en-US" dirty="0"/>
              <a:t>National Academy Press: “Unequal Treatment: Confronting Racial and Ethnic Disparities in Health Care.”</a:t>
            </a:r>
          </a:p>
        </p:txBody>
      </p:sp>
      <p:sp>
        <p:nvSpPr>
          <p:cNvPr id="4" name="Slide Number Placeholder 3">
            <a:extLst>
              <a:ext uri="{FF2B5EF4-FFF2-40B4-BE49-F238E27FC236}">
                <a16:creationId xmlns:a16="http://schemas.microsoft.com/office/drawing/2014/main" id="{9561E79F-7312-443D-359C-B82F84A72FC8}"/>
              </a:ext>
            </a:extLst>
          </p:cNvPr>
          <p:cNvSpPr>
            <a:spLocks noGrp="1"/>
          </p:cNvSpPr>
          <p:nvPr>
            <p:ph type="sldNum" sz="quarter" idx="12"/>
          </p:nvPr>
        </p:nvSpPr>
        <p:spPr/>
        <p:txBody>
          <a:bodyPr/>
          <a:lstStyle/>
          <a:p>
            <a:fld id="{7228DF25-4D78-4EE5-B83E-1582EE0F26BA}" type="slidenum">
              <a:rPr lang="en-US" smtClean="0"/>
              <a:pPr/>
              <a:t>4</a:t>
            </a:fld>
            <a:endParaRPr lang="en-US"/>
          </a:p>
        </p:txBody>
      </p:sp>
    </p:spTree>
    <p:extLst>
      <p:ext uri="{BB962C8B-B14F-4D97-AF65-F5344CB8AC3E}">
        <p14:creationId xmlns:p14="http://schemas.microsoft.com/office/powerpoint/2010/main" val="1561028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F128D-090D-4AA2-8254-036B6DC43AAA}"/>
              </a:ext>
            </a:extLst>
          </p:cNvPr>
          <p:cNvSpPr>
            <a:spLocks noGrp="1"/>
          </p:cNvSpPr>
          <p:nvPr>
            <p:ph type="title"/>
          </p:nvPr>
        </p:nvSpPr>
        <p:spPr/>
        <p:txBody>
          <a:bodyPr>
            <a:normAutofit/>
          </a:bodyPr>
          <a:lstStyle/>
          <a:p>
            <a:pPr marL="0" indent="0">
              <a:buNone/>
            </a:pPr>
            <a:r>
              <a:rPr lang="en-US" dirty="0"/>
              <a:t>Ways data science can propagate disparities</a:t>
            </a:r>
          </a:p>
        </p:txBody>
      </p:sp>
      <p:sp>
        <p:nvSpPr>
          <p:cNvPr id="3" name="Content Placeholder 2">
            <a:extLst>
              <a:ext uri="{FF2B5EF4-FFF2-40B4-BE49-F238E27FC236}">
                <a16:creationId xmlns:a16="http://schemas.microsoft.com/office/drawing/2014/main" id="{FB965E03-C846-03F5-D07A-3E8A505148AC}"/>
              </a:ext>
            </a:extLst>
          </p:cNvPr>
          <p:cNvSpPr>
            <a:spLocks noGrp="1"/>
          </p:cNvSpPr>
          <p:nvPr>
            <p:ph idx="1"/>
          </p:nvPr>
        </p:nvSpPr>
        <p:spPr>
          <a:xfrm>
            <a:off x="609600" y="1600202"/>
            <a:ext cx="10972800" cy="4167168"/>
          </a:xfrm>
        </p:spPr>
        <p:txBody>
          <a:bodyPr>
            <a:normAutofit fontScale="92500" lnSpcReduction="10000"/>
          </a:bodyPr>
          <a:lstStyle/>
          <a:p>
            <a:pPr marL="514350" indent="-514350">
              <a:buFont typeface="+mj-lt"/>
              <a:buAutoNum type="arabicPeriod"/>
            </a:pPr>
            <a:r>
              <a:rPr lang="en-US" dirty="0"/>
              <a:t>data bias, </a:t>
            </a:r>
            <a:r>
              <a:rPr lang="en-US" i="1" dirty="0"/>
              <a:t>e.g.</a:t>
            </a:r>
            <a:r>
              <a:rPr lang="en-US" dirty="0"/>
              <a:t>:</a:t>
            </a:r>
          </a:p>
          <a:p>
            <a:pPr marL="914400" lvl="1" indent="-514350"/>
            <a:r>
              <a:rPr lang="en-US" dirty="0"/>
              <a:t>participant recruitment</a:t>
            </a:r>
          </a:p>
          <a:p>
            <a:pPr marL="914400" lvl="1" indent="-514350"/>
            <a:r>
              <a:rPr lang="en-US" dirty="0"/>
              <a:t>bias in medical records used for training</a:t>
            </a:r>
          </a:p>
          <a:p>
            <a:pPr marL="514350" indent="-514350">
              <a:buFont typeface="+mj-lt"/>
              <a:buAutoNum type="arabicPeriod"/>
            </a:pPr>
            <a:r>
              <a:rPr lang="en-US" dirty="0"/>
              <a:t>algorithmic bias</a:t>
            </a:r>
          </a:p>
          <a:p>
            <a:pPr marL="914400" lvl="1" indent="-514350"/>
            <a:r>
              <a:rPr lang="en-US" dirty="0"/>
              <a:t>such as over-simplistic labeling of race, gender</a:t>
            </a:r>
          </a:p>
          <a:p>
            <a:pPr marL="514350" indent="-514350">
              <a:buFont typeface="+mj-lt"/>
              <a:buAutoNum type="arabicPeriod"/>
            </a:pPr>
            <a:r>
              <a:rPr lang="en-US" dirty="0"/>
              <a:t>those that originate from AI–clinician interactions</a:t>
            </a:r>
          </a:p>
          <a:p>
            <a:pPr marL="914400" lvl="1" indent="-514350"/>
            <a:r>
              <a:rPr lang="en-US" dirty="0"/>
              <a:t>e.g. “automation bias” - inexperienced radiologists more likely to follow incorrect AI suggestions</a:t>
            </a:r>
          </a:p>
          <a:p>
            <a:pPr marL="514350" indent="-514350">
              <a:buFont typeface="+mj-lt"/>
              <a:buAutoNum type="arabicPeriod"/>
            </a:pPr>
            <a:r>
              <a:rPr lang="en-US" dirty="0"/>
              <a:t>those that originate from AI–patient interactions</a:t>
            </a:r>
          </a:p>
        </p:txBody>
      </p:sp>
      <p:sp>
        <p:nvSpPr>
          <p:cNvPr id="4" name="Slide Number Placeholder 3">
            <a:extLst>
              <a:ext uri="{FF2B5EF4-FFF2-40B4-BE49-F238E27FC236}">
                <a16:creationId xmlns:a16="http://schemas.microsoft.com/office/drawing/2014/main" id="{581789C6-13E0-EF23-84D1-220919094E64}"/>
              </a:ext>
            </a:extLst>
          </p:cNvPr>
          <p:cNvSpPr>
            <a:spLocks noGrp="1"/>
          </p:cNvSpPr>
          <p:nvPr>
            <p:ph type="sldNum" sz="quarter" idx="12"/>
          </p:nvPr>
        </p:nvSpPr>
        <p:spPr/>
        <p:txBody>
          <a:bodyPr/>
          <a:lstStyle/>
          <a:p>
            <a:fld id="{C71C242F-20BE-4F6C-ABA6-9DCC8641EF60}" type="slidenum">
              <a:rPr lang="en-US" smtClean="0"/>
              <a:pPr/>
              <a:t>5</a:t>
            </a:fld>
            <a:endParaRPr lang="en-US"/>
          </a:p>
        </p:txBody>
      </p:sp>
      <p:sp>
        <p:nvSpPr>
          <p:cNvPr id="5" name="TextBox 4">
            <a:extLst>
              <a:ext uri="{FF2B5EF4-FFF2-40B4-BE49-F238E27FC236}">
                <a16:creationId xmlns:a16="http://schemas.microsoft.com/office/drawing/2014/main" id="{02962048-034E-E73E-1CA7-222935862B46}"/>
              </a:ext>
            </a:extLst>
          </p:cNvPr>
          <p:cNvSpPr txBox="1"/>
          <p:nvPr/>
        </p:nvSpPr>
        <p:spPr>
          <a:xfrm>
            <a:off x="498765" y="5871926"/>
            <a:ext cx="10474036" cy="954107"/>
          </a:xfrm>
          <a:prstGeom prst="rect">
            <a:avLst/>
          </a:prstGeom>
          <a:noFill/>
        </p:spPr>
        <p:txBody>
          <a:bodyPr wrap="square" rtlCol="0">
            <a:spAutoFit/>
          </a:bodyPr>
          <a:lstStyle/>
          <a:p>
            <a:r>
              <a:rPr lang="en-US" sz="1400" dirty="0"/>
              <a:t>Ueda </a:t>
            </a:r>
            <a:r>
              <a:rPr lang="en-US" sz="1400" i="1" dirty="0"/>
              <a:t>et al.</a:t>
            </a:r>
            <a:r>
              <a:rPr lang="en-US" sz="1400" dirty="0"/>
              <a:t>: </a:t>
            </a:r>
            <a:r>
              <a:rPr lang="en-US" sz="1400" b="1" dirty="0"/>
              <a:t>Fairness of artificial intelligence in healthcare: review and recommendations</a:t>
            </a:r>
            <a:r>
              <a:rPr lang="en-US" sz="1400" dirty="0"/>
              <a:t>. </a:t>
            </a:r>
            <a:r>
              <a:rPr lang="en-US" sz="1400" i="1" dirty="0" err="1"/>
              <a:t>Jpn</a:t>
            </a:r>
            <a:r>
              <a:rPr lang="en-US" sz="1400" i="1" dirty="0"/>
              <a:t>. J. </a:t>
            </a:r>
            <a:r>
              <a:rPr lang="en-US" sz="1400" i="1" dirty="0" err="1"/>
              <a:t>Radiol</a:t>
            </a:r>
            <a:r>
              <a:rPr lang="en-US" sz="1400" i="1" dirty="0"/>
              <a:t>.</a:t>
            </a:r>
            <a:r>
              <a:rPr lang="en-US" sz="1400" dirty="0"/>
              <a:t> 2024, </a:t>
            </a:r>
            <a:r>
              <a:rPr lang="en-US" sz="1400" b="1" dirty="0"/>
              <a:t>42</a:t>
            </a:r>
            <a:r>
              <a:rPr lang="en-US" sz="1400" dirty="0"/>
              <a:t>:3–15.</a:t>
            </a:r>
            <a:br>
              <a:rPr lang="en-US" sz="1400" dirty="0"/>
            </a:br>
            <a:r>
              <a:rPr lang="en-US" sz="1400" dirty="0" err="1"/>
              <a:t>Dratsch</a:t>
            </a:r>
            <a:r>
              <a:rPr lang="en-US" sz="1400" dirty="0"/>
              <a:t> </a:t>
            </a:r>
            <a:r>
              <a:rPr lang="en-US" sz="1400" i="1" dirty="0"/>
              <a:t>et al.</a:t>
            </a:r>
            <a:r>
              <a:rPr lang="en-US" sz="1400" dirty="0"/>
              <a:t>: </a:t>
            </a:r>
            <a:r>
              <a:rPr lang="en-US" sz="1400" b="1" dirty="0"/>
              <a:t>Automation Bias in Mammography: The Impact of Artificial Intelligence BI-RADS Suggestions on Reader Performance</a:t>
            </a:r>
            <a:r>
              <a:rPr lang="en-US" sz="1400" dirty="0"/>
              <a:t>. Radiology 2023, 307:e222176.</a:t>
            </a:r>
          </a:p>
          <a:p>
            <a:r>
              <a:rPr lang="en-US" sz="1400" dirty="0" err="1"/>
              <a:t>Rajkomar</a:t>
            </a:r>
            <a:r>
              <a:rPr lang="en-US" sz="1400" dirty="0"/>
              <a:t> </a:t>
            </a:r>
            <a:r>
              <a:rPr lang="en-US" sz="1400" i="1" dirty="0"/>
              <a:t>et al.</a:t>
            </a:r>
            <a:r>
              <a:rPr lang="en-US" sz="1400" dirty="0"/>
              <a:t>: </a:t>
            </a:r>
            <a:r>
              <a:rPr lang="en-US" sz="1400" b="1" dirty="0"/>
              <a:t>Ensuring Fairness in Machine Learning to Advance Health Equity</a:t>
            </a:r>
            <a:r>
              <a:rPr lang="en-US" sz="1400" dirty="0"/>
              <a:t>. </a:t>
            </a:r>
            <a:r>
              <a:rPr lang="en-US" sz="1400" i="1" dirty="0"/>
              <a:t>Ann. Intern. Med.</a:t>
            </a:r>
            <a:r>
              <a:rPr lang="en-US" sz="1400" dirty="0"/>
              <a:t> 2018, </a:t>
            </a:r>
            <a:r>
              <a:rPr lang="en-US" sz="1400" b="1" dirty="0"/>
              <a:t>169</a:t>
            </a:r>
            <a:r>
              <a:rPr lang="en-US" sz="1400" dirty="0"/>
              <a:t>:866–872.</a:t>
            </a:r>
          </a:p>
        </p:txBody>
      </p:sp>
    </p:spTree>
    <p:extLst>
      <p:ext uri="{BB962C8B-B14F-4D97-AF65-F5344CB8AC3E}">
        <p14:creationId xmlns:p14="http://schemas.microsoft.com/office/powerpoint/2010/main" val="1648035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D2A86-F7F8-49FA-489A-85F3AFAEAF7E}"/>
              </a:ext>
            </a:extLst>
          </p:cNvPr>
          <p:cNvSpPr>
            <a:spLocks noGrp="1"/>
          </p:cNvSpPr>
          <p:nvPr>
            <p:ph type="title"/>
          </p:nvPr>
        </p:nvSpPr>
        <p:spPr/>
        <p:txBody>
          <a:bodyPr/>
          <a:lstStyle/>
          <a:p>
            <a:r>
              <a:rPr lang="en-US" dirty="0"/>
              <a:t>1. Bias in patient recruitment</a:t>
            </a:r>
          </a:p>
        </p:txBody>
      </p:sp>
      <p:sp>
        <p:nvSpPr>
          <p:cNvPr id="4" name="Slide Number Placeholder 3">
            <a:extLst>
              <a:ext uri="{FF2B5EF4-FFF2-40B4-BE49-F238E27FC236}">
                <a16:creationId xmlns:a16="http://schemas.microsoft.com/office/drawing/2014/main" id="{553D98AD-2A71-F994-6894-75045E9D069C}"/>
              </a:ext>
            </a:extLst>
          </p:cNvPr>
          <p:cNvSpPr>
            <a:spLocks noGrp="1"/>
          </p:cNvSpPr>
          <p:nvPr>
            <p:ph type="sldNum" sz="quarter" idx="12"/>
          </p:nvPr>
        </p:nvSpPr>
        <p:spPr/>
        <p:txBody>
          <a:bodyPr/>
          <a:lstStyle/>
          <a:p>
            <a:fld id="{C71C242F-20BE-4F6C-ABA6-9DCC8641EF60}" type="slidenum">
              <a:rPr lang="en-US" smtClean="0"/>
              <a:pPr/>
              <a:t>6</a:t>
            </a:fld>
            <a:endParaRPr lang="en-US"/>
          </a:p>
        </p:txBody>
      </p:sp>
      <p:pic>
        <p:nvPicPr>
          <p:cNvPr id="9" name="Picture 8">
            <a:extLst>
              <a:ext uri="{FF2B5EF4-FFF2-40B4-BE49-F238E27FC236}">
                <a16:creationId xmlns:a16="http://schemas.microsoft.com/office/drawing/2014/main" id="{10239152-954D-0C98-FF36-4B4D65E80C81}"/>
              </a:ext>
            </a:extLst>
          </p:cNvPr>
          <p:cNvPicPr>
            <a:picLocks noChangeAspect="1"/>
          </p:cNvPicPr>
          <p:nvPr/>
        </p:nvPicPr>
        <p:blipFill>
          <a:blip r:embed="rId2"/>
          <a:stretch>
            <a:fillRect/>
          </a:stretch>
        </p:blipFill>
        <p:spPr>
          <a:xfrm>
            <a:off x="1484025" y="1320386"/>
            <a:ext cx="8842948" cy="3628970"/>
          </a:xfrm>
          <a:prstGeom prst="rect">
            <a:avLst/>
          </a:prstGeom>
        </p:spPr>
      </p:pic>
      <p:sp>
        <p:nvSpPr>
          <p:cNvPr id="10" name="TextBox 9">
            <a:extLst>
              <a:ext uri="{FF2B5EF4-FFF2-40B4-BE49-F238E27FC236}">
                <a16:creationId xmlns:a16="http://schemas.microsoft.com/office/drawing/2014/main" id="{EF9A5D4C-7B4C-E367-C2BF-79DF45560C93}"/>
              </a:ext>
            </a:extLst>
          </p:cNvPr>
          <p:cNvSpPr txBox="1"/>
          <p:nvPr/>
        </p:nvSpPr>
        <p:spPr>
          <a:xfrm>
            <a:off x="1319134" y="5052689"/>
            <a:ext cx="9968459" cy="1200329"/>
          </a:xfrm>
          <a:prstGeom prst="rect">
            <a:avLst/>
          </a:prstGeom>
          <a:noFill/>
        </p:spPr>
        <p:txBody>
          <a:bodyPr wrap="square" rtlCol="0">
            <a:spAutoFit/>
          </a:bodyPr>
          <a:lstStyle/>
          <a:p>
            <a:r>
              <a:rPr lang="en-US" dirty="0"/>
              <a:t># Samples by Race/Ethnicity Needed to Detect 10% Mutational Frequencies Above 10 Cancers’ Background Mutational Frequency Rate Sequenced by TCGA</a:t>
            </a:r>
          </a:p>
        </p:txBody>
      </p:sp>
      <p:sp>
        <p:nvSpPr>
          <p:cNvPr id="11" name="TextBox 10">
            <a:extLst>
              <a:ext uri="{FF2B5EF4-FFF2-40B4-BE49-F238E27FC236}">
                <a16:creationId xmlns:a16="http://schemas.microsoft.com/office/drawing/2014/main" id="{A7674905-9409-9A07-3D51-5CEC361EB919}"/>
              </a:ext>
            </a:extLst>
          </p:cNvPr>
          <p:cNvSpPr txBox="1"/>
          <p:nvPr/>
        </p:nvSpPr>
        <p:spPr>
          <a:xfrm>
            <a:off x="3254562" y="6475794"/>
            <a:ext cx="6716647" cy="307777"/>
          </a:xfrm>
          <a:prstGeom prst="rect">
            <a:avLst/>
          </a:prstGeom>
          <a:noFill/>
        </p:spPr>
        <p:txBody>
          <a:bodyPr wrap="none" rtlCol="0">
            <a:spAutoFit/>
          </a:bodyPr>
          <a:lstStyle/>
          <a:p>
            <a:r>
              <a:rPr lang="en-US" sz="1400" dirty="0"/>
              <a:t>Spratt </a:t>
            </a:r>
            <a:r>
              <a:rPr lang="en-US" sz="1400" i="1" dirty="0"/>
              <a:t>et al.</a:t>
            </a:r>
            <a:r>
              <a:rPr lang="en-US" sz="1400" dirty="0"/>
              <a:t> Racial/Ethnic Disparities in Genomic Sequencing. JAMA Oncol 2016.</a:t>
            </a:r>
          </a:p>
        </p:txBody>
      </p:sp>
    </p:spTree>
    <p:extLst>
      <p:ext uri="{BB962C8B-B14F-4D97-AF65-F5344CB8AC3E}">
        <p14:creationId xmlns:p14="http://schemas.microsoft.com/office/powerpoint/2010/main" val="299296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5809-75B1-CDC1-56FB-7F3014030D52}"/>
              </a:ext>
            </a:extLst>
          </p:cNvPr>
          <p:cNvSpPr>
            <a:spLocks noGrp="1"/>
          </p:cNvSpPr>
          <p:nvPr>
            <p:ph type="title"/>
          </p:nvPr>
        </p:nvSpPr>
        <p:spPr>
          <a:xfrm>
            <a:off x="609599" y="274638"/>
            <a:ext cx="10093377" cy="1143000"/>
          </a:xfrm>
        </p:spPr>
        <p:txBody>
          <a:bodyPr>
            <a:normAutofit/>
          </a:bodyPr>
          <a:lstStyle/>
          <a:p>
            <a:r>
              <a:rPr lang="en-US" dirty="0"/>
              <a:t>2. Bias in training data - early example</a:t>
            </a:r>
          </a:p>
        </p:txBody>
      </p:sp>
      <p:sp>
        <p:nvSpPr>
          <p:cNvPr id="3" name="Content Placeholder 2">
            <a:extLst>
              <a:ext uri="{FF2B5EF4-FFF2-40B4-BE49-F238E27FC236}">
                <a16:creationId xmlns:a16="http://schemas.microsoft.com/office/drawing/2014/main" id="{A0EDC18B-5A28-719B-2B72-3EDBAB078671}"/>
              </a:ext>
            </a:extLst>
          </p:cNvPr>
          <p:cNvSpPr>
            <a:spLocks noGrp="1"/>
          </p:cNvSpPr>
          <p:nvPr>
            <p:ph idx="1"/>
          </p:nvPr>
        </p:nvSpPr>
        <p:spPr>
          <a:xfrm>
            <a:off x="609600" y="1600201"/>
            <a:ext cx="10972800" cy="3946160"/>
          </a:xfrm>
        </p:spPr>
        <p:txBody>
          <a:bodyPr>
            <a:normAutofit/>
          </a:bodyPr>
          <a:lstStyle/>
          <a:p>
            <a:pPr marL="0" indent="0">
              <a:buNone/>
            </a:pPr>
            <a:r>
              <a:rPr lang="en-US" dirty="0"/>
              <a:t>A 1986 computer program used to screen St. George’s Hospital Medical School (UK) applicants for interviews</a:t>
            </a:r>
          </a:p>
          <a:p>
            <a:pPr lvl="1"/>
            <a:r>
              <a:rPr lang="en-US" dirty="0"/>
              <a:t>trained on previous admissions decisions</a:t>
            </a:r>
          </a:p>
          <a:p>
            <a:pPr lvl="1"/>
            <a:r>
              <a:rPr lang="en-US" dirty="0"/>
              <a:t>90-95% correlation with human grading</a:t>
            </a:r>
          </a:p>
          <a:p>
            <a:pPr lvl="1"/>
            <a:r>
              <a:rPr lang="en-US" dirty="0"/>
              <a:t>discriminated against women and people with non-European names</a:t>
            </a:r>
          </a:p>
          <a:p>
            <a:pPr lvl="1"/>
            <a:r>
              <a:rPr lang="en-US" dirty="0"/>
              <a:t>even though St. George’s had higher proportions of women and non-Europeans than other medical schools</a:t>
            </a:r>
          </a:p>
        </p:txBody>
      </p:sp>
      <p:sp>
        <p:nvSpPr>
          <p:cNvPr id="4" name="Slide Number Placeholder 3">
            <a:extLst>
              <a:ext uri="{FF2B5EF4-FFF2-40B4-BE49-F238E27FC236}">
                <a16:creationId xmlns:a16="http://schemas.microsoft.com/office/drawing/2014/main" id="{6851D31E-0964-1325-E2FC-ECDB029EBF71}"/>
              </a:ext>
            </a:extLst>
          </p:cNvPr>
          <p:cNvSpPr>
            <a:spLocks noGrp="1"/>
          </p:cNvSpPr>
          <p:nvPr>
            <p:ph type="sldNum" sz="quarter" idx="12"/>
          </p:nvPr>
        </p:nvSpPr>
        <p:spPr/>
        <p:txBody>
          <a:bodyPr/>
          <a:lstStyle/>
          <a:p>
            <a:fld id="{C71C242F-20BE-4F6C-ABA6-9DCC8641EF60}" type="slidenum">
              <a:rPr lang="en-US" smtClean="0"/>
              <a:pPr/>
              <a:t>7</a:t>
            </a:fld>
            <a:endParaRPr lang="en-US"/>
          </a:p>
        </p:txBody>
      </p:sp>
      <p:sp>
        <p:nvSpPr>
          <p:cNvPr id="5" name="TextBox 4">
            <a:extLst>
              <a:ext uri="{FF2B5EF4-FFF2-40B4-BE49-F238E27FC236}">
                <a16:creationId xmlns:a16="http://schemas.microsoft.com/office/drawing/2014/main" id="{1858F5B2-C618-A95F-F895-72154E4C5D17}"/>
              </a:ext>
            </a:extLst>
          </p:cNvPr>
          <p:cNvSpPr txBox="1"/>
          <p:nvPr/>
        </p:nvSpPr>
        <p:spPr>
          <a:xfrm>
            <a:off x="1211600" y="5535857"/>
            <a:ext cx="5511636" cy="523220"/>
          </a:xfrm>
          <a:prstGeom prst="rect">
            <a:avLst/>
          </a:prstGeom>
          <a:noFill/>
        </p:spPr>
        <p:txBody>
          <a:bodyPr wrap="square" rtlCol="0">
            <a:spAutoFit/>
          </a:bodyPr>
          <a:lstStyle/>
          <a:p>
            <a:r>
              <a:rPr lang="en-US" sz="1400" dirty="0"/>
              <a:t>Lowry and McPherson “A blot on the profession” Br Med J (Clin Res Ed). 1988 Mar 5; 296(6623): 657–658. </a:t>
            </a:r>
          </a:p>
        </p:txBody>
      </p:sp>
      <p:pic>
        <p:nvPicPr>
          <p:cNvPr id="6" name="Picture 5">
            <a:extLst>
              <a:ext uri="{FF2B5EF4-FFF2-40B4-BE49-F238E27FC236}">
                <a16:creationId xmlns:a16="http://schemas.microsoft.com/office/drawing/2014/main" id="{5931640E-9599-F712-9778-FB4C9F14BA42}"/>
              </a:ext>
            </a:extLst>
          </p:cNvPr>
          <p:cNvPicPr>
            <a:picLocks noChangeAspect="1"/>
          </p:cNvPicPr>
          <p:nvPr/>
        </p:nvPicPr>
        <p:blipFill>
          <a:blip r:embed="rId3"/>
          <a:stretch>
            <a:fillRect/>
          </a:stretch>
        </p:blipFill>
        <p:spPr>
          <a:xfrm>
            <a:off x="7623672" y="5006715"/>
            <a:ext cx="3356728" cy="1581504"/>
          </a:xfrm>
          <a:prstGeom prst="rect">
            <a:avLst/>
          </a:prstGeom>
        </p:spPr>
      </p:pic>
    </p:spTree>
    <p:extLst>
      <p:ext uri="{BB962C8B-B14F-4D97-AF65-F5344CB8AC3E}">
        <p14:creationId xmlns:p14="http://schemas.microsoft.com/office/powerpoint/2010/main" val="1747246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69D32-20FB-2BA7-7F2D-406FF08B31B9}"/>
              </a:ext>
            </a:extLst>
          </p:cNvPr>
          <p:cNvSpPr>
            <a:spLocks noGrp="1"/>
          </p:cNvSpPr>
          <p:nvPr>
            <p:ph type="title"/>
          </p:nvPr>
        </p:nvSpPr>
        <p:spPr/>
        <p:txBody>
          <a:bodyPr/>
          <a:lstStyle/>
          <a:p>
            <a:r>
              <a:rPr lang="en-US" dirty="0"/>
              <a:t>Data Science and health disparities</a:t>
            </a:r>
          </a:p>
        </p:txBody>
      </p:sp>
      <p:sp>
        <p:nvSpPr>
          <p:cNvPr id="3" name="Content Placeholder 2">
            <a:extLst>
              <a:ext uri="{FF2B5EF4-FFF2-40B4-BE49-F238E27FC236}">
                <a16:creationId xmlns:a16="http://schemas.microsoft.com/office/drawing/2014/main" id="{810F4171-1600-0F90-CDA0-53B6BB8B689A}"/>
              </a:ext>
            </a:extLst>
          </p:cNvPr>
          <p:cNvSpPr>
            <a:spLocks noGrp="1"/>
          </p:cNvSpPr>
          <p:nvPr>
            <p:ph idx="1"/>
          </p:nvPr>
        </p:nvSpPr>
        <p:spPr/>
        <p:txBody>
          <a:bodyPr>
            <a:normAutofit/>
          </a:bodyPr>
          <a:lstStyle/>
          <a:p>
            <a:r>
              <a:rPr lang="en-US" dirty="0"/>
              <a:t>AMA policy recommendation: to “promote development of thoughtfully designed, high-quality, clinically validated health care AI that ... identifies and  takes steps to address bias and avoids introducing or exacerbating health care disparities including when testing or deploying new AI tools on vulnerable populations”</a:t>
            </a:r>
          </a:p>
          <a:p>
            <a:r>
              <a:rPr lang="en-US" dirty="0"/>
              <a:t>However, algorithms can be proactively </a:t>
            </a:r>
            <a:r>
              <a:rPr lang="en-US" b="1" dirty="0"/>
              <a:t>designed and used to advance health equity</a:t>
            </a:r>
          </a:p>
        </p:txBody>
      </p:sp>
      <p:sp>
        <p:nvSpPr>
          <p:cNvPr id="4" name="Slide Number Placeholder 3">
            <a:extLst>
              <a:ext uri="{FF2B5EF4-FFF2-40B4-BE49-F238E27FC236}">
                <a16:creationId xmlns:a16="http://schemas.microsoft.com/office/drawing/2014/main" id="{441242D5-F97C-FECC-8A03-63BE409329A8}"/>
              </a:ext>
            </a:extLst>
          </p:cNvPr>
          <p:cNvSpPr>
            <a:spLocks noGrp="1"/>
          </p:cNvSpPr>
          <p:nvPr>
            <p:ph type="sldNum" sz="quarter" idx="12"/>
          </p:nvPr>
        </p:nvSpPr>
        <p:spPr/>
        <p:txBody>
          <a:bodyPr/>
          <a:lstStyle/>
          <a:p>
            <a:fld id="{C71C242F-20BE-4F6C-ABA6-9DCC8641EF60}" type="slidenum">
              <a:rPr lang="en-US" smtClean="0"/>
              <a:pPr/>
              <a:t>8</a:t>
            </a:fld>
            <a:endParaRPr lang="en-US"/>
          </a:p>
        </p:txBody>
      </p:sp>
    </p:spTree>
    <p:extLst>
      <p:ext uri="{BB962C8B-B14F-4D97-AF65-F5344CB8AC3E}">
        <p14:creationId xmlns:p14="http://schemas.microsoft.com/office/powerpoint/2010/main" val="1918148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010620-0AAF-A6EB-26F5-B0149F41C1BD}"/>
              </a:ext>
            </a:extLst>
          </p:cNvPr>
          <p:cNvSpPr>
            <a:spLocks noGrp="1"/>
          </p:cNvSpPr>
          <p:nvPr>
            <p:ph type="title"/>
          </p:nvPr>
        </p:nvSpPr>
        <p:spPr>
          <a:xfrm>
            <a:off x="841248" y="548640"/>
            <a:ext cx="3600860" cy="5431536"/>
          </a:xfrm>
        </p:spPr>
        <p:txBody>
          <a:bodyPr>
            <a:normAutofit/>
          </a:bodyPr>
          <a:lstStyle/>
          <a:p>
            <a:r>
              <a:rPr lang="en-US" sz="5400" dirty="0"/>
              <a:t>Question</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C42B6E-9FE2-2A71-69B0-F4DFAE028E5B}"/>
              </a:ext>
            </a:extLst>
          </p:cNvPr>
          <p:cNvSpPr>
            <a:spLocks noGrp="1"/>
          </p:cNvSpPr>
          <p:nvPr>
            <p:ph idx="1"/>
          </p:nvPr>
        </p:nvSpPr>
        <p:spPr>
          <a:xfrm>
            <a:off x="5126418" y="552091"/>
            <a:ext cx="6224335" cy="5431536"/>
          </a:xfrm>
        </p:spPr>
        <p:txBody>
          <a:bodyPr anchor="ctr">
            <a:normAutofit/>
          </a:bodyPr>
          <a:lstStyle/>
          <a:p>
            <a:pPr marL="0" indent="0">
              <a:buNone/>
            </a:pPr>
            <a:r>
              <a:rPr lang="en-US" sz="2200" dirty="0"/>
              <a:t>Was the 1986 St. George’s Hospital Medical School biased admissions algorithm incident a success or a failure of AI?</a:t>
            </a:r>
          </a:p>
        </p:txBody>
      </p:sp>
      <p:sp>
        <p:nvSpPr>
          <p:cNvPr id="4" name="Slide Number Placeholder 3">
            <a:extLst>
              <a:ext uri="{FF2B5EF4-FFF2-40B4-BE49-F238E27FC236}">
                <a16:creationId xmlns:a16="http://schemas.microsoft.com/office/drawing/2014/main" id="{A8FDF2FB-90F9-1086-F721-8CD31F9D6A3B}"/>
              </a:ext>
            </a:extLst>
          </p:cNvPr>
          <p:cNvSpPr>
            <a:spLocks noGrp="1"/>
          </p:cNvSpPr>
          <p:nvPr>
            <p:ph type="sldNum" sz="quarter" idx="12"/>
          </p:nvPr>
        </p:nvSpPr>
        <p:spPr>
          <a:xfrm>
            <a:off x="8610600" y="6356350"/>
            <a:ext cx="2743200" cy="365125"/>
          </a:xfrm>
        </p:spPr>
        <p:txBody>
          <a:bodyPr>
            <a:normAutofit/>
          </a:bodyPr>
          <a:lstStyle/>
          <a:p>
            <a:pPr>
              <a:spcAft>
                <a:spcPts val="600"/>
              </a:spcAft>
            </a:pPr>
            <a:fld id="{C71C242F-20BE-4F6C-ABA6-9DCC8641EF60}" type="slidenum">
              <a:rPr lang="en-US" smtClean="0"/>
              <a:pPr>
                <a:spcAft>
                  <a:spcPts val="600"/>
                </a:spcAft>
              </a:pPr>
              <a:t>9</a:t>
            </a:fld>
            <a:endParaRPr lang="en-US"/>
          </a:p>
        </p:txBody>
      </p:sp>
    </p:spTree>
    <p:extLst>
      <p:ext uri="{BB962C8B-B14F-4D97-AF65-F5344CB8AC3E}">
        <p14:creationId xmlns:p14="http://schemas.microsoft.com/office/powerpoint/2010/main" val="323766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4023-F68F-BBAC-8DF3-671A6ECB22F7}"/>
              </a:ext>
            </a:extLst>
          </p:cNvPr>
          <p:cNvSpPr>
            <a:spLocks noGrp="1"/>
          </p:cNvSpPr>
          <p:nvPr>
            <p:ph type="title"/>
          </p:nvPr>
        </p:nvSpPr>
        <p:spPr/>
        <p:txBody>
          <a:bodyPr>
            <a:normAutofit fontScale="90000"/>
          </a:bodyPr>
          <a:lstStyle/>
          <a:p>
            <a:r>
              <a:rPr lang="en-US" dirty="0"/>
              <a:t>Opportunity to identify and reduce systematic bias</a:t>
            </a:r>
          </a:p>
        </p:txBody>
      </p:sp>
      <p:sp>
        <p:nvSpPr>
          <p:cNvPr id="3" name="Content Placeholder 2">
            <a:extLst>
              <a:ext uri="{FF2B5EF4-FFF2-40B4-BE49-F238E27FC236}">
                <a16:creationId xmlns:a16="http://schemas.microsoft.com/office/drawing/2014/main" id="{D8BD575E-42BB-E81D-0F94-E1DB6BCD68FC}"/>
              </a:ext>
            </a:extLst>
          </p:cNvPr>
          <p:cNvSpPr>
            <a:spLocks noGrp="1"/>
          </p:cNvSpPr>
          <p:nvPr>
            <p:ph idx="1"/>
          </p:nvPr>
        </p:nvSpPr>
        <p:spPr>
          <a:xfrm>
            <a:off x="609599" y="1600201"/>
            <a:ext cx="11231105" cy="4525963"/>
          </a:xfrm>
        </p:spPr>
        <p:txBody>
          <a:bodyPr>
            <a:normAutofit lnSpcReduction="10000"/>
          </a:bodyPr>
          <a:lstStyle/>
          <a:p>
            <a:r>
              <a:rPr lang="en-US" dirty="0"/>
              <a:t>AI/ML models learn from humans</a:t>
            </a:r>
          </a:p>
          <a:p>
            <a:pPr lvl="1"/>
            <a:r>
              <a:rPr lang="en-US" dirty="0"/>
              <a:t>but they are codified and can be tested more systematically</a:t>
            </a:r>
          </a:p>
          <a:p>
            <a:r>
              <a:rPr lang="en-US" dirty="0"/>
              <a:t>Bias and errors can be detected</a:t>
            </a:r>
          </a:p>
          <a:p>
            <a:pPr lvl="1"/>
            <a:r>
              <a:rPr lang="en-US" dirty="0"/>
              <a:t>benchmark datasets</a:t>
            </a:r>
          </a:p>
          <a:p>
            <a:pPr lvl="1"/>
            <a:r>
              <a:rPr lang="en-US" dirty="0"/>
              <a:t>experiments on synthetic data</a:t>
            </a:r>
          </a:p>
          <a:p>
            <a:pPr lvl="1"/>
            <a:r>
              <a:rPr lang="en-US" dirty="0"/>
              <a:t>self-examination</a:t>
            </a:r>
          </a:p>
          <a:p>
            <a:r>
              <a:rPr lang="en-US" dirty="0"/>
              <a:t>Certain types of bias can be mitigated</a:t>
            </a:r>
          </a:p>
          <a:p>
            <a:pPr lvl="1"/>
            <a:r>
              <a:rPr lang="en-US" dirty="0"/>
              <a:t>modified training datasets</a:t>
            </a:r>
          </a:p>
          <a:p>
            <a:pPr lvl="1"/>
            <a:r>
              <a:rPr lang="en-US" dirty="0"/>
              <a:t>modified training algorithms</a:t>
            </a:r>
          </a:p>
        </p:txBody>
      </p:sp>
      <p:sp>
        <p:nvSpPr>
          <p:cNvPr id="4" name="Slide Number Placeholder 3">
            <a:extLst>
              <a:ext uri="{FF2B5EF4-FFF2-40B4-BE49-F238E27FC236}">
                <a16:creationId xmlns:a16="http://schemas.microsoft.com/office/drawing/2014/main" id="{834B5C2F-4330-1F9F-853C-042AE5C6A4B9}"/>
              </a:ext>
            </a:extLst>
          </p:cNvPr>
          <p:cNvSpPr>
            <a:spLocks noGrp="1"/>
          </p:cNvSpPr>
          <p:nvPr>
            <p:ph type="sldNum" sz="quarter" idx="12"/>
          </p:nvPr>
        </p:nvSpPr>
        <p:spPr/>
        <p:txBody>
          <a:bodyPr/>
          <a:lstStyle/>
          <a:p>
            <a:fld id="{C71C242F-20BE-4F6C-ABA6-9DCC8641EF60}" type="slidenum">
              <a:rPr lang="en-US" smtClean="0"/>
              <a:pPr/>
              <a:t>10</a:t>
            </a:fld>
            <a:endParaRPr lang="en-US"/>
          </a:p>
        </p:txBody>
      </p:sp>
      <p:sp>
        <p:nvSpPr>
          <p:cNvPr id="5" name="TextBox 4">
            <a:extLst>
              <a:ext uri="{FF2B5EF4-FFF2-40B4-BE49-F238E27FC236}">
                <a16:creationId xmlns:a16="http://schemas.microsoft.com/office/drawing/2014/main" id="{CEE7A9CC-3677-D5C4-9A51-F3FAFCA95D9E}"/>
              </a:ext>
            </a:extLst>
          </p:cNvPr>
          <p:cNvSpPr txBox="1"/>
          <p:nvPr/>
        </p:nvSpPr>
        <p:spPr>
          <a:xfrm>
            <a:off x="741020" y="6400320"/>
            <a:ext cx="10196154" cy="307777"/>
          </a:xfrm>
          <a:prstGeom prst="rect">
            <a:avLst/>
          </a:prstGeom>
          <a:noFill/>
        </p:spPr>
        <p:txBody>
          <a:bodyPr wrap="square" rtlCol="0">
            <a:spAutoFit/>
          </a:bodyPr>
          <a:lstStyle/>
          <a:p>
            <a:r>
              <a:rPr lang="en-US" sz="1400" dirty="0" err="1"/>
              <a:t>Rajkomar</a:t>
            </a:r>
            <a:r>
              <a:rPr lang="en-US" sz="1400" dirty="0"/>
              <a:t> </a:t>
            </a:r>
            <a:r>
              <a:rPr lang="en-US" sz="1400" i="1" dirty="0"/>
              <a:t>et al</a:t>
            </a:r>
            <a:r>
              <a:rPr lang="en-US" sz="1400" dirty="0"/>
              <a:t>.: </a:t>
            </a:r>
            <a:r>
              <a:rPr lang="en-US" sz="1400" b="1" dirty="0"/>
              <a:t>Ensuring Fairness in Machine Learning to Advance Health Equity</a:t>
            </a:r>
            <a:r>
              <a:rPr lang="en-US" sz="1400" dirty="0"/>
              <a:t>. </a:t>
            </a:r>
            <a:r>
              <a:rPr lang="en-US" sz="1400" i="1" dirty="0"/>
              <a:t>Ann. Intern. Med.</a:t>
            </a:r>
            <a:r>
              <a:rPr lang="en-US" sz="1400" dirty="0"/>
              <a:t> 2018, </a:t>
            </a:r>
            <a:r>
              <a:rPr lang="en-US" sz="1400" b="1" dirty="0"/>
              <a:t>169</a:t>
            </a:r>
            <a:r>
              <a:rPr lang="en-US" sz="1400" dirty="0"/>
              <a:t>:866–872.</a:t>
            </a:r>
          </a:p>
        </p:txBody>
      </p:sp>
    </p:spTree>
    <p:extLst>
      <p:ext uri="{BB962C8B-B14F-4D97-AF65-F5344CB8AC3E}">
        <p14:creationId xmlns:p14="http://schemas.microsoft.com/office/powerpoint/2010/main" val="3679063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n a white paper&#10;&#10;Description automatically generated">
            <a:extLst>
              <a:ext uri="{FF2B5EF4-FFF2-40B4-BE49-F238E27FC236}">
                <a16:creationId xmlns:a16="http://schemas.microsoft.com/office/drawing/2014/main" id="{7C0BAC4C-DACE-36D2-B5F0-DCE6F9DFAB16}"/>
              </a:ext>
            </a:extLst>
          </p:cNvPr>
          <p:cNvPicPr>
            <a:picLocks noChangeAspect="1"/>
          </p:cNvPicPr>
          <p:nvPr/>
        </p:nvPicPr>
        <p:blipFill rotWithShape="1">
          <a:blip r:embed="rId3">
            <a:extLst>
              <a:ext uri="{28A0092B-C50C-407E-A947-70E740481C1C}">
                <a14:useLocalDpi xmlns:a14="http://schemas.microsoft.com/office/drawing/2010/main" val="0"/>
              </a:ext>
            </a:extLst>
          </a:blip>
          <a:srcRect r="872" b="1"/>
          <a:stretch/>
        </p:blipFill>
        <p:spPr>
          <a:xfrm>
            <a:off x="20" y="1282"/>
            <a:ext cx="12191980" cy="6856718"/>
          </a:xfrm>
          <a:prstGeom prst="rect">
            <a:avLst/>
          </a:prstGeom>
        </p:spPr>
      </p:pic>
      <p:sp>
        <p:nvSpPr>
          <p:cNvPr id="4" name="Slide Number Placeholder 3">
            <a:extLst>
              <a:ext uri="{FF2B5EF4-FFF2-40B4-BE49-F238E27FC236}">
                <a16:creationId xmlns:a16="http://schemas.microsoft.com/office/drawing/2014/main" id="{8CEE7E97-F836-A71E-5900-A93F223C6CF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eaLnBrk="1" hangingPunct="1">
              <a:spcAft>
                <a:spcPts val="600"/>
              </a:spcAft>
            </a:pPr>
            <a:fld id="{C71C242F-20BE-4F6C-ABA6-9DCC8641EF60}" type="slidenum">
              <a:rPr lang="en-US" smtClean="0">
                <a:solidFill>
                  <a:srgbClr val="FFFFFF"/>
                </a:solidFill>
                <a:latin typeface="+mn-lt"/>
                <a:ea typeface="+mn-ea"/>
              </a:rPr>
              <a:pPr eaLnBrk="1" hangingPunct="1">
                <a:spcAft>
                  <a:spcPts val="600"/>
                </a:spcAft>
              </a:pPr>
              <a:t>11</a:t>
            </a:fld>
            <a:endParaRPr lang="en-US">
              <a:solidFill>
                <a:srgbClr val="FFFFFF"/>
              </a:solidFill>
              <a:latin typeface="+mn-lt"/>
              <a:ea typeface="+mn-ea"/>
            </a:endParaRPr>
          </a:p>
        </p:txBody>
      </p:sp>
    </p:spTree>
    <p:extLst>
      <p:ext uri="{BB962C8B-B14F-4D97-AF65-F5344CB8AC3E}">
        <p14:creationId xmlns:p14="http://schemas.microsoft.com/office/powerpoint/2010/main" val="2347039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77EF-C202-800D-C904-E5355B962C44}"/>
              </a:ext>
            </a:extLst>
          </p:cNvPr>
          <p:cNvSpPr>
            <a:spLocks noGrp="1"/>
          </p:cNvSpPr>
          <p:nvPr>
            <p:ph type="title"/>
          </p:nvPr>
        </p:nvSpPr>
        <p:spPr/>
        <p:txBody>
          <a:bodyPr/>
          <a:lstStyle/>
          <a:p>
            <a:r>
              <a:rPr lang="en-US" dirty="0"/>
              <a:t>Progress at NIH Office of Data Science Strategy</a:t>
            </a:r>
          </a:p>
        </p:txBody>
      </p:sp>
      <p:sp>
        <p:nvSpPr>
          <p:cNvPr id="3" name="Content Placeholder 2">
            <a:extLst>
              <a:ext uri="{FF2B5EF4-FFF2-40B4-BE49-F238E27FC236}">
                <a16:creationId xmlns:a16="http://schemas.microsoft.com/office/drawing/2014/main" id="{E90446CA-36E4-0394-F63E-01B20DDC2BBC}"/>
              </a:ext>
            </a:extLst>
          </p:cNvPr>
          <p:cNvSpPr>
            <a:spLocks noGrp="1"/>
          </p:cNvSpPr>
          <p:nvPr>
            <p:ph idx="1"/>
          </p:nvPr>
        </p:nvSpPr>
        <p:spPr>
          <a:xfrm>
            <a:off x="1966685" y="1576389"/>
            <a:ext cx="8258629" cy="4525963"/>
          </a:xfrm>
        </p:spPr>
        <p:txBody>
          <a:bodyPr>
            <a:normAutofit fontScale="77500" lnSpcReduction="20000"/>
          </a:bodyPr>
          <a:lstStyle/>
          <a:p>
            <a:r>
              <a:rPr lang="en-US" b="1" dirty="0">
                <a:solidFill>
                  <a:schemeClr val="tx2"/>
                </a:solidFill>
              </a:rPr>
              <a:t>DEMONSTRATE</a:t>
            </a:r>
            <a:r>
              <a:rPr lang="en-US" dirty="0"/>
              <a:t> to guide healthcare providers and systems in safe opioid prescribing</a:t>
            </a:r>
          </a:p>
          <a:p>
            <a:r>
              <a:rPr lang="en-US" b="1" dirty="0">
                <a:solidFill>
                  <a:schemeClr val="tx2"/>
                </a:solidFill>
              </a:rPr>
              <a:t>CARD</a:t>
            </a:r>
            <a:r>
              <a:rPr lang="en-US" dirty="0"/>
              <a:t> to extract insights on disease risk and protective factors from large networks of data</a:t>
            </a:r>
          </a:p>
          <a:p>
            <a:r>
              <a:rPr lang="en-US" b="1" dirty="0">
                <a:solidFill>
                  <a:schemeClr val="tx2"/>
                </a:solidFill>
              </a:rPr>
              <a:t>Improved operations in health</a:t>
            </a:r>
            <a:r>
              <a:rPr lang="en-US" dirty="0"/>
              <a:t> through developing AI tools to improve screening</a:t>
            </a:r>
          </a:p>
          <a:p>
            <a:pPr marL="0" indent="0">
              <a:buNone/>
            </a:pPr>
            <a:endParaRPr lang="en-US" b="1" dirty="0">
              <a:solidFill>
                <a:schemeClr val="tx2"/>
              </a:solidFill>
            </a:endParaRPr>
          </a:p>
          <a:p>
            <a:r>
              <a:rPr lang="en-US" b="1" dirty="0">
                <a:solidFill>
                  <a:schemeClr val="tx2"/>
                </a:solidFill>
              </a:rPr>
              <a:t>Bridge2AI</a:t>
            </a:r>
            <a:r>
              <a:rPr lang="en-US" dirty="0"/>
              <a:t> to generate new “flagship” datasets and best practices for ML analysis</a:t>
            </a:r>
          </a:p>
          <a:p>
            <a:r>
              <a:rPr lang="en-US" b="1" dirty="0">
                <a:solidFill>
                  <a:schemeClr val="tx2"/>
                </a:solidFill>
              </a:rPr>
              <a:t>AIM-AHEAD</a:t>
            </a:r>
            <a:r>
              <a:rPr lang="en-US" dirty="0"/>
              <a:t> to enhance participation of underrepresented communities in AI/ML research</a:t>
            </a:r>
          </a:p>
          <a:p>
            <a:r>
              <a:rPr lang="en-US" b="1" dirty="0" err="1">
                <a:solidFill>
                  <a:schemeClr val="tx2"/>
                </a:solidFill>
              </a:rPr>
              <a:t>ScHARe</a:t>
            </a:r>
            <a:r>
              <a:rPr lang="en-US" dirty="0"/>
              <a:t> to test AI bias mitigation strategies and to advance health disparities research</a:t>
            </a:r>
          </a:p>
        </p:txBody>
      </p:sp>
      <p:sp>
        <p:nvSpPr>
          <p:cNvPr id="4" name="Slide Number Placeholder 3">
            <a:extLst>
              <a:ext uri="{FF2B5EF4-FFF2-40B4-BE49-F238E27FC236}">
                <a16:creationId xmlns:a16="http://schemas.microsoft.com/office/drawing/2014/main" id="{8E2DCB4C-721E-532A-D753-1A16A4BC9109}"/>
              </a:ext>
            </a:extLst>
          </p:cNvPr>
          <p:cNvSpPr>
            <a:spLocks noGrp="1"/>
          </p:cNvSpPr>
          <p:nvPr>
            <p:ph type="sldNum" sz="quarter" idx="12"/>
          </p:nvPr>
        </p:nvSpPr>
        <p:spPr/>
        <p:txBody>
          <a:bodyPr/>
          <a:lstStyle/>
          <a:p>
            <a:fld id="{C71C242F-20BE-4F6C-ABA6-9DCC8641EF60}" type="slidenum">
              <a:rPr lang="en-US" smtClean="0"/>
              <a:pPr/>
              <a:t>12</a:t>
            </a:fld>
            <a:endParaRPr lang="en-US"/>
          </a:p>
        </p:txBody>
      </p:sp>
      <p:sp>
        <p:nvSpPr>
          <p:cNvPr id="5" name="TextBox 4">
            <a:extLst>
              <a:ext uri="{FF2B5EF4-FFF2-40B4-BE49-F238E27FC236}">
                <a16:creationId xmlns:a16="http://schemas.microsoft.com/office/drawing/2014/main" id="{916F05BF-8932-AFAE-10F5-396CA318F222}"/>
              </a:ext>
            </a:extLst>
          </p:cNvPr>
          <p:cNvSpPr txBox="1"/>
          <p:nvPr/>
        </p:nvSpPr>
        <p:spPr>
          <a:xfrm>
            <a:off x="1088571" y="6451600"/>
            <a:ext cx="3687228" cy="307777"/>
          </a:xfrm>
          <a:prstGeom prst="rect">
            <a:avLst/>
          </a:prstGeom>
          <a:noFill/>
        </p:spPr>
        <p:txBody>
          <a:bodyPr wrap="none" rtlCol="0">
            <a:spAutoFit/>
          </a:bodyPr>
          <a:lstStyle/>
          <a:p>
            <a:r>
              <a:rPr lang="en-US" sz="1400" dirty="0"/>
              <a:t>Source: ODSS presentation March 27, 2024</a:t>
            </a:r>
          </a:p>
        </p:txBody>
      </p:sp>
    </p:spTree>
    <p:extLst>
      <p:ext uri="{BB962C8B-B14F-4D97-AF65-F5344CB8AC3E}">
        <p14:creationId xmlns:p14="http://schemas.microsoft.com/office/powerpoint/2010/main" val="1356748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9ADB3-C90E-3053-D60F-71BEEEE03469}"/>
              </a:ext>
            </a:extLst>
          </p:cNvPr>
          <p:cNvSpPr>
            <a:spLocks noGrp="1"/>
          </p:cNvSpPr>
          <p:nvPr>
            <p:ph type="title"/>
          </p:nvPr>
        </p:nvSpPr>
        <p:spPr/>
        <p:txBody>
          <a:bodyPr/>
          <a:lstStyle/>
          <a:p>
            <a:r>
              <a:rPr lang="en-US" dirty="0"/>
              <a:t>My work in developing benchmark datasets</a:t>
            </a:r>
          </a:p>
        </p:txBody>
      </p:sp>
      <p:sp>
        <p:nvSpPr>
          <p:cNvPr id="3" name="Content Placeholder 2">
            <a:extLst>
              <a:ext uri="{FF2B5EF4-FFF2-40B4-BE49-F238E27FC236}">
                <a16:creationId xmlns:a16="http://schemas.microsoft.com/office/drawing/2014/main" id="{4A04C5D6-4D35-1487-0DDC-6BE2B7022A2B}"/>
              </a:ext>
            </a:extLst>
          </p:cNvPr>
          <p:cNvSpPr>
            <a:spLocks noGrp="1"/>
          </p:cNvSpPr>
          <p:nvPr>
            <p:ph idx="1"/>
          </p:nvPr>
        </p:nvSpPr>
        <p:spPr>
          <a:xfrm>
            <a:off x="609600" y="1600201"/>
            <a:ext cx="10972800" cy="4983161"/>
          </a:xfrm>
        </p:spPr>
        <p:txBody>
          <a:bodyPr>
            <a:normAutofit fontScale="70000" lnSpcReduction="20000"/>
          </a:bodyPr>
          <a:lstStyle/>
          <a:p>
            <a:pPr marL="514350" indent="-514350">
              <a:buFont typeface="+mj-lt"/>
              <a:buAutoNum type="arabicPeriod"/>
            </a:pPr>
            <a:r>
              <a:rPr lang="en-US" sz="4000" dirty="0"/>
              <a:t>Identifying bias through </a:t>
            </a:r>
            <a:r>
              <a:rPr lang="en-US" sz="4000" u="sng" dirty="0"/>
              <a:t>experimentation</a:t>
            </a:r>
            <a:r>
              <a:rPr lang="en-US" sz="4000" dirty="0"/>
              <a:t> on </a:t>
            </a:r>
            <a:r>
              <a:rPr lang="en-US" sz="4000" u="sng" dirty="0"/>
              <a:t>models</a:t>
            </a:r>
          </a:p>
          <a:p>
            <a:pPr marL="914400" lvl="1" indent="-514350"/>
            <a:r>
              <a:rPr lang="en-US" dirty="0"/>
              <a:t>requires publishing of reproducible models and availability of test data</a:t>
            </a:r>
          </a:p>
          <a:p>
            <a:pPr marL="914400" lvl="1" indent="-514350"/>
            <a:endParaRPr lang="en-US" dirty="0"/>
          </a:p>
          <a:p>
            <a:pPr marL="514350" indent="-514350">
              <a:buFont typeface="+mj-lt"/>
              <a:buAutoNum type="arabicPeriod"/>
            </a:pPr>
            <a:r>
              <a:rPr lang="en-US" sz="4000" dirty="0"/>
              <a:t>Integrating diverse datasets for model training and validation</a:t>
            </a:r>
          </a:p>
          <a:p>
            <a:pPr marL="914400" lvl="1" indent="-514350"/>
            <a:r>
              <a:rPr lang="en-US" dirty="0" err="1">
                <a:latin typeface="Courier" pitchFamily="2" charset="0"/>
              </a:rPr>
              <a:t>curatedOvarianData</a:t>
            </a:r>
            <a:r>
              <a:rPr lang="en-US" dirty="0">
                <a:latin typeface="Courier" pitchFamily="2" charset="0"/>
              </a:rPr>
              <a:t>: </a:t>
            </a:r>
            <a:r>
              <a:rPr lang="en-US" dirty="0"/>
              <a:t>30 datasets, most annotated for OS, surgical debulking, histology</a:t>
            </a:r>
          </a:p>
          <a:p>
            <a:pPr marL="914400" lvl="1" indent="-514350"/>
            <a:r>
              <a:rPr lang="en-US" dirty="0" err="1">
                <a:latin typeface="Courier" pitchFamily="2" charset="0"/>
              </a:rPr>
              <a:t>curatedCRCData</a:t>
            </a:r>
            <a:r>
              <a:rPr lang="en-US" dirty="0">
                <a:latin typeface="Courier" pitchFamily="2" charset="0"/>
              </a:rPr>
              <a:t>: </a:t>
            </a:r>
            <a:r>
              <a:rPr lang="en-US" dirty="0"/>
              <a:t>34 datasets, many annotated for MSS, gender, stage, age, N, M</a:t>
            </a:r>
          </a:p>
          <a:p>
            <a:pPr marL="914400" lvl="1" indent="-514350"/>
            <a:r>
              <a:rPr lang="en-US" dirty="0" err="1">
                <a:latin typeface="Courier" pitchFamily="2" charset="0"/>
              </a:rPr>
              <a:t>curatedBladderData</a:t>
            </a:r>
            <a:r>
              <a:rPr lang="en-US" dirty="0">
                <a:latin typeface="Courier" pitchFamily="2" charset="0"/>
              </a:rPr>
              <a:t>: </a:t>
            </a:r>
            <a:r>
              <a:rPr lang="en-US" dirty="0"/>
              <a:t>12 datasets, many annotated for stage, grade, OS</a:t>
            </a:r>
          </a:p>
          <a:p>
            <a:pPr marL="914400" lvl="1" indent="-514350"/>
            <a:r>
              <a:rPr lang="en-US" dirty="0">
                <a:latin typeface="Courier" pitchFamily="2" charset="0"/>
              </a:rPr>
              <a:t>curatedTCGAData + </a:t>
            </a:r>
            <a:r>
              <a:rPr lang="en-US" dirty="0" err="1">
                <a:latin typeface="Courier" pitchFamily="2" charset="0"/>
              </a:rPr>
              <a:t>TCGAutils</a:t>
            </a:r>
            <a:r>
              <a:rPr lang="en-US" dirty="0">
                <a:latin typeface="Courier" pitchFamily="2" charset="0"/>
              </a:rPr>
              <a:t>: </a:t>
            </a:r>
            <a:r>
              <a:rPr lang="en-US" dirty="0"/>
              <a:t>The Cancer Genome Atlas harmonized</a:t>
            </a:r>
          </a:p>
          <a:p>
            <a:pPr marL="914400" lvl="1" indent="-514350"/>
            <a:r>
              <a:rPr lang="en-US" dirty="0" err="1">
                <a:latin typeface="Courier" pitchFamily="2" charset="0"/>
              </a:rPr>
              <a:t>cBioPortalData</a:t>
            </a:r>
            <a:r>
              <a:rPr lang="en-US" dirty="0">
                <a:latin typeface="Courier" pitchFamily="2" charset="0"/>
              </a:rPr>
              <a:t>: </a:t>
            </a:r>
            <a:r>
              <a:rPr lang="en-US" dirty="0"/>
              <a:t>150+ harmonized </a:t>
            </a:r>
            <a:r>
              <a:rPr lang="en-US" dirty="0" err="1"/>
              <a:t>multi’omics</a:t>
            </a:r>
            <a:r>
              <a:rPr lang="en-US" dirty="0"/>
              <a:t> cancer datasets</a:t>
            </a:r>
            <a:endParaRPr lang="en-US" i="1" dirty="0"/>
          </a:p>
          <a:p>
            <a:pPr marL="914400" lvl="1" indent="-514350"/>
            <a:r>
              <a:rPr lang="en-US" dirty="0">
                <a:latin typeface="Courier" pitchFamily="2" charset="0"/>
              </a:rPr>
              <a:t>HMP16SData: </a:t>
            </a:r>
            <a:r>
              <a:rPr lang="en-US" dirty="0"/>
              <a:t>Simple access to The Human Microbiome Project</a:t>
            </a:r>
          </a:p>
          <a:p>
            <a:pPr marL="914400" lvl="1" indent="-514350"/>
            <a:r>
              <a:rPr lang="en-US" dirty="0">
                <a:latin typeface="Courier" pitchFamily="2" charset="0"/>
              </a:rPr>
              <a:t>curatedMetagenomicData: </a:t>
            </a:r>
            <a:r>
              <a:rPr lang="en-US" dirty="0"/>
              <a:t>~20K metagenomic profiles with curated metadata</a:t>
            </a:r>
          </a:p>
          <a:p>
            <a:pPr marL="914400" lvl="1" indent="-514350"/>
            <a:r>
              <a:rPr lang="en-US" dirty="0" err="1">
                <a:latin typeface="Courier" pitchFamily="2" charset="0"/>
              </a:rPr>
              <a:t>SingleCellMultiModal</a:t>
            </a:r>
            <a:r>
              <a:rPr lang="en-US" dirty="0">
                <a:latin typeface="Courier" pitchFamily="2" charset="0"/>
              </a:rPr>
              <a:t>: </a:t>
            </a:r>
            <a:r>
              <a:rPr lang="en-US" dirty="0">
                <a:latin typeface="Calibri" panose="020F0502020204030204" pitchFamily="34" charset="0"/>
                <a:cs typeface="Calibri" panose="020F0502020204030204" pitchFamily="34" charset="0"/>
              </a:rPr>
              <a:t>Landmark datasets from single-cell multimodal technologies</a:t>
            </a:r>
          </a:p>
          <a:p>
            <a:pPr marL="914400" lvl="1" indent="-514350"/>
            <a:r>
              <a:rPr lang="en-US" dirty="0" err="1">
                <a:latin typeface="Courier" pitchFamily="2" charset="0"/>
              </a:rPr>
              <a:t>MicrobiomeBenchmarkData</a:t>
            </a:r>
            <a:r>
              <a:rPr lang="en-US" dirty="0">
                <a:latin typeface="Courier" pitchFamily="2" charset="0"/>
              </a:rPr>
              <a:t>: </a:t>
            </a:r>
            <a:r>
              <a:rPr lang="en-US" dirty="0">
                <a:latin typeface="Calibri" panose="020F0502020204030204" pitchFamily="34" charset="0"/>
                <a:cs typeface="Calibri" panose="020F0502020204030204" pitchFamily="34" charset="0"/>
              </a:rPr>
              <a:t>benchmarking with experimental ground truth</a:t>
            </a:r>
          </a:p>
          <a:p>
            <a:pPr marL="914400" lvl="1" indent="-514350"/>
            <a:r>
              <a:rPr lang="en-US" dirty="0" err="1">
                <a:latin typeface="Courier" pitchFamily="2" charset="0"/>
              </a:rPr>
              <a:t>BugSigDB</a:t>
            </a:r>
            <a:r>
              <a:rPr lang="en-US" dirty="0">
                <a:latin typeface="Courier" pitchFamily="2" charset="0"/>
              </a:rPr>
              <a:t>:</a:t>
            </a:r>
            <a:r>
              <a:rPr lang="en-US" dirty="0">
                <a:latin typeface="Calibri" panose="020F0502020204030204" pitchFamily="34" charset="0"/>
                <a:cs typeface="Calibri" panose="020F0502020204030204" pitchFamily="34" charset="0"/>
              </a:rPr>
              <a:t> A comprehensive database of published microbial signatures</a:t>
            </a:r>
          </a:p>
          <a:p>
            <a:pPr marL="0" indent="0">
              <a:buNone/>
            </a:pPr>
            <a:endParaRPr lang="en-US" dirty="0"/>
          </a:p>
        </p:txBody>
      </p:sp>
      <p:sp>
        <p:nvSpPr>
          <p:cNvPr id="4" name="Slide Number Placeholder 3">
            <a:extLst>
              <a:ext uri="{FF2B5EF4-FFF2-40B4-BE49-F238E27FC236}">
                <a16:creationId xmlns:a16="http://schemas.microsoft.com/office/drawing/2014/main" id="{0311B5FE-78E2-ACDA-E142-198CE43B0CF4}"/>
              </a:ext>
            </a:extLst>
          </p:cNvPr>
          <p:cNvSpPr>
            <a:spLocks noGrp="1"/>
          </p:cNvSpPr>
          <p:nvPr>
            <p:ph type="sldNum" sz="quarter" idx="12"/>
          </p:nvPr>
        </p:nvSpPr>
        <p:spPr/>
        <p:txBody>
          <a:bodyPr/>
          <a:lstStyle/>
          <a:p>
            <a:fld id="{C71C242F-20BE-4F6C-ABA6-9DCC8641EF60}" type="slidenum">
              <a:rPr lang="en-US" smtClean="0"/>
              <a:pPr/>
              <a:t>13</a:t>
            </a:fld>
            <a:endParaRPr lang="en-US"/>
          </a:p>
        </p:txBody>
      </p:sp>
    </p:spTree>
    <p:extLst>
      <p:ext uri="{BB962C8B-B14F-4D97-AF65-F5344CB8AC3E}">
        <p14:creationId xmlns:p14="http://schemas.microsoft.com/office/powerpoint/2010/main" val="225030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187ED-3C8F-5956-A8E5-8C47E9BCD74B}"/>
              </a:ext>
            </a:extLst>
          </p:cNvPr>
          <p:cNvSpPr>
            <a:spLocks noGrp="1"/>
          </p:cNvSpPr>
          <p:nvPr>
            <p:ph idx="1"/>
          </p:nvPr>
        </p:nvSpPr>
        <p:spPr>
          <a:xfrm>
            <a:off x="578285" y="2364007"/>
            <a:ext cx="11311003" cy="2317315"/>
          </a:xfrm>
        </p:spPr>
        <p:txBody>
          <a:bodyPr>
            <a:normAutofit/>
          </a:bodyPr>
          <a:lstStyle/>
          <a:p>
            <a:pPr marL="0" indent="0">
              <a:buNone/>
            </a:pPr>
            <a:r>
              <a:rPr lang="en-US" dirty="0"/>
              <a:t>A recurring bite-sized alternative to multi-day microbiome conference: regular short-format (~3 hours) conferences that provide all the key elements of a traditional conference</a:t>
            </a:r>
          </a:p>
        </p:txBody>
      </p:sp>
      <p:sp>
        <p:nvSpPr>
          <p:cNvPr id="4" name="Slide Number Placeholder 3">
            <a:extLst>
              <a:ext uri="{FF2B5EF4-FFF2-40B4-BE49-F238E27FC236}">
                <a16:creationId xmlns:a16="http://schemas.microsoft.com/office/drawing/2014/main" id="{3D2EF1D7-117B-FC0D-9248-5D9B1C5EDA72}"/>
              </a:ext>
            </a:extLst>
          </p:cNvPr>
          <p:cNvSpPr>
            <a:spLocks noGrp="1"/>
          </p:cNvSpPr>
          <p:nvPr>
            <p:ph type="sldNum" sz="quarter" idx="12"/>
          </p:nvPr>
        </p:nvSpPr>
        <p:spPr/>
        <p:txBody>
          <a:bodyPr/>
          <a:lstStyle/>
          <a:p>
            <a:fld id="{C71C242F-20BE-4F6C-ABA6-9DCC8641EF60}" type="slidenum">
              <a:rPr lang="en-US" smtClean="0"/>
              <a:pPr/>
              <a:t>14</a:t>
            </a:fld>
            <a:endParaRPr lang="en-US"/>
          </a:p>
        </p:txBody>
      </p:sp>
      <p:pic>
        <p:nvPicPr>
          <p:cNvPr id="3074" name="Picture 2" descr="Logo">
            <a:extLst>
              <a:ext uri="{FF2B5EF4-FFF2-40B4-BE49-F238E27FC236}">
                <a16:creationId xmlns:a16="http://schemas.microsoft.com/office/drawing/2014/main" id="{455A1EDD-4617-CC6F-80CC-974F17B9A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285" y="95815"/>
            <a:ext cx="4921178" cy="19735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12D5AC-AED0-23A5-0741-B76F9A67CCD5}"/>
              </a:ext>
            </a:extLst>
          </p:cNvPr>
          <p:cNvSpPr txBox="1"/>
          <p:nvPr/>
        </p:nvSpPr>
        <p:spPr>
          <a:xfrm>
            <a:off x="7382602" y="871648"/>
            <a:ext cx="4377160" cy="461665"/>
          </a:xfrm>
          <a:prstGeom prst="rect">
            <a:avLst/>
          </a:prstGeom>
          <a:noFill/>
        </p:spPr>
        <p:txBody>
          <a:bodyPr wrap="none" rtlCol="0">
            <a:spAutoFit/>
          </a:bodyPr>
          <a:lstStyle/>
          <a:p>
            <a:r>
              <a:rPr lang="en-US" dirty="0"/>
              <a:t>https://</a:t>
            </a:r>
            <a:r>
              <a:rPr lang="en-US" dirty="0" err="1"/>
              <a:t>www.microbiome-vif.org</a:t>
            </a:r>
            <a:endParaRPr lang="en-US" dirty="0"/>
          </a:p>
        </p:txBody>
      </p:sp>
      <p:pic>
        <p:nvPicPr>
          <p:cNvPr id="2050" name="Picture 2">
            <a:extLst>
              <a:ext uri="{FF2B5EF4-FFF2-40B4-BE49-F238E27FC236}">
                <a16:creationId xmlns:a16="http://schemas.microsoft.com/office/drawing/2014/main" id="{882152F8-7FED-20CF-EFB7-42A6C4E4F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9" y="4258764"/>
            <a:ext cx="6096001" cy="2319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58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74645</TotalTime>
  <Words>1159</Words>
  <Application>Microsoft Macintosh PowerPoint</Application>
  <PresentationFormat>Widescreen</PresentationFormat>
  <Paragraphs>103</Paragraphs>
  <Slides>14</Slides>
  <Notes>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Courier</vt:lpstr>
      <vt:lpstr>knowledge-regular</vt:lpstr>
      <vt:lpstr>Times</vt:lpstr>
      <vt:lpstr>var(--tr-font-medium)</vt:lpstr>
      <vt:lpstr>var(--tr-font-regular)</vt:lpstr>
      <vt:lpstr>Office Theme</vt:lpstr>
      <vt:lpstr>Roles of Data Science in Health Disparities and Equity  24th New York Health Forum Innovation and Collaboration in the Life Sciences and Healthcare  March 28, 2024</vt:lpstr>
      <vt:lpstr>Data Science &amp; AI/ML in health care</vt:lpstr>
      <vt:lpstr>Medical Note Taking</vt:lpstr>
      <vt:lpstr>Health disparities: definitions</vt:lpstr>
      <vt:lpstr>Ways data science can propagate disparities</vt:lpstr>
      <vt:lpstr>1. Bias in patient recruitment</vt:lpstr>
      <vt:lpstr>2. Bias in training data - early example</vt:lpstr>
      <vt:lpstr>Data Science and health disparities</vt:lpstr>
      <vt:lpstr>Question</vt:lpstr>
      <vt:lpstr>Opportunity to identify and reduce systematic bias</vt:lpstr>
      <vt:lpstr>PowerPoint Presentation</vt:lpstr>
      <vt:lpstr>Progress at NIH Office of Data Science Strategy</vt:lpstr>
      <vt:lpstr>My work in developing benchmark datasets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Waldron</dc:creator>
  <cp:lastModifiedBy>Levi Waldron</cp:lastModifiedBy>
  <cp:revision>3409</cp:revision>
  <dcterms:created xsi:type="dcterms:W3CDTF">2006-04-21T21:58:28Z</dcterms:created>
  <dcterms:modified xsi:type="dcterms:W3CDTF">2024-03-28T19:54:31Z</dcterms:modified>
</cp:coreProperties>
</file>