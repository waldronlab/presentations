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5"/>
  </p:notesMasterIdLst>
  <p:handoutMasterIdLst>
    <p:handoutMasterId r:id="rId16"/>
  </p:handoutMasterIdLst>
  <p:sldIdLst>
    <p:sldId id="256" r:id="rId2"/>
    <p:sldId id="642" r:id="rId3"/>
    <p:sldId id="640" r:id="rId4"/>
    <p:sldId id="673" r:id="rId5"/>
    <p:sldId id="641" r:id="rId6"/>
    <p:sldId id="643" r:id="rId7"/>
    <p:sldId id="672" r:id="rId8"/>
    <p:sldId id="654" r:id="rId9"/>
    <p:sldId id="636" r:id="rId10"/>
    <p:sldId id="610" r:id="rId11"/>
    <p:sldId id="638" r:id="rId12"/>
    <p:sldId id="261" r:id="rId13"/>
    <p:sldId id="644" r:id="rId14"/>
  </p:sldIdLst>
  <p:sldSz cx="12192000" cy="6858000"/>
  <p:notesSz cx="6985000" cy="92837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4">
          <p15:clr>
            <a:srgbClr val="A4A3A4"/>
          </p15:clr>
        </p15:guide>
        <p15:guide id="2" pos="220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vi Waldron"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1C4"/>
    <a:srgbClr val="B3B701"/>
    <a:srgbClr val="0000FF"/>
    <a:srgbClr val="5DD5FF"/>
    <a:srgbClr val="85DFFF"/>
    <a:srgbClr val="3FCDFF"/>
    <a:srgbClr val="11C1FF"/>
    <a:srgbClr val="0078A2"/>
    <a:srgbClr val="005A7A"/>
    <a:srgbClr val="003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51" autoAdjust="0"/>
    <p:restoredTop sz="92808" autoAdjust="0"/>
  </p:normalViewPr>
  <p:slideViewPr>
    <p:cSldViewPr snapToGrid="0">
      <p:cViewPr varScale="1">
        <p:scale>
          <a:sx n="89" d="100"/>
          <a:sy n="89" d="100"/>
        </p:scale>
        <p:origin x="176" y="784"/>
      </p:cViewPr>
      <p:guideLst>
        <p:guide orient="horz" pos="2160"/>
        <p:guide pos="3840"/>
      </p:guideLst>
    </p:cSldViewPr>
  </p:slideViewPr>
  <p:outlineViewPr>
    <p:cViewPr>
      <p:scale>
        <a:sx n="33" d="100"/>
        <a:sy n="33" d="100"/>
      </p:scale>
      <p:origin x="0" y="2718"/>
    </p:cViewPr>
  </p:outlineViewPr>
  <p:notesTextViewPr>
    <p:cViewPr>
      <p:scale>
        <a:sx n="125" d="100"/>
        <a:sy n="125" d="100"/>
      </p:scale>
      <p:origin x="0" y="0"/>
    </p:cViewPr>
  </p:notesTextViewPr>
  <p:sorterViewPr>
    <p:cViewPr>
      <p:scale>
        <a:sx n="90" d="100"/>
        <a:sy n="90" d="100"/>
      </p:scale>
      <p:origin x="0" y="2388"/>
    </p:cViewPr>
  </p:sorterViewPr>
  <p:notesViewPr>
    <p:cSldViewPr snapToGrid="0">
      <p:cViewPr varScale="1">
        <p:scale>
          <a:sx n="95" d="100"/>
          <a:sy n="95" d="100"/>
        </p:scale>
        <p:origin x="3120" y="200"/>
      </p:cViewPr>
      <p:guideLst>
        <p:guide orient="horz" pos="2924"/>
        <p:guide pos="220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7363"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6050" y="0"/>
            <a:ext cx="3027363" cy="463550"/>
          </a:xfrm>
          <a:prstGeom prst="rect">
            <a:avLst/>
          </a:prstGeom>
        </p:spPr>
        <p:txBody>
          <a:bodyPr vert="horz" lIns="91440" tIns="45720" rIns="91440" bIns="45720" rtlCol="0"/>
          <a:lstStyle>
            <a:lvl1pPr algn="r">
              <a:defRPr sz="1200"/>
            </a:lvl1pPr>
          </a:lstStyle>
          <a:p>
            <a:fld id="{FC537BD1-336C-499A-9357-A5A986E43ECB}" type="datetimeFigureOut">
              <a:rPr lang="en-US" smtClean="0"/>
              <a:pPr/>
              <a:t>4/9/24</a:t>
            </a:fld>
            <a:endParaRPr lang="en-US"/>
          </a:p>
        </p:txBody>
      </p:sp>
      <p:sp>
        <p:nvSpPr>
          <p:cNvPr id="4" name="Footer Placeholder 3"/>
          <p:cNvSpPr>
            <a:spLocks noGrp="1"/>
          </p:cNvSpPr>
          <p:nvPr>
            <p:ph type="ftr" sz="quarter" idx="2"/>
          </p:nvPr>
        </p:nvSpPr>
        <p:spPr>
          <a:xfrm>
            <a:off x="0" y="8818563"/>
            <a:ext cx="3027363"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6050" y="8818563"/>
            <a:ext cx="3027363" cy="463550"/>
          </a:xfrm>
          <a:prstGeom prst="rect">
            <a:avLst/>
          </a:prstGeom>
        </p:spPr>
        <p:txBody>
          <a:bodyPr vert="horz" lIns="91440" tIns="45720" rIns="91440" bIns="45720" rtlCol="0" anchor="b"/>
          <a:lstStyle>
            <a:lvl1pPr algn="r">
              <a:defRPr sz="1200"/>
            </a:lvl1pPr>
          </a:lstStyle>
          <a:p>
            <a:fld id="{185E343B-D4B1-4171-9113-4DFF710A3A77}" type="slidenum">
              <a:rPr lang="en-US" smtClean="0"/>
              <a:pPr/>
              <a:t>‹#›</a:t>
            </a:fld>
            <a:endParaRPr lang="en-US"/>
          </a:p>
        </p:txBody>
      </p:sp>
    </p:spTree>
    <p:extLst>
      <p:ext uri="{BB962C8B-B14F-4D97-AF65-F5344CB8AC3E}">
        <p14:creationId xmlns:p14="http://schemas.microsoft.com/office/powerpoint/2010/main" val="980982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defRPr sz="1200"/>
            </a:lvl1pPr>
          </a:lstStyle>
          <a:p>
            <a:endParaRPr lang="en-US"/>
          </a:p>
        </p:txBody>
      </p:sp>
      <p:sp>
        <p:nvSpPr>
          <p:cNvPr id="3075" name="Rectangle 3"/>
          <p:cNvSpPr>
            <a:spLocks noGrp="1" noChangeArrowheads="1"/>
          </p:cNvSpPr>
          <p:nvPr>
            <p:ph type="dt" idx="1"/>
          </p:nvPr>
        </p:nvSpPr>
        <p:spPr bwMode="auto">
          <a:xfrm>
            <a:off x="3958167" y="0"/>
            <a:ext cx="3026833" cy="46418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lvl1pPr algn="r">
              <a:defRPr sz="1200"/>
            </a:lvl1pPr>
          </a:lstStyle>
          <a:p>
            <a:endParaRPr lang="en-US"/>
          </a:p>
        </p:txBody>
      </p:sp>
      <p:sp>
        <p:nvSpPr>
          <p:cNvPr id="3076" name="Rectangle 4"/>
          <p:cNvSpPr>
            <a:spLocks noGrp="1" noRot="1" noChangeAspect="1" noChangeArrowheads="1" noTextEdit="1"/>
          </p:cNvSpPr>
          <p:nvPr>
            <p:ph type="sldImg" idx="2"/>
          </p:nvPr>
        </p:nvSpPr>
        <p:spPr bwMode="auto">
          <a:xfrm>
            <a:off x="398463" y="696913"/>
            <a:ext cx="6188075" cy="3481387"/>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931334" y="4409758"/>
            <a:ext cx="5122333" cy="4177665"/>
          </a:xfrm>
          <a:prstGeom prst="rect">
            <a:avLst/>
          </a:prstGeom>
          <a:noFill/>
          <a:ln w="9525">
            <a:noFill/>
            <a:miter lim="800000"/>
            <a:headEnd/>
            <a:tailEnd/>
          </a:ln>
        </p:spPr>
        <p:txBody>
          <a:bodyPr vert="horz" wrap="square" lIns="92958" tIns="46479" rIns="92958" bIns="4647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defRPr sz="1200"/>
            </a:lvl1pPr>
          </a:lstStyle>
          <a:p>
            <a:endParaRPr lang="en-US"/>
          </a:p>
        </p:txBody>
      </p:sp>
      <p:sp>
        <p:nvSpPr>
          <p:cNvPr id="3079" name="Rectangle 7"/>
          <p:cNvSpPr>
            <a:spLocks noGrp="1" noChangeArrowheads="1"/>
          </p:cNvSpPr>
          <p:nvPr>
            <p:ph type="sldNum" sz="quarter" idx="5"/>
          </p:nvPr>
        </p:nvSpPr>
        <p:spPr bwMode="auto">
          <a:xfrm>
            <a:off x="3958167" y="8819515"/>
            <a:ext cx="3026833" cy="464185"/>
          </a:xfrm>
          <a:prstGeom prst="rect">
            <a:avLst/>
          </a:prstGeom>
          <a:noFill/>
          <a:ln w="9525">
            <a:noFill/>
            <a:miter lim="800000"/>
            <a:headEnd/>
            <a:tailEnd/>
          </a:ln>
        </p:spPr>
        <p:txBody>
          <a:bodyPr vert="horz" wrap="square" lIns="92958" tIns="46479" rIns="92958" bIns="46479" numCol="1" anchor="b" anchorCtr="0" compatLnSpc="1">
            <a:prstTxWarp prst="textNoShape">
              <a:avLst/>
            </a:prstTxWarp>
          </a:bodyPr>
          <a:lstStyle>
            <a:lvl1pPr algn="r">
              <a:defRPr sz="1200"/>
            </a:lvl1pPr>
          </a:lstStyle>
          <a:p>
            <a:fld id="{8C865A49-EB5E-4903-ACE8-213423977F78}" type="slidenum">
              <a:rPr lang="en-US"/>
              <a:pPr/>
              <a:t>‹#›</a:t>
            </a:fld>
            <a:endParaRPr lang="en-US"/>
          </a:p>
        </p:txBody>
      </p:sp>
    </p:spTree>
    <p:extLst>
      <p:ext uri="{BB962C8B-B14F-4D97-AF65-F5344CB8AC3E}">
        <p14:creationId xmlns:p14="http://schemas.microsoft.com/office/powerpoint/2010/main" val="41869871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aperpile.com/c/9jOukV/BSVe"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paperpile.com/c/9jOukV/WLOZ"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8463" y="696913"/>
            <a:ext cx="6188075" cy="3481387"/>
          </a:xfrm>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charset="0"/>
              <a:ea typeface="ＭＳ Ｐゴシック" pitchFamily="1" charset="-128"/>
              <a:cs typeface="+mn-cs"/>
            </a:endParaRPr>
          </a:p>
        </p:txBody>
      </p:sp>
      <p:sp>
        <p:nvSpPr>
          <p:cNvPr id="4" name="Slide Number Placeholder 3"/>
          <p:cNvSpPr>
            <a:spLocks noGrp="1"/>
          </p:cNvSpPr>
          <p:nvPr>
            <p:ph type="sldNum" sz="quarter" idx="10"/>
          </p:nvPr>
        </p:nvSpPr>
        <p:spPr/>
        <p:txBody>
          <a:bodyPr/>
          <a:lstStyle/>
          <a:p>
            <a:fld id="{8C865A49-EB5E-4903-ACE8-213423977F78}" type="slidenum">
              <a:rPr lang="en-US" smtClean="0"/>
              <a:pPr/>
              <a:t>1</a:t>
            </a:fld>
            <a:endParaRPr lang="en-US"/>
          </a:p>
        </p:txBody>
      </p:sp>
    </p:spTree>
    <p:extLst>
      <p:ext uri="{BB962C8B-B14F-4D97-AF65-F5344CB8AC3E}">
        <p14:creationId xmlns:p14="http://schemas.microsoft.com/office/powerpoint/2010/main" val="2054048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bugsigdb.org</a:t>
            </a:r>
            <a:r>
              <a:rPr lang="en-US" dirty="0"/>
              <a:t>/</a:t>
            </a:r>
            <a:r>
              <a:rPr lang="en-US" dirty="0" err="1"/>
              <a:t>Special:RunQuery</a:t>
            </a:r>
            <a:r>
              <a:rPr lang="en-US" dirty="0"/>
              <a:t>/</a:t>
            </a:r>
            <a:r>
              <a:rPr lang="en-US" dirty="0" err="1"/>
              <a:t>Drill?Drill</a:t>
            </a:r>
            <a:r>
              <a:rPr lang="en-US" dirty="0"/>
              <a:t>=Condition%2Blogic%3DAND%26Location%2Blogic%3DAND%26Site%2Blogic%3DAND&amp;_run=1&amp;title=Special%3ARunQuery%2FDrill&amp;pfRunQueryFormName=Drill&amp;Drill%5BTaxon%5D%5Bis_list%5D=1&amp;Drill%5BLocation+of+subjects%5D%5Bis_list%5D=1&amp;Drill%5BLocation+logic%5D=AND&amp;Drill%5BHost+species%5D%5Bis_list%5D=1&amp;Drill%5BBody+site%5D%5Bis_list%5D=1&amp;Drill%5BSite+logic%5D=AND&amp;Drill%5BCondition%5D%5B%5D=parkinson%27s+disease&amp;Drill%5BCondition%5D%5Bis_list%5D=1&amp;Drill%5BCondition+logic%5D=AND&amp;Drill%5BNCBI%5D=&amp;</a:t>
            </a:r>
            <a:r>
              <a:rPr lang="en-US" dirty="0" err="1"/>
              <a:t>wpRunQuery</a:t>
            </a:r>
            <a:r>
              <a:rPr lang="en-US" dirty="0"/>
              <a:t>=&amp;</a:t>
            </a:r>
            <a:r>
              <a:rPr lang="en-US" dirty="0" err="1"/>
              <a:t>pf_free_text</a:t>
            </a:r>
            <a:r>
              <a:rPr lang="en-US" dirty="0"/>
              <a:t>=</a:t>
            </a:r>
          </a:p>
        </p:txBody>
      </p:sp>
      <p:sp>
        <p:nvSpPr>
          <p:cNvPr id="4" name="Slide Number Placeholder 3"/>
          <p:cNvSpPr>
            <a:spLocks noGrp="1"/>
          </p:cNvSpPr>
          <p:nvPr>
            <p:ph type="sldNum" sz="quarter" idx="5"/>
          </p:nvPr>
        </p:nvSpPr>
        <p:spPr/>
        <p:txBody>
          <a:bodyPr/>
          <a:lstStyle/>
          <a:p>
            <a:fld id="{8C865A49-EB5E-4903-ACE8-213423977F78}" type="slidenum">
              <a:rPr lang="en-US" smtClean="0"/>
              <a:pPr/>
              <a:t>6</a:t>
            </a:fld>
            <a:endParaRPr lang="en-US"/>
          </a:p>
        </p:txBody>
      </p:sp>
    </p:spTree>
    <p:extLst>
      <p:ext uri="{BB962C8B-B14F-4D97-AF65-F5344CB8AC3E}">
        <p14:creationId xmlns:p14="http://schemas.microsoft.com/office/powerpoint/2010/main" val="3569858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u="none" strike="noStrike" dirty="0">
                <a:solidFill>
                  <a:srgbClr val="1D1C1D"/>
                </a:solidFill>
                <a:effectLst/>
                <a:latin typeface="Cambria" panose="02040503050406030204" pitchFamily="18" charset="0"/>
              </a:rPr>
              <a:t>Figure 2. Analysis of signature similarity in </a:t>
            </a:r>
            <a:r>
              <a:rPr lang="en-US" sz="1200" b="1" i="0" u="none" strike="noStrike" dirty="0" err="1">
                <a:solidFill>
                  <a:srgbClr val="1D1C1D"/>
                </a:solidFill>
                <a:effectLst/>
                <a:latin typeface="Cambria" panose="02040503050406030204" pitchFamily="18" charset="0"/>
              </a:rPr>
              <a:t>BugSigDB</a:t>
            </a:r>
            <a:r>
              <a:rPr lang="en-US" sz="1200" b="1" i="0" u="none" strike="noStrike" dirty="0">
                <a:solidFill>
                  <a:srgbClr val="1D1C1D"/>
                </a:solidFill>
                <a:effectLst/>
                <a:latin typeface="Cambria" panose="02040503050406030204" pitchFamily="18" charset="0"/>
              </a:rPr>
              <a:t> identifies conditions with replicable microbiome changes across studies.</a:t>
            </a:r>
            <a:r>
              <a:rPr lang="en-US" sz="1200" b="0" i="0" u="none" strike="noStrike" dirty="0">
                <a:solidFill>
                  <a:srgbClr val="1D1C1D"/>
                </a:solidFill>
                <a:effectLst/>
                <a:latin typeface="Cambria" panose="02040503050406030204" pitchFamily="18" charset="0"/>
              </a:rPr>
              <a:t> </a:t>
            </a:r>
            <a:r>
              <a:rPr lang="en-US" sz="1200" b="1" i="0" u="none" strike="noStrike" dirty="0">
                <a:solidFill>
                  <a:srgbClr val="1D1C1D"/>
                </a:solidFill>
                <a:effectLst/>
                <a:latin typeface="Cambria" panose="02040503050406030204" pitchFamily="18" charset="0"/>
              </a:rPr>
              <a:t>(A) </a:t>
            </a:r>
            <a:r>
              <a:rPr lang="en-US" sz="1200" b="0" i="0" u="none" strike="noStrike" dirty="0">
                <a:solidFill>
                  <a:srgbClr val="1D1C1D"/>
                </a:solidFill>
                <a:effectLst/>
                <a:latin typeface="Cambria" panose="02040503050406030204" pitchFamily="18" charset="0"/>
              </a:rPr>
              <a:t>Signature similarity analysis for conditions with fecal samples from at least two studies. Signatures were stratified by direction of abundance change into signatures with decreased abundance (DOWN panel, left) and increased abundance (UP panel, right) in the study group. Shown is the </a:t>
            </a:r>
            <a:r>
              <a:rPr lang="en-US" sz="1200" b="0" i="1" u="none" strike="noStrike" dirty="0">
                <a:solidFill>
                  <a:srgbClr val="1D1C1D"/>
                </a:solidFill>
                <a:effectLst/>
                <a:latin typeface="Cambria" panose="02040503050406030204" pitchFamily="18" charset="0"/>
              </a:rPr>
              <a:t>p</a:t>
            </a:r>
            <a:r>
              <a:rPr lang="en-US" sz="1200" b="0" i="0" u="none" strike="noStrike" dirty="0">
                <a:solidFill>
                  <a:srgbClr val="1D1C1D"/>
                </a:solidFill>
                <a:effectLst/>
                <a:latin typeface="Cambria" panose="02040503050406030204" pitchFamily="18" charset="0"/>
              </a:rPr>
              <a:t>-value (</a:t>
            </a:r>
            <a:r>
              <a:rPr lang="en-US" sz="1200" b="0" i="1" u="none" strike="noStrike" dirty="0">
                <a:solidFill>
                  <a:srgbClr val="1D1C1D"/>
                </a:solidFill>
                <a:effectLst/>
                <a:latin typeface="Cambria" panose="02040503050406030204" pitchFamily="18" charset="0"/>
              </a:rPr>
              <a:t>x</a:t>
            </a:r>
            <a:r>
              <a:rPr lang="en-US" sz="1200" b="0" i="0" u="none" strike="noStrike" dirty="0">
                <a:solidFill>
                  <a:srgbClr val="1D1C1D"/>
                </a:solidFill>
                <a:effectLst/>
                <a:latin typeface="Cambria" panose="02040503050406030204" pitchFamily="18" charset="0"/>
              </a:rPr>
              <a:t>-axis, negative log scale) obtained from </a:t>
            </a:r>
            <a:r>
              <a:rPr lang="en-US" sz="1200" b="0" i="0" u="none" strike="noStrike" dirty="0">
                <a:solidFill>
                  <a:srgbClr val="292934"/>
                </a:solidFill>
                <a:effectLst/>
                <a:latin typeface="Cambria" panose="02040503050406030204" pitchFamily="18" charset="0"/>
              </a:rPr>
              <a:t>testing whether the semantic similarity of signatures for each condition (</a:t>
            </a:r>
            <a:r>
              <a:rPr lang="en-US" sz="1200" b="0" i="1" u="none" strike="noStrike" dirty="0">
                <a:solidFill>
                  <a:srgbClr val="292934"/>
                </a:solidFill>
                <a:effectLst/>
                <a:latin typeface="Cambria" panose="02040503050406030204" pitchFamily="18" charset="0"/>
              </a:rPr>
              <a:t>y</a:t>
            </a:r>
            <a:r>
              <a:rPr lang="en-US" sz="1200" b="0" i="0" u="none" strike="noStrike" dirty="0">
                <a:solidFill>
                  <a:srgbClr val="292934"/>
                </a:solidFill>
                <a:effectLst/>
                <a:latin typeface="Cambria" panose="02040503050406030204" pitchFamily="18" charset="0"/>
              </a:rPr>
              <a:t>-axis) exceeds the semantic similarity of randomly sampled signatures</a:t>
            </a:r>
            <a:r>
              <a:rPr lang="en-US" sz="1200" b="0" i="0" u="none" strike="noStrike" dirty="0">
                <a:solidFill>
                  <a:srgbClr val="1D1C1D"/>
                </a:solidFill>
                <a:effectLst/>
                <a:latin typeface="Cambria" panose="02040503050406030204" pitchFamily="18" charset="0"/>
              </a:rPr>
              <a:t>. The size of each dot corresponds to the number of studies investigating a condition. </a:t>
            </a:r>
            <a:r>
              <a:rPr lang="en-US" sz="1200" b="1" i="0" u="none" strike="noStrike" dirty="0">
                <a:solidFill>
                  <a:srgbClr val="1D1C1D"/>
                </a:solidFill>
                <a:effectLst/>
                <a:latin typeface="Cambria" panose="02040503050406030204" pitchFamily="18" charset="0"/>
              </a:rPr>
              <a:t>(B-E) </a:t>
            </a:r>
            <a:r>
              <a:rPr lang="en-US" sz="1200" b="0" i="0" u="none" strike="noStrike" dirty="0">
                <a:solidFill>
                  <a:srgbClr val="1D1C1D"/>
                </a:solidFill>
                <a:effectLst/>
                <a:latin typeface="Cambria" panose="02040503050406030204" pitchFamily="18" charset="0"/>
              </a:rPr>
              <a:t>Example exploration of two top ranked conditions in more detail: signatures of decreased abundance for patients with HIV infection (B,C), and signatures of decreased abundance for patients treated with antibiotics (D,E).</a:t>
            </a:r>
            <a:r>
              <a:rPr lang="en-US" sz="1200" b="1" i="0" u="none" strike="noStrike" dirty="0">
                <a:solidFill>
                  <a:srgbClr val="1D1C1D"/>
                </a:solidFill>
                <a:effectLst/>
                <a:latin typeface="Cambria" panose="02040503050406030204" pitchFamily="18" charset="0"/>
              </a:rPr>
              <a:t> (B,D) </a:t>
            </a:r>
            <a:r>
              <a:rPr lang="en-US" sz="1200" b="0" i="0" u="none" strike="noStrike" dirty="0">
                <a:solidFill>
                  <a:srgbClr val="1D1C1D"/>
                </a:solidFill>
                <a:effectLst/>
                <a:latin typeface="Cambria" panose="02040503050406030204" pitchFamily="18" charset="0"/>
              </a:rPr>
              <a:t>Semantic similarity between signatures. Each node corresponds to a signature. The size of each node is proportional to the number of taxa in a signature. More similar signatures are connected by shorter and thicker edges. </a:t>
            </a:r>
            <a:r>
              <a:rPr lang="en-US" sz="1200" b="1" i="0" u="none" strike="noStrike" dirty="0">
                <a:solidFill>
                  <a:srgbClr val="1D1C1D"/>
                </a:solidFill>
                <a:effectLst/>
                <a:latin typeface="Cambria" panose="02040503050406030204" pitchFamily="18" charset="0"/>
              </a:rPr>
              <a:t>(C,E)</a:t>
            </a:r>
            <a:r>
              <a:rPr lang="en-US" sz="1200" b="0" i="0" u="none" strike="noStrike" dirty="0">
                <a:solidFill>
                  <a:srgbClr val="1D1C1D"/>
                </a:solidFill>
                <a:effectLst/>
                <a:latin typeface="Cambria" panose="02040503050406030204" pitchFamily="18" charset="0"/>
              </a:rPr>
              <a:t> Microbial contents of the signatures shown in panels B and D (</a:t>
            </a:r>
            <a:r>
              <a:rPr lang="en-US" sz="1200" b="0" i="1" u="none" strike="noStrike" dirty="0">
                <a:solidFill>
                  <a:srgbClr val="1D1C1D"/>
                </a:solidFill>
                <a:effectLst/>
                <a:latin typeface="Cambria" panose="02040503050406030204" pitchFamily="18" charset="0"/>
              </a:rPr>
              <a:t>y</a:t>
            </a:r>
            <a:r>
              <a:rPr lang="en-US" sz="1200" b="0" i="0" u="none" strike="noStrike" dirty="0">
                <a:solidFill>
                  <a:srgbClr val="1D1C1D"/>
                </a:solidFill>
                <a:effectLst/>
                <a:latin typeface="Cambria" panose="02040503050406030204" pitchFamily="18" charset="0"/>
              </a:rPr>
              <a:t>-axis) delineating the genera contained in these signatures (</a:t>
            </a:r>
            <a:r>
              <a:rPr lang="en-US" sz="1200" b="0" i="1" u="none" strike="noStrike" dirty="0">
                <a:solidFill>
                  <a:srgbClr val="1D1C1D"/>
                </a:solidFill>
                <a:effectLst/>
                <a:latin typeface="Cambria" panose="02040503050406030204" pitchFamily="18" charset="0"/>
              </a:rPr>
              <a:t>x</a:t>
            </a:r>
            <a:r>
              <a:rPr lang="en-US" sz="1200" b="0" i="0" u="none" strike="noStrike" dirty="0">
                <a:solidFill>
                  <a:srgbClr val="1D1C1D"/>
                </a:solidFill>
                <a:effectLst/>
                <a:latin typeface="Cambria" panose="02040503050406030204" pitchFamily="18" charset="0"/>
              </a:rPr>
              <a:t>-axis). Signatures are clustered by semantic similarity and the relative frequency of each genus across signatures is indicated by a color scale. Display of contained taxa is restricted to genera occurring in at least two signatures (full signatures are shown in Supplementary Figure S5 and S6).</a:t>
            </a:r>
            <a:endParaRPr lang="en-US" dirty="0"/>
          </a:p>
          <a:p>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7</a:t>
            </a:fld>
            <a:endParaRPr lang="en-US"/>
          </a:p>
        </p:txBody>
      </p:sp>
    </p:spTree>
    <p:extLst>
      <p:ext uri="{BB962C8B-B14F-4D97-AF65-F5344CB8AC3E}">
        <p14:creationId xmlns:p14="http://schemas.microsoft.com/office/powerpoint/2010/main" val="3596915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rtl="0">
              <a:spcBef>
                <a:spcPts val="0"/>
              </a:spcBef>
              <a:spcAft>
                <a:spcPts val="0"/>
              </a:spcAft>
            </a:pPr>
            <a:r>
              <a:rPr lang="en-US" sz="1800" b="1" i="0" u="none" strike="noStrike" dirty="0">
                <a:solidFill>
                  <a:srgbClr val="292934"/>
                </a:solidFill>
                <a:effectLst/>
                <a:latin typeface="Cambria" panose="02040503050406030204" pitchFamily="18" charset="0"/>
              </a:rPr>
              <a:t>Figure 3. Bug set enrichment analysis reveals established and novel associations of the human microbiome with colorectal cancer and other disease phenotypes.</a:t>
            </a:r>
            <a:r>
              <a:rPr lang="en-US" sz="1800" b="0" i="0" u="none" strike="noStrike" dirty="0">
                <a:solidFill>
                  <a:srgbClr val="292934"/>
                </a:solidFill>
                <a:effectLst/>
                <a:latin typeface="Cambria" panose="02040503050406030204" pitchFamily="18" charset="0"/>
              </a:rPr>
              <a:t> </a:t>
            </a:r>
            <a:r>
              <a:rPr lang="en-US" sz="1800" b="1" i="0" u="none" strike="noStrike" dirty="0">
                <a:solidFill>
                  <a:srgbClr val="292934"/>
                </a:solidFill>
                <a:effectLst/>
                <a:latin typeface="Cambria" panose="02040503050406030204" pitchFamily="18" charset="0"/>
              </a:rPr>
              <a:t>(A)</a:t>
            </a:r>
            <a:r>
              <a:rPr lang="en-US" sz="1800" b="0" i="0" u="none" strike="noStrike" dirty="0">
                <a:solidFill>
                  <a:srgbClr val="292934"/>
                </a:solidFill>
                <a:effectLst/>
                <a:latin typeface="Cambria" panose="02040503050406030204" pitchFamily="18" charset="0"/>
              </a:rPr>
              <a:t> Overrepresentation analysis (ORA) of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signatures with differentially abundant genera between 662 colorectal cancer samples and 653 control samples pooled from 10 published metagenomic datasets. Each dot corresponds to an enriched published signature from </a:t>
            </a:r>
            <a:r>
              <a:rPr lang="en-US" sz="1800" b="0" i="0" u="none" strike="noStrike" dirty="0" err="1">
                <a:solidFill>
                  <a:srgbClr val="292934"/>
                </a:solidFill>
                <a:effectLst/>
                <a:latin typeface="Cambria" panose="02040503050406030204" pitchFamily="18" charset="0"/>
              </a:rPr>
              <a:t>BugSigDB</a:t>
            </a:r>
            <a:r>
              <a:rPr lang="en-US" sz="1800" b="0" i="0" u="none" strike="noStrike" dirty="0">
                <a:solidFill>
                  <a:srgbClr val="292934"/>
                </a:solidFill>
                <a:effectLst/>
                <a:latin typeface="Cambria" panose="02040503050406030204" pitchFamily="18" charset="0"/>
              </a:rPr>
              <a:t> (FDR &lt; 0.05, Fisher’s exact test, color scale). The size of each dot corresponds to the number of differentially abundant genera in a signature, given as a proportion on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 Prior meta-analytic signatures from Thomas et al., 2019</a:t>
            </a:r>
            <a:r>
              <a:rPr lang="en-US" sz="1800" b="0" i="0" u="none" strike="noStrike" baseline="30000" dirty="0">
                <a:solidFill>
                  <a:srgbClr val="000000"/>
                </a:solidFill>
                <a:effectLst/>
                <a:latin typeface="Cambria" panose="02040503050406030204" pitchFamily="18" charset="0"/>
                <a:hlinkClick r:id="rId3"/>
              </a:rPr>
              <a:t>52</a:t>
            </a:r>
            <a:r>
              <a:rPr lang="en-US" sz="1800" b="0" i="0" u="none" strike="noStrike" dirty="0">
                <a:solidFill>
                  <a:srgbClr val="292934"/>
                </a:solidFill>
                <a:effectLst/>
                <a:latin typeface="Cambria" panose="02040503050406030204" pitchFamily="18" charset="0"/>
              </a:rPr>
              <a:t>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a:t>
            </a:r>
            <a:r>
              <a:rPr lang="en-US" sz="1800" b="0" i="0" u="none" strike="noStrike" baseline="30000" dirty="0">
                <a:solidFill>
                  <a:srgbClr val="000000"/>
                </a:solidFill>
                <a:effectLst/>
                <a:latin typeface="Cambria" panose="02040503050406030204" pitchFamily="18" charset="0"/>
                <a:hlinkClick r:id="rId4"/>
              </a:rPr>
              <a:t>53</a:t>
            </a:r>
            <a:r>
              <a:rPr lang="en-US" sz="1800" b="0" i="0" u="none" strike="noStrike" dirty="0">
                <a:solidFill>
                  <a:srgbClr val="292934"/>
                </a:solidFill>
                <a:effectLst/>
                <a:latin typeface="Cambria" panose="02040503050406030204" pitchFamily="18" charset="0"/>
              </a:rPr>
              <a:t> which reported differentially abundant species and genera from meta-analysis of 8 colorectal cancer datasets. These act as positive controls, as several of the datasets being tested for enrichment were included at the time these signatures were derived. </a:t>
            </a:r>
            <a:r>
              <a:rPr lang="en-US" sz="1800" b="1" i="0" u="none" strike="noStrike" dirty="0">
                <a:solidFill>
                  <a:srgbClr val="292934"/>
                </a:solidFill>
                <a:effectLst/>
                <a:latin typeface="Cambria" panose="02040503050406030204" pitchFamily="18" charset="0"/>
              </a:rPr>
              <a:t>(B)</a:t>
            </a:r>
            <a:r>
              <a:rPr lang="en-US" sz="1800" b="0" i="0" u="none" strike="noStrike" dirty="0">
                <a:solidFill>
                  <a:srgbClr val="292934"/>
                </a:solidFill>
                <a:effectLst/>
                <a:latin typeface="Cambria" panose="02040503050406030204" pitchFamily="18" charset="0"/>
              </a:rPr>
              <a:t> Differentially abundant genera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in the top 15 enriched signatures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from the overrepresentation analysis in (A). The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is sorted by occurrence frequency of each genus in decreasing order, the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is sorted by Jaccard similarity between signatures. </a:t>
            </a:r>
            <a:r>
              <a:rPr lang="en-US" sz="1800" b="1" i="0" u="none" strike="noStrike" dirty="0">
                <a:solidFill>
                  <a:srgbClr val="292934"/>
                </a:solidFill>
                <a:effectLst/>
                <a:latin typeface="Cambria" panose="02040503050406030204" pitchFamily="18" charset="0"/>
              </a:rPr>
              <a:t>(C)</a:t>
            </a:r>
            <a:r>
              <a:rPr lang="en-US" sz="1800" b="0" i="0" u="none" strike="noStrike" dirty="0">
                <a:solidFill>
                  <a:srgbClr val="292934"/>
                </a:solidFill>
                <a:effectLst/>
                <a:latin typeface="Cambria" panose="02040503050406030204" pitchFamily="18" charset="0"/>
              </a:rPr>
              <a:t> Percentile of ranks (</a:t>
            </a:r>
            <a:r>
              <a:rPr lang="en-US" sz="1800" b="0" i="1" u="none" strike="noStrike" dirty="0">
                <a:solidFill>
                  <a:srgbClr val="292934"/>
                </a:solidFill>
                <a:effectLst/>
                <a:latin typeface="Cambria" panose="02040503050406030204" pitchFamily="18" charset="0"/>
              </a:rPr>
              <a:t>y</a:t>
            </a:r>
            <a:r>
              <a:rPr lang="en-US" sz="1800" b="0" i="0" u="none" strike="noStrike" dirty="0">
                <a:solidFill>
                  <a:srgbClr val="292934"/>
                </a:solidFill>
                <a:effectLst/>
                <a:latin typeface="Cambria" panose="02040503050406030204" pitchFamily="18" charset="0"/>
              </a:rPr>
              <a:t>-axis) of both meta-analytic signatures for ORA, pathway analysis with down-weighting of overlapping genes (PADOG), and competitive balances for taxonomic enrichment analysis (CBEA) relative to all signatures when applied to the 10 published metagenomic datasets individually (</a:t>
            </a:r>
            <a:r>
              <a:rPr lang="en-US" sz="1800" b="0" i="1" u="none" strike="noStrike" dirty="0">
                <a:solidFill>
                  <a:srgbClr val="292934"/>
                </a:solidFill>
                <a:effectLst/>
                <a:latin typeface="Cambria" panose="02040503050406030204" pitchFamily="18" charset="0"/>
              </a:rPr>
              <a:t>x</a:t>
            </a:r>
            <a:r>
              <a:rPr lang="en-US" sz="1800" b="0" i="0" u="none" strike="noStrike" dirty="0">
                <a:solidFill>
                  <a:srgbClr val="292934"/>
                </a:solidFill>
                <a:effectLst/>
                <a:latin typeface="Cambria" panose="02040503050406030204" pitchFamily="18" charset="0"/>
              </a:rPr>
              <a:t>-axis). </a:t>
            </a:r>
            <a:r>
              <a:rPr lang="en-US" sz="1800" b="0" i="0" u="none" strike="noStrike" baseline="30000" dirty="0">
                <a:solidFill>
                  <a:srgbClr val="292934"/>
                </a:solidFill>
                <a:effectLst/>
                <a:latin typeface="Cambria" panose="02040503050406030204" pitchFamily="18" charset="0"/>
              </a:rPr>
              <a:t>#</a:t>
            </a:r>
            <a:r>
              <a:rPr lang="en-US" sz="1800" b="0" i="0" u="none" strike="noStrike" dirty="0">
                <a:solidFill>
                  <a:srgbClr val="292934"/>
                </a:solidFill>
                <a:effectLst/>
                <a:latin typeface="Cambria" panose="02040503050406030204" pitchFamily="18" charset="0"/>
              </a:rPr>
              <a:t> Datasets not included as training sets in the meta-analyses of Thomas et al., 2019, and </a:t>
            </a:r>
            <a:r>
              <a:rPr lang="en-US" sz="1800" b="0" i="0" u="none" strike="noStrike" dirty="0" err="1">
                <a:solidFill>
                  <a:srgbClr val="292934"/>
                </a:solidFill>
                <a:effectLst/>
                <a:latin typeface="Cambria" panose="02040503050406030204" pitchFamily="18" charset="0"/>
              </a:rPr>
              <a:t>Wirbel</a:t>
            </a:r>
            <a:r>
              <a:rPr lang="en-US" sz="1800" b="0" i="0" u="none" strike="noStrike" dirty="0">
                <a:solidFill>
                  <a:srgbClr val="292934"/>
                </a:solidFill>
                <a:effectLst/>
                <a:latin typeface="Cambria" panose="02040503050406030204" pitchFamily="18" charset="0"/>
              </a:rPr>
              <a:t> et al., 2019. </a:t>
            </a:r>
            <a:r>
              <a:rPr lang="en-US" sz="1800" b="1" i="0" u="none" strike="noStrike" dirty="0">
                <a:solidFill>
                  <a:srgbClr val="292934"/>
                </a:solidFill>
                <a:effectLst/>
                <a:latin typeface="Cambria" panose="02040503050406030204" pitchFamily="18" charset="0"/>
              </a:rPr>
              <a:t>(D) </a:t>
            </a:r>
            <a:r>
              <a:rPr lang="en-US" sz="1800" b="0" i="0" u="none" strike="noStrike" dirty="0">
                <a:solidFill>
                  <a:srgbClr val="292934"/>
                </a:solidFill>
                <a:effectLst/>
                <a:latin typeface="Cambria" panose="02040503050406030204" pitchFamily="18" charset="0"/>
              </a:rPr>
              <a:t>Assessment of statistically significant differences of the percentile ranks shown in (C) between the three methods using Wilcoxon’s signed-rank test.</a:t>
            </a:r>
            <a:br>
              <a:rPr lang="en-US" dirty="0"/>
            </a:br>
            <a:endParaRPr lang="en-US" dirty="0"/>
          </a:p>
        </p:txBody>
      </p:sp>
      <p:sp>
        <p:nvSpPr>
          <p:cNvPr id="4" name="Slide Number Placeholder 3"/>
          <p:cNvSpPr>
            <a:spLocks noGrp="1"/>
          </p:cNvSpPr>
          <p:nvPr>
            <p:ph type="sldNum" sz="quarter" idx="5"/>
          </p:nvPr>
        </p:nvSpPr>
        <p:spPr/>
        <p:txBody>
          <a:bodyPr/>
          <a:lstStyle/>
          <a:p>
            <a:fld id="{8C865A49-EB5E-4903-ACE8-213423977F78}" type="slidenum">
              <a:rPr lang="en-US" smtClean="0"/>
              <a:pPr/>
              <a:t>8</a:t>
            </a:fld>
            <a:endParaRPr lang="en-US"/>
          </a:p>
        </p:txBody>
      </p:sp>
    </p:spTree>
    <p:extLst>
      <p:ext uri="{BB962C8B-B14F-4D97-AF65-F5344CB8AC3E}">
        <p14:creationId xmlns:p14="http://schemas.microsoft.com/office/powerpoint/2010/main" val="519396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C1149B-02C2-486B-B75A-700EE76F689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C242F-20BE-4F6C-ABA6-9DCC8641EF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28DF25-4D78-4EE5-B83E-1582EE0F26B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078028-53A3-436D-A27A-F8121CE5CB6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4"/>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4"/>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A866A2-4A13-452A-BF39-D3C45AC49E0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4A0C0E-8BF0-4721-8DD7-E8BD3CE0AC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AFAAF-5E43-4A48-94B3-8EA7C994412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1"/>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29619D-5089-4F3D-97DE-E3F82B8AA18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6CD016-BBD3-4D5D-B93B-73EA93A3DC5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20DF7C-E865-4281-945D-9857A56130D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CD48-F7F9-4128-AFA7-3B5B14F364D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107311-B00B-4602-9329-240EBA90A1D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bugsigdb.org/Special:RunQuery/Drill?Drill=Condition%2Blogic%3DAND%26Location%2Blogic%3DAND%26Site%2Blogic%3DAND&amp;_run=1&amp;title=Special%3ARunQuery%2FDrill&amp;pfRunQueryFormName=Drill&amp;Drill%5BTaxon%5D%5Bis_list%5D=1&amp;Drill%5BLocation+of+subjects%5D%5Bis_list%5D=1&amp;Drill%5BLocation+logic%5D=AND&amp;Drill%5BHost+species%5D%5Bis_list%5D=1&amp;Drill%5BBody+site%5D%5Bis_list%5D=1&amp;Drill%5BSite+logic%5D=AND&amp;Drill%5BCondition%5D%5B%5D=parkinson%27s+disease&amp;Drill%5BCondition%5D%5Bis_list%5D=1&amp;Drill%5BCondition+logic%5D=AND&amp;Drill%5BNCBI%5D=&amp;wpRunQuery=&amp;pf_free_tex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hyperlink" Target="https://www.stormsmicrobiome.org/" TargetMode="Externa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zenodo.org/record/571430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A5661C9-2EFB-2D46-B39A-3E9ABBCBA866}"/>
              </a:ext>
            </a:extLst>
          </p:cNvPr>
          <p:cNvSpPr>
            <a:spLocks noGrp="1"/>
          </p:cNvSpPr>
          <p:nvPr>
            <p:ph type="ctrTitle"/>
          </p:nvPr>
        </p:nvSpPr>
        <p:spPr>
          <a:xfrm>
            <a:off x="533400" y="321733"/>
            <a:ext cx="11342913" cy="1807105"/>
          </a:xfrm>
        </p:spPr>
        <p:txBody>
          <a:bodyPr>
            <a:normAutofit/>
          </a:bodyPr>
          <a:lstStyle/>
          <a:p>
            <a:pPr>
              <a:lnSpc>
                <a:spcPct val="90000"/>
              </a:lnSpc>
            </a:pPr>
            <a:r>
              <a:rPr lang="en-US" sz="4800" dirty="0">
                <a:latin typeface="Montserrat" panose="00000500000000000000" pitchFamily="2" charset="0"/>
                <a:cs typeface="Biome" panose="020B0502040204020203" pitchFamily="34" charset="0"/>
              </a:rPr>
              <a:t>Increasing the value of ASAP-produced data</a:t>
            </a:r>
          </a:p>
        </p:txBody>
      </p:sp>
      <p:sp>
        <p:nvSpPr>
          <p:cNvPr id="5" name="Subtitle 4">
            <a:extLst>
              <a:ext uri="{FF2B5EF4-FFF2-40B4-BE49-F238E27FC236}">
                <a16:creationId xmlns:a16="http://schemas.microsoft.com/office/drawing/2014/main" id="{C1B1E3DB-DCE7-5845-95A5-8F831774FDA6}"/>
              </a:ext>
            </a:extLst>
          </p:cNvPr>
          <p:cNvSpPr>
            <a:spLocks noGrp="1"/>
          </p:cNvSpPr>
          <p:nvPr>
            <p:ph type="subTitle" idx="1"/>
          </p:nvPr>
        </p:nvSpPr>
        <p:spPr>
          <a:xfrm>
            <a:off x="2726289" y="2890811"/>
            <a:ext cx="6957133" cy="1687999"/>
          </a:xfrm>
        </p:spPr>
        <p:txBody>
          <a:bodyPr>
            <a:normAutofit/>
          </a:bodyPr>
          <a:lstStyle/>
          <a:p>
            <a:pPr>
              <a:lnSpc>
                <a:spcPct val="90000"/>
              </a:lnSpc>
            </a:pPr>
            <a:r>
              <a:rPr lang="en-US" sz="1900" dirty="0"/>
              <a:t>April 9, 2024</a:t>
            </a:r>
          </a:p>
          <a:p>
            <a:pPr>
              <a:lnSpc>
                <a:spcPct val="90000"/>
              </a:lnSpc>
            </a:pPr>
            <a:endParaRPr lang="en-US" sz="1900" dirty="0"/>
          </a:p>
          <a:p>
            <a:pPr>
              <a:lnSpc>
                <a:spcPct val="90000"/>
              </a:lnSpc>
            </a:pPr>
            <a:r>
              <a:rPr lang="en-US" sz="1900" dirty="0"/>
              <a:t>Levi Waldron</a:t>
            </a:r>
          </a:p>
          <a:p>
            <a:pPr>
              <a:lnSpc>
                <a:spcPct val="90000"/>
              </a:lnSpc>
            </a:pPr>
            <a:br>
              <a:rPr lang="en-US" sz="1900" dirty="0"/>
            </a:br>
            <a:r>
              <a:rPr lang="en-US" sz="1900" dirty="0"/>
              <a:t>Microbiome Analytic Core</a:t>
            </a:r>
          </a:p>
        </p:txBody>
      </p:sp>
      <p:sp>
        <p:nvSpPr>
          <p:cNvPr id="16" name="Rectangle 15">
            <a:extLst>
              <a:ext uri="{FF2B5EF4-FFF2-40B4-BE49-F238E27FC236}">
                <a16:creationId xmlns:a16="http://schemas.microsoft.com/office/drawing/2014/main" id="{35FED45D-D144-4B05-BBCF-B68683958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32938" y="-4508938"/>
            <a:ext cx="126124" cy="9144000"/>
          </a:xfrm>
          <a:prstGeom prst="rect">
            <a:avLst/>
          </a:prstGeom>
          <a:solidFill>
            <a:srgbClr val="4472C4"/>
          </a:solidFill>
          <a:ln w="12700" cap="flat" cmpd="sng" algn="ctr">
            <a:noFill/>
            <a:prstDash val="solid"/>
            <a:miter lim="800000"/>
          </a:ln>
          <a:effectLst/>
        </p:spPr>
        <p:txBody>
          <a:bodyPr rtlCol="0" anchor="ctr"/>
          <a:lstStyle/>
          <a:p>
            <a:pPr algn="ctr" eaLnBrk="1" fontAlgn="auto" hangingPunct="1">
              <a:spcBef>
                <a:spcPts val="0"/>
              </a:spcBef>
              <a:spcAft>
                <a:spcPts val="0"/>
              </a:spcAft>
              <a:defRPr/>
            </a:pPr>
            <a:endParaRPr lang="en-US" sz="1800" kern="0" dirty="0">
              <a:solidFill>
                <a:prstClr val="white"/>
              </a:solidFill>
              <a:latin typeface="Calibri" panose="020F0502020204030204"/>
              <a:ea typeface="+mn-ea"/>
            </a:endParaRPr>
          </a:p>
        </p:txBody>
      </p:sp>
      <p:sp>
        <p:nvSpPr>
          <p:cNvPr id="3" name="TextBox 2">
            <a:extLst>
              <a:ext uri="{FF2B5EF4-FFF2-40B4-BE49-F238E27FC236}">
                <a16:creationId xmlns:a16="http://schemas.microsoft.com/office/drawing/2014/main" id="{50DBAF2D-2F94-A54D-BA42-C111A88E0FBB}"/>
              </a:ext>
            </a:extLst>
          </p:cNvPr>
          <p:cNvSpPr txBox="1"/>
          <p:nvPr/>
        </p:nvSpPr>
        <p:spPr>
          <a:xfrm>
            <a:off x="1643273" y="2415212"/>
            <a:ext cx="184731" cy="461665"/>
          </a:xfrm>
          <a:prstGeom prst="rect">
            <a:avLst/>
          </a:prstGeom>
          <a:noFill/>
        </p:spPr>
        <p:txBody>
          <a:bodyPr wrap="none" rtlCol="0">
            <a:spAutoFit/>
          </a:bodyPr>
          <a:lstStyle/>
          <a:p>
            <a:endParaRPr lang="en-US" dirty="0"/>
          </a:p>
        </p:txBody>
      </p:sp>
      <p:pic>
        <p:nvPicPr>
          <p:cNvPr id="2" name="Picture 1">
            <a:extLst>
              <a:ext uri="{FF2B5EF4-FFF2-40B4-BE49-F238E27FC236}">
                <a16:creationId xmlns:a16="http://schemas.microsoft.com/office/drawing/2014/main" id="{225FF94A-C104-7A82-AF64-9B5C5C963298}"/>
              </a:ext>
            </a:extLst>
          </p:cNvPr>
          <p:cNvPicPr>
            <a:picLocks noChangeAspect="1"/>
          </p:cNvPicPr>
          <p:nvPr/>
        </p:nvPicPr>
        <p:blipFill>
          <a:blip r:embed="rId3"/>
          <a:stretch>
            <a:fillRect/>
          </a:stretch>
        </p:blipFill>
        <p:spPr>
          <a:xfrm>
            <a:off x="10856976" y="6081554"/>
            <a:ext cx="1335024" cy="776446"/>
          </a:xfrm>
          <a:prstGeom prst="rect">
            <a:avLst/>
          </a:prstGeom>
        </p:spPr>
      </p:pic>
      <p:pic>
        <p:nvPicPr>
          <p:cNvPr id="4" name="Picture 3">
            <a:extLst>
              <a:ext uri="{FF2B5EF4-FFF2-40B4-BE49-F238E27FC236}">
                <a16:creationId xmlns:a16="http://schemas.microsoft.com/office/drawing/2014/main" id="{439AE981-F216-C4BF-63E5-F7C61BB785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138644"/>
            <a:ext cx="4510359" cy="7193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634"/>
    </mc:Choice>
    <mc:Fallback xmlns="">
      <p:transition spd="slow" advTm="11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8046-BDA7-C777-56C7-D82EFF5E7AD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172BB228-E662-848A-9E04-F6CCA36E41AD}"/>
              </a:ext>
            </a:extLst>
          </p:cNvPr>
          <p:cNvSpPr>
            <a:spLocks noGrp="1"/>
          </p:cNvSpPr>
          <p:nvPr>
            <p:ph idx="1"/>
          </p:nvPr>
        </p:nvSpPr>
        <p:spPr/>
        <p:txBody>
          <a:bodyPr/>
          <a:lstStyle/>
          <a:p>
            <a:r>
              <a:rPr lang="en-US" dirty="0"/>
              <a:t>Background / self-introduction:</a:t>
            </a:r>
          </a:p>
          <a:p>
            <a:pPr marL="971550" lvl="1" indent="-514350">
              <a:buFont typeface="+mj-lt"/>
              <a:buAutoNum type="arabicPeriod"/>
            </a:pPr>
            <a:r>
              <a:rPr lang="en-US" i="1" dirty="0"/>
              <a:t>curatedMetagenomicData</a:t>
            </a:r>
            <a:r>
              <a:rPr lang="en-US" dirty="0"/>
              <a:t>: standardized, curated human microbiome data for novel analyses</a:t>
            </a:r>
          </a:p>
          <a:p>
            <a:pPr marL="971550" lvl="1" indent="-514350">
              <a:buFont typeface="+mj-lt"/>
              <a:buAutoNum type="arabicPeriod"/>
            </a:pPr>
            <a:r>
              <a:rPr lang="en-US" i="1" dirty="0"/>
              <a:t>BugSigDB</a:t>
            </a:r>
            <a:r>
              <a:rPr lang="en-US" dirty="0"/>
              <a:t>: A comprehensive database of published microbial signatures</a:t>
            </a:r>
          </a:p>
          <a:p>
            <a:pPr marL="971550" lvl="1" indent="-514350">
              <a:buFont typeface="+mj-lt"/>
              <a:buAutoNum type="arabicPeriod"/>
            </a:pPr>
            <a:r>
              <a:rPr lang="en-US" i="1" dirty="0"/>
              <a:t>STORMS</a:t>
            </a:r>
            <a:r>
              <a:rPr lang="en-US" dirty="0"/>
              <a:t>: </a:t>
            </a:r>
            <a:r>
              <a:rPr lang="en-US" b="1" dirty="0"/>
              <a:t>S</a:t>
            </a:r>
            <a:r>
              <a:rPr lang="en-US" dirty="0"/>
              <a:t>trengthening the </a:t>
            </a:r>
            <a:r>
              <a:rPr lang="en-US" b="1" dirty="0"/>
              <a:t>O</a:t>
            </a:r>
            <a:r>
              <a:rPr lang="en-US" dirty="0"/>
              <a:t>rganization and </a:t>
            </a:r>
            <a:r>
              <a:rPr lang="en-US" b="1" dirty="0"/>
              <a:t>R</a:t>
            </a:r>
            <a:r>
              <a:rPr lang="en-US" dirty="0"/>
              <a:t>eporting of </a:t>
            </a:r>
            <a:r>
              <a:rPr lang="en-US" b="1" dirty="0"/>
              <a:t>M</a:t>
            </a:r>
            <a:r>
              <a:rPr lang="en-US" dirty="0"/>
              <a:t>icrobiome </a:t>
            </a:r>
            <a:r>
              <a:rPr lang="en-US" b="1" dirty="0"/>
              <a:t>S</a:t>
            </a:r>
            <a:r>
              <a:rPr lang="en-US" dirty="0"/>
              <a:t>tudies</a:t>
            </a:r>
          </a:p>
          <a:p>
            <a:pPr marL="971550" lvl="1" indent="-514350">
              <a:buFont typeface="+mj-lt"/>
              <a:buAutoNum type="arabicPeriod"/>
            </a:pPr>
            <a:r>
              <a:rPr lang="en-US" dirty="0"/>
              <a:t>Roles for MAC in ASAP</a:t>
            </a:r>
          </a:p>
          <a:p>
            <a:pPr lvl="1"/>
            <a:endParaRPr lang="en-US" dirty="0"/>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36EED79B-0DFD-3E5B-36BE-70A6AC00EA8A}"/>
              </a:ext>
            </a:extLst>
          </p:cNvPr>
          <p:cNvSpPr>
            <a:spLocks noGrp="1"/>
          </p:cNvSpPr>
          <p:nvPr>
            <p:ph type="sldNum" sz="quarter" idx="12"/>
          </p:nvPr>
        </p:nvSpPr>
        <p:spPr/>
        <p:txBody>
          <a:bodyPr/>
          <a:lstStyle/>
          <a:p>
            <a:fld id="{C71C242F-20BE-4F6C-ABA6-9DCC8641EF60}" type="slidenum">
              <a:rPr lang="en-US" smtClean="0"/>
              <a:pPr/>
              <a:t>2</a:t>
            </a:fld>
            <a:endParaRPr lang="en-US"/>
          </a:p>
        </p:txBody>
      </p:sp>
    </p:spTree>
    <p:extLst>
      <p:ext uri="{BB962C8B-B14F-4D97-AF65-F5344CB8AC3E}">
        <p14:creationId xmlns:p14="http://schemas.microsoft.com/office/powerpoint/2010/main" val="1303790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4FB18-6F72-E1C0-69F4-24CC052BCA60}"/>
              </a:ext>
            </a:extLst>
          </p:cNvPr>
          <p:cNvSpPr>
            <a:spLocks noGrp="1"/>
          </p:cNvSpPr>
          <p:nvPr>
            <p:ph type="title"/>
          </p:nvPr>
        </p:nvSpPr>
        <p:spPr/>
        <p:txBody>
          <a:bodyPr/>
          <a:lstStyle/>
          <a:p>
            <a:r>
              <a:rPr lang="en-US" dirty="0"/>
              <a:t>Background: curatedMetagenomicData</a:t>
            </a:r>
          </a:p>
        </p:txBody>
      </p:sp>
      <p:sp>
        <p:nvSpPr>
          <p:cNvPr id="4" name="Slide Number Placeholder 3">
            <a:extLst>
              <a:ext uri="{FF2B5EF4-FFF2-40B4-BE49-F238E27FC236}">
                <a16:creationId xmlns:a16="http://schemas.microsoft.com/office/drawing/2014/main" id="{30F3ECF3-1977-ACAD-D99B-B6F4FF82A53A}"/>
              </a:ext>
            </a:extLst>
          </p:cNvPr>
          <p:cNvSpPr>
            <a:spLocks noGrp="1"/>
          </p:cNvSpPr>
          <p:nvPr>
            <p:ph type="sldNum" sz="quarter" idx="12"/>
          </p:nvPr>
        </p:nvSpPr>
        <p:spPr/>
        <p:txBody>
          <a:bodyPr/>
          <a:lstStyle/>
          <a:p>
            <a:fld id="{C71C242F-20BE-4F6C-ABA6-9DCC8641EF60}" type="slidenum">
              <a:rPr lang="en-US" smtClean="0"/>
              <a:pPr/>
              <a:t>3</a:t>
            </a:fld>
            <a:endParaRPr lang="en-US"/>
          </a:p>
        </p:txBody>
      </p:sp>
      <p:sp>
        <p:nvSpPr>
          <p:cNvPr id="5" name="Rounded Rectangle 4">
            <a:extLst>
              <a:ext uri="{FF2B5EF4-FFF2-40B4-BE49-F238E27FC236}">
                <a16:creationId xmlns:a16="http://schemas.microsoft.com/office/drawing/2014/main" id="{BDE32FDC-A64B-D0BF-54D3-DAC81895376A}"/>
              </a:ext>
            </a:extLst>
          </p:cNvPr>
          <p:cNvSpPr/>
          <p:nvPr/>
        </p:nvSpPr>
        <p:spPr>
          <a:xfrm>
            <a:off x="228614" y="4272419"/>
            <a:ext cx="5182408" cy="1762370"/>
          </a:xfrm>
          <a:prstGeom prst="roundRect">
            <a:avLst/>
          </a:prstGeom>
          <a:noFill/>
          <a:ln w="22225">
            <a:solidFill>
              <a:schemeClr val="bg1">
                <a:lumMod val="50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solidFill>
                <a:schemeClr val="tx1"/>
              </a:solidFill>
            </a:endParaRPr>
          </a:p>
        </p:txBody>
      </p:sp>
      <p:grpSp>
        <p:nvGrpSpPr>
          <p:cNvPr id="6" name="Group 5">
            <a:extLst>
              <a:ext uri="{FF2B5EF4-FFF2-40B4-BE49-F238E27FC236}">
                <a16:creationId xmlns:a16="http://schemas.microsoft.com/office/drawing/2014/main" id="{AE8B73E9-C56B-4F7B-00F3-6F446548F841}"/>
              </a:ext>
            </a:extLst>
          </p:cNvPr>
          <p:cNvGrpSpPr/>
          <p:nvPr/>
        </p:nvGrpSpPr>
        <p:grpSpPr>
          <a:xfrm>
            <a:off x="457200" y="2579076"/>
            <a:ext cx="2368712" cy="1570893"/>
            <a:chOff x="457200" y="2579076"/>
            <a:chExt cx="2368712" cy="1570893"/>
          </a:xfrm>
        </p:grpSpPr>
        <p:sp>
          <p:nvSpPr>
            <p:cNvPr id="7" name="Rounded Rectangle 6">
              <a:extLst>
                <a:ext uri="{FF2B5EF4-FFF2-40B4-BE49-F238E27FC236}">
                  <a16:creationId xmlns:a16="http://schemas.microsoft.com/office/drawing/2014/main" id="{0CE8CA1F-1BF4-D450-D5F2-C56392491285}"/>
                </a:ext>
              </a:extLst>
            </p:cNvPr>
            <p:cNvSpPr/>
            <p:nvPr/>
          </p:nvSpPr>
          <p:spPr>
            <a:xfrm>
              <a:off x="834943" y="2721055"/>
              <a:ext cx="1665979"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Download </a:t>
              </a:r>
              <a:r>
                <a:rPr lang="en-US" sz="1400" dirty="0" err="1">
                  <a:solidFill>
                    <a:schemeClr val="tx1"/>
                  </a:solidFill>
                </a:rPr>
                <a:t>fastq</a:t>
              </a:r>
              <a:endParaRPr lang="en-US" sz="1000" dirty="0">
                <a:solidFill>
                  <a:schemeClr val="tx1"/>
                </a:solidFill>
              </a:endParaRPr>
            </a:p>
          </p:txBody>
        </p:sp>
        <p:sp>
          <p:nvSpPr>
            <p:cNvPr id="8" name="Rounded Rectangle 7">
              <a:extLst>
                <a:ext uri="{FF2B5EF4-FFF2-40B4-BE49-F238E27FC236}">
                  <a16:creationId xmlns:a16="http://schemas.microsoft.com/office/drawing/2014/main" id="{76DC0CC0-4251-C3E6-8E25-1BA4F78C73ED}"/>
                </a:ext>
              </a:extLst>
            </p:cNvPr>
            <p:cNvSpPr/>
            <p:nvPr/>
          </p:nvSpPr>
          <p:spPr>
            <a:xfrm>
              <a:off x="834943" y="3255107"/>
              <a:ext cx="1665979"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400" dirty="0">
                  <a:solidFill>
                    <a:schemeClr val="tx1"/>
                  </a:solidFill>
                </a:rPr>
                <a:t>Uniform processing</a:t>
              </a:r>
              <a:endParaRPr lang="en-US" sz="1000" dirty="0">
                <a:solidFill>
                  <a:schemeClr val="tx1"/>
                </a:solidFill>
              </a:endParaRPr>
            </a:p>
          </p:txBody>
        </p:sp>
        <p:grpSp>
          <p:nvGrpSpPr>
            <p:cNvPr id="9" name="Group 8">
              <a:extLst>
                <a:ext uri="{FF2B5EF4-FFF2-40B4-BE49-F238E27FC236}">
                  <a16:creationId xmlns:a16="http://schemas.microsoft.com/office/drawing/2014/main" id="{0F911368-CA40-5699-F6E5-2D090AA976D0}"/>
                </a:ext>
              </a:extLst>
            </p:cNvPr>
            <p:cNvGrpSpPr/>
            <p:nvPr/>
          </p:nvGrpSpPr>
          <p:grpSpPr>
            <a:xfrm>
              <a:off x="457200" y="3774830"/>
              <a:ext cx="2368712" cy="375139"/>
              <a:chOff x="769816" y="3774830"/>
              <a:chExt cx="2368712" cy="375139"/>
            </a:xfrm>
          </p:grpSpPr>
          <p:sp>
            <p:nvSpPr>
              <p:cNvPr id="14" name="Rounded Rectangle 13">
                <a:extLst>
                  <a:ext uri="{FF2B5EF4-FFF2-40B4-BE49-F238E27FC236}">
                    <a16:creationId xmlns:a16="http://schemas.microsoft.com/office/drawing/2014/main" id="{3FEC09EA-9D1A-E778-9CEF-693938438A02}"/>
                  </a:ext>
                </a:extLst>
              </p:cNvPr>
              <p:cNvSpPr/>
              <p:nvPr/>
            </p:nvSpPr>
            <p:spPr>
              <a:xfrm>
                <a:off x="769816" y="3774830"/>
                <a:ext cx="1131928"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err="1">
                    <a:solidFill>
                      <a:schemeClr val="tx1"/>
                    </a:solidFill>
                  </a:rPr>
                  <a:t>MetaPhlAn</a:t>
                </a:r>
                <a:endParaRPr lang="en-US" sz="1000" dirty="0">
                  <a:solidFill>
                    <a:schemeClr val="tx1"/>
                  </a:solidFill>
                </a:endParaRPr>
              </a:p>
            </p:txBody>
          </p:sp>
          <p:sp>
            <p:nvSpPr>
              <p:cNvPr id="15" name="Rounded Rectangle 14">
                <a:extLst>
                  <a:ext uri="{FF2B5EF4-FFF2-40B4-BE49-F238E27FC236}">
                    <a16:creationId xmlns:a16="http://schemas.microsoft.com/office/drawing/2014/main" id="{3E6D6CA6-2F6E-84C7-0F6D-32D647F32582}"/>
                  </a:ext>
                </a:extLst>
              </p:cNvPr>
              <p:cNvSpPr/>
              <p:nvPr/>
            </p:nvSpPr>
            <p:spPr>
              <a:xfrm>
                <a:off x="2006600" y="3774830"/>
                <a:ext cx="1131928"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err="1">
                    <a:solidFill>
                      <a:schemeClr val="tx1"/>
                    </a:solidFill>
                  </a:rPr>
                  <a:t>HUMAnN</a:t>
                </a:r>
                <a:endParaRPr lang="en-US" sz="1000" dirty="0">
                  <a:solidFill>
                    <a:schemeClr val="tx1"/>
                  </a:solidFill>
                </a:endParaRPr>
              </a:p>
            </p:txBody>
          </p:sp>
        </p:grpSp>
        <p:cxnSp>
          <p:nvCxnSpPr>
            <p:cNvPr id="10" name="Straight Arrow Connector 9">
              <a:extLst>
                <a:ext uri="{FF2B5EF4-FFF2-40B4-BE49-F238E27FC236}">
                  <a16:creationId xmlns:a16="http://schemas.microsoft.com/office/drawing/2014/main" id="{BBBADA9C-B988-A7BF-FCFD-674CC09559F2}"/>
                </a:ext>
              </a:extLst>
            </p:cNvPr>
            <p:cNvCxnSpPr>
              <a:endCxn id="7" idx="0"/>
            </p:cNvCxnSpPr>
            <p:nvPr/>
          </p:nvCxnSpPr>
          <p:spPr>
            <a:xfrm flipH="1">
              <a:off x="1667933" y="2579076"/>
              <a:ext cx="3257" cy="141979"/>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4ED2F6D-ADAD-5AD9-A4AA-EA2DA0CDC9CF}"/>
                </a:ext>
              </a:extLst>
            </p:cNvPr>
            <p:cNvCxnSpPr/>
            <p:nvPr/>
          </p:nvCxnSpPr>
          <p:spPr>
            <a:xfrm flipH="1">
              <a:off x="1658163" y="3096194"/>
              <a:ext cx="3257" cy="141979"/>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D0AB0DE-FE5A-0FC0-3EC1-CE72FADC9C0F}"/>
                </a:ext>
              </a:extLst>
            </p:cNvPr>
            <p:cNvCxnSpPr/>
            <p:nvPr/>
          </p:nvCxnSpPr>
          <p:spPr>
            <a:xfrm flipH="1">
              <a:off x="1025768" y="3630246"/>
              <a:ext cx="3257" cy="141979"/>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1C0BACF-9535-E7D4-1292-38D963EDC21B}"/>
                </a:ext>
              </a:extLst>
            </p:cNvPr>
            <p:cNvCxnSpPr/>
            <p:nvPr/>
          </p:nvCxnSpPr>
          <p:spPr>
            <a:xfrm flipH="1">
              <a:off x="2269718" y="3632851"/>
              <a:ext cx="3257" cy="141979"/>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3FF31FD8-363B-3B35-E240-A0C27D3962E3}"/>
              </a:ext>
            </a:extLst>
          </p:cNvPr>
          <p:cNvGrpSpPr/>
          <p:nvPr/>
        </p:nvGrpSpPr>
        <p:grpSpPr>
          <a:xfrm>
            <a:off x="457200" y="4139548"/>
            <a:ext cx="2427978" cy="1800144"/>
            <a:chOff x="457200" y="4139548"/>
            <a:chExt cx="2427978" cy="1800144"/>
          </a:xfrm>
        </p:grpSpPr>
        <p:sp>
          <p:nvSpPr>
            <p:cNvPr id="17" name="Rectangle 16">
              <a:extLst>
                <a:ext uri="{FF2B5EF4-FFF2-40B4-BE49-F238E27FC236}">
                  <a16:creationId xmlns:a16="http://schemas.microsoft.com/office/drawing/2014/main" id="{B3BD789A-6BFC-0CE0-7431-ABBB1FD254C1}"/>
                </a:ext>
              </a:extLst>
            </p:cNvPr>
            <p:cNvSpPr/>
            <p:nvPr/>
          </p:nvSpPr>
          <p:spPr>
            <a:xfrm>
              <a:off x="457200" y="4402666"/>
              <a:ext cx="1131928"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species abundance</a:t>
              </a:r>
            </a:p>
          </p:txBody>
        </p:sp>
        <p:sp>
          <p:nvSpPr>
            <p:cNvPr id="18" name="Rectangle 17">
              <a:extLst>
                <a:ext uri="{FF2B5EF4-FFF2-40B4-BE49-F238E27FC236}">
                  <a16:creationId xmlns:a16="http://schemas.microsoft.com/office/drawing/2014/main" id="{3DFC7E84-D036-0317-EE3A-8689039B0A7D}"/>
                </a:ext>
              </a:extLst>
            </p:cNvPr>
            <p:cNvSpPr/>
            <p:nvPr/>
          </p:nvSpPr>
          <p:spPr>
            <a:xfrm>
              <a:off x="462410" y="4949743"/>
              <a:ext cx="1126718"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marker</a:t>
              </a:r>
            </a:p>
            <a:p>
              <a:pPr algn="ctr"/>
              <a:r>
                <a:rPr lang="en-US" sz="1000" dirty="0">
                  <a:solidFill>
                    <a:schemeClr val="tx1"/>
                  </a:solidFill>
                </a:rPr>
                <a:t>presence</a:t>
              </a:r>
            </a:p>
          </p:txBody>
        </p:sp>
        <p:sp>
          <p:nvSpPr>
            <p:cNvPr id="19" name="Rectangle 18">
              <a:extLst>
                <a:ext uri="{FF2B5EF4-FFF2-40B4-BE49-F238E27FC236}">
                  <a16:creationId xmlns:a16="http://schemas.microsoft.com/office/drawing/2014/main" id="{A8925BED-55A3-7D88-7318-09940C4EA8CF}"/>
                </a:ext>
              </a:extLst>
            </p:cNvPr>
            <p:cNvSpPr/>
            <p:nvPr/>
          </p:nvSpPr>
          <p:spPr>
            <a:xfrm>
              <a:off x="1693983" y="5496820"/>
              <a:ext cx="1178169"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gene family abundance</a:t>
              </a:r>
            </a:p>
          </p:txBody>
        </p:sp>
        <p:sp>
          <p:nvSpPr>
            <p:cNvPr id="20" name="Rectangle 19">
              <a:extLst>
                <a:ext uri="{FF2B5EF4-FFF2-40B4-BE49-F238E27FC236}">
                  <a16:creationId xmlns:a16="http://schemas.microsoft.com/office/drawing/2014/main" id="{78B5A528-D266-866C-E184-F9F3CE5D0E32}"/>
                </a:ext>
              </a:extLst>
            </p:cNvPr>
            <p:cNvSpPr/>
            <p:nvPr/>
          </p:nvSpPr>
          <p:spPr>
            <a:xfrm>
              <a:off x="457200" y="5496820"/>
              <a:ext cx="1126718"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marker abundance</a:t>
              </a:r>
            </a:p>
          </p:txBody>
        </p:sp>
        <p:sp>
          <p:nvSpPr>
            <p:cNvPr id="21" name="Rectangle 20">
              <a:extLst>
                <a:ext uri="{FF2B5EF4-FFF2-40B4-BE49-F238E27FC236}">
                  <a16:creationId xmlns:a16="http://schemas.microsoft.com/office/drawing/2014/main" id="{1254A247-C364-60BA-1B8D-1970109BB9FC}"/>
                </a:ext>
              </a:extLst>
            </p:cNvPr>
            <p:cNvSpPr/>
            <p:nvPr/>
          </p:nvSpPr>
          <p:spPr>
            <a:xfrm>
              <a:off x="1693983" y="4402666"/>
              <a:ext cx="1191195"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metabolic pathway abundance</a:t>
              </a:r>
            </a:p>
          </p:txBody>
        </p:sp>
        <p:sp>
          <p:nvSpPr>
            <p:cNvPr id="22" name="Rectangle 21">
              <a:extLst>
                <a:ext uri="{FF2B5EF4-FFF2-40B4-BE49-F238E27FC236}">
                  <a16:creationId xmlns:a16="http://schemas.microsoft.com/office/drawing/2014/main" id="{DD33AC2A-ECE7-F67E-DA08-A414A3C1A92F}"/>
                </a:ext>
              </a:extLst>
            </p:cNvPr>
            <p:cNvSpPr/>
            <p:nvPr/>
          </p:nvSpPr>
          <p:spPr>
            <a:xfrm>
              <a:off x="1680958" y="4952347"/>
              <a:ext cx="1191195"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metabolic pathway presence</a:t>
              </a:r>
            </a:p>
          </p:txBody>
        </p:sp>
        <p:cxnSp>
          <p:nvCxnSpPr>
            <p:cNvPr id="23" name="Straight Arrow Connector 22">
              <a:extLst>
                <a:ext uri="{FF2B5EF4-FFF2-40B4-BE49-F238E27FC236}">
                  <a16:creationId xmlns:a16="http://schemas.microsoft.com/office/drawing/2014/main" id="{FAE69CB6-DB8F-E61B-672A-17B3907F6027}"/>
                </a:ext>
              </a:extLst>
            </p:cNvPr>
            <p:cNvCxnSpPr>
              <a:endCxn id="17" idx="0"/>
            </p:cNvCxnSpPr>
            <p:nvPr/>
          </p:nvCxnSpPr>
          <p:spPr>
            <a:xfrm flipH="1">
              <a:off x="1023164" y="4139548"/>
              <a:ext cx="9119" cy="263118"/>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010AE896-0600-E2E3-BADF-C52E1BE294E1}"/>
                </a:ext>
              </a:extLst>
            </p:cNvPr>
            <p:cNvCxnSpPr/>
            <p:nvPr/>
          </p:nvCxnSpPr>
          <p:spPr>
            <a:xfrm flipH="1">
              <a:off x="2257342" y="4160389"/>
              <a:ext cx="9119" cy="263118"/>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55BA54A5-93B8-8EEC-F1B6-AF5880F937BA}"/>
              </a:ext>
            </a:extLst>
          </p:cNvPr>
          <p:cNvGrpSpPr/>
          <p:nvPr/>
        </p:nvGrpSpPr>
        <p:grpSpPr>
          <a:xfrm>
            <a:off x="4091358" y="3774830"/>
            <a:ext cx="1126718" cy="1572851"/>
            <a:chOff x="4091358" y="3774830"/>
            <a:chExt cx="1126718" cy="1572851"/>
          </a:xfrm>
        </p:grpSpPr>
        <p:sp>
          <p:nvSpPr>
            <p:cNvPr id="26" name="Rectangle 25">
              <a:extLst>
                <a:ext uri="{FF2B5EF4-FFF2-40B4-BE49-F238E27FC236}">
                  <a16:creationId xmlns:a16="http://schemas.microsoft.com/office/drawing/2014/main" id="{85DBC555-16EA-01F6-6BD8-B386D91003C3}"/>
                </a:ext>
              </a:extLst>
            </p:cNvPr>
            <p:cNvSpPr/>
            <p:nvPr/>
          </p:nvSpPr>
          <p:spPr>
            <a:xfrm>
              <a:off x="4091358" y="4904809"/>
              <a:ext cx="1126718" cy="442872"/>
            </a:xfrm>
            <a:prstGeom prst="rect">
              <a:avLst/>
            </a:prstGeom>
            <a:no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tx1"/>
                  </a:solidFill>
                </a:rPr>
                <a:t>standardized metadata</a:t>
              </a:r>
            </a:p>
          </p:txBody>
        </p:sp>
        <p:cxnSp>
          <p:nvCxnSpPr>
            <p:cNvPr id="27" name="Straight Arrow Connector 26">
              <a:extLst>
                <a:ext uri="{FF2B5EF4-FFF2-40B4-BE49-F238E27FC236}">
                  <a16:creationId xmlns:a16="http://schemas.microsoft.com/office/drawing/2014/main" id="{B0145069-1321-0D0B-F03F-9CB2D7B71F5B}"/>
                </a:ext>
              </a:extLst>
            </p:cNvPr>
            <p:cNvCxnSpPr>
              <a:stCxn id="29" idx="2"/>
              <a:endCxn id="26" idx="0"/>
            </p:cNvCxnSpPr>
            <p:nvPr/>
          </p:nvCxnSpPr>
          <p:spPr>
            <a:xfrm flipH="1">
              <a:off x="4654717" y="3774830"/>
              <a:ext cx="9100" cy="1129979"/>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136CC73C-B028-78BE-FF25-22A783D1D7C3}"/>
              </a:ext>
            </a:extLst>
          </p:cNvPr>
          <p:cNvGrpSpPr/>
          <p:nvPr/>
        </p:nvGrpSpPr>
        <p:grpSpPr>
          <a:xfrm>
            <a:off x="3911586" y="2591654"/>
            <a:ext cx="1504462" cy="1183176"/>
            <a:chOff x="3911587" y="2579076"/>
            <a:chExt cx="1504462" cy="1183176"/>
          </a:xfrm>
        </p:grpSpPr>
        <p:sp>
          <p:nvSpPr>
            <p:cNvPr id="29" name="Rounded Rectangle 28">
              <a:extLst>
                <a:ext uri="{FF2B5EF4-FFF2-40B4-BE49-F238E27FC236}">
                  <a16:creationId xmlns:a16="http://schemas.microsoft.com/office/drawing/2014/main" id="{735C57A2-21AA-D666-3E1E-846E2A97FCA0}"/>
                </a:ext>
              </a:extLst>
            </p:cNvPr>
            <p:cNvSpPr/>
            <p:nvPr/>
          </p:nvSpPr>
          <p:spPr>
            <a:xfrm>
              <a:off x="3911587" y="3387113"/>
              <a:ext cx="1504462"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Manual </a:t>
              </a:r>
              <a:r>
                <a:rPr lang="en-US" sz="1400" dirty="0" err="1">
                  <a:solidFill>
                    <a:schemeClr val="tx1"/>
                  </a:solidFill>
                </a:rPr>
                <a:t>curation</a:t>
              </a:r>
              <a:endParaRPr lang="en-US" sz="1000" dirty="0">
                <a:solidFill>
                  <a:schemeClr val="tx1"/>
                </a:solidFill>
              </a:endParaRPr>
            </a:p>
          </p:txBody>
        </p:sp>
        <p:cxnSp>
          <p:nvCxnSpPr>
            <p:cNvPr id="30" name="Straight Arrow Connector 29">
              <a:extLst>
                <a:ext uri="{FF2B5EF4-FFF2-40B4-BE49-F238E27FC236}">
                  <a16:creationId xmlns:a16="http://schemas.microsoft.com/office/drawing/2014/main" id="{58F32639-01FE-F230-017B-6099D0279212}"/>
                </a:ext>
              </a:extLst>
            </p:cNvPr>
            <p:cNvCxnSpPr>
              <a:cxnSpLocks/>
              <a:stCxn id="32" idx="4"/>
              <a:endCxn id="29" idx="0"/>
            </p:cNvCxnSpPr>
            <p:nvPr/>
          </p:nvCxnSpPr>
          <p:spPr>
            <a:xfrm flipH="1">
              <a:off x="4663818" y="2579076"/>
              <a:ext cx="4670" cy="820615"/>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A313818F-6EE6-5BE2-BD3A-FBF8EDA0C1AD}"/>
              </a:ext>
            </a:extLst>
          </p:cNvPr>
          <p:cNvSpPr/>
          <p:nvPr/>
        </p:nvSpPr>
        <p:spPr>
          <a:xfrm>
            <a:off x="57667" y="1417638"/>
            <a:ext cx="2932647" cy="1154926"/>
          </a:xfrm>
          <a:prstGeom prst="ellipse">
            <a:avLst/>
          </a:prstGeom>
          <a:solidFill>
            <a:schemeClr val="bg1">
              <a:lumMod val="85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Raw data</a:t>
            </a:r>
          </a:p>
          <a:p>
            <a:pPr marL="171450" indent="-171450">
              <a:buFont typeface="Wingdings" charset="2"/>
              <a:buChar char="Ø"/>
            </a:pPr>
            <a:r>
              <a:rPr lang="en-US" sz="1100" dirty="0">
                <a:solidFill>
                  <a:schemeClr val="tx1"/>
                </a:solidFill>
              </a:rPr>
              <a:t>41 datasets (2017)</a:t>
            </a:r>
          </a:p>
          <a:p>
            <a:pPr marL="171450" indent="-171450">
              <a:buFont typeface="Wingdings" charset="2"/>
              <a:buChar char="Ø"/>
            </a:pPr>
            <a:r>
              <a:rPr lang="en-US" sz="1100" dirty="0">
                <a:solidFill>
                  <a:schemeClr val="tx1"/>
                </a:solidFill>
              </a:rPr>
              <a:t>7,152 samples</a:t>
            </a:r>
          </a:p>
          <a:p>
            <a:pPr algn="ctr"/>
            <a:endParaRPr lang="en-US" dirty="0">
              <a:solidFill>
                <a:schemeClr val="tx1"/>
              </a:solidFill>
            </a:endParaRPr>
          </a:p>
        </p:txBody>
      </p:sp>
      <p:sp>
        <p:nvSpPr>
          <p:cNvPr id="32" name="Oval 31">
            <a:extLst>
              <a:ext uri="{FF2B5EF4-FFF2-40B4-BE49-F238E27FC236}">
                <a16:creationId xmlns:a16="http://schemas.microsoft.com/office/drawing/2014/main" id="{9639CB6A-BF91-A37C-0EBF-F1F2D17FD2E2}"/>
              </a:ext>
            </a:extLst>
          </p:cNvPr>
          <p:cNvSpPr/>
          <p:nvPr/>
        </p:nvSpPr>
        <p:spPr>
          <a:xfrm>
            <a:off x="3165863" y="1430216"/>
            <a:ext cx="3005247" cy="1148860"/>
          </a:xfrm>
          <a:prstGeom prst="ellipse">
            <a:avLst/>
          </a:prstGeom>
          <a:solidFill>
            <a:schemeClr val="bg1">
              <a:lumMod val="85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Study metadata</a:t>
            </a:r>
            <a:endParaRPr lang="en-US" sz="1100" dirty="0">
              <a:solidFill>
                <a:schemeClr val="tx1"/>
              </a:solidFill>
            </a:endParaRPr>
          </a:p>
          <a:p>
            <a:pPr algn="ctr"/>
            <a:r>
              <a:rPr lang="en-US" sz="1100" dirty="0">
                <a:solidFill>
                  <a:schemeClr val="tx1"/>
                </a:solidFill>
              </a:rPr>
              <a:t>Age, body site, disease, </a:t>
            </a:r>
            <a:r>
              <a:rPr lang="en-US" sz="1100" dirty="0" err="1">
                <a:solidFill>
                  <a:schemeClr val="tx1"/>
                </a:solidFill>
              </a:rPr>
              <a:t>etc</a:t>
            </a:r>
            <a:r>
              <a:rPr lang="is-IS" sz="1100" dirty="0">
                <a:solidFill>
                  <a:schemeClr val="tx1"/>
                </a:solidFill>
              </a:rPr>
              <a:t>…</a:t>
            </a:r>
            <a:endParaRPr lang="en-US" sz="1100" dirty="0">
              <a:solidFill>
                <a:schemeClr val="tx1"/>
              </a:solidFill>
            </a:endParaRPr>
          </a:p>
        </p:txBody>
      </p:sp>
      <p:grpSp>
        <p:nvGrpSpPr>
          <p:cNvPr id="34" name="Group 33">
            <a:extLst>
              <a:ext uri="{FF2B5EF4-FFF2-40B4-BE49-F238E27FC236}">
                <a16:creationId xmlns:a16="http://schemas.microsoft.com/office/drawing/2014/main" id="{7685765E-8E12-5592-A0F2-982AE2D437E0}"/>
              </a:ext>
            </a:extLst>
          </p:cNvPr>
          <p:cNvGrpSpPr/>
          <p:nvPr/>
        </p:nvGrpSpPr>
        <p:grpSpPr>
          <a:xfrm>
            <a:off x="5551714" y="4623006"/>
            <a:ext cx="5270074" cy="1504255"/>
            <a:chOff x="2893298" y="4688170"/>
            <a:chExt cx="5270074" cy="1504255"/>
          </a:xfrm>
        </p:grpSpPr>
        <p:sp>
          <p:nvSpPr>
            <p:cNvPr id="35" name="Hexagon 34">
              <a:extLst>
                <a:ext uri="{FF2B5EF4-FFF2-40B4-BE49-F238E27FC236}">
                  <a16:creationId xmlns:a16="http://schemas.microsoft.com/office/drawing/2014/main" id="{0B3709FC-9E25-145C-A36B-6D8D491F139C}"/>
                </a:ext>
              </a:extLst>
            </p:cNvPr>
            <p:cNvSpPr/>
            <p:nvPr/>
          </p:nvSpPr>
          <p:spPr>
            <a:xfrm>
              <a:off x="5547049" y="4706277"/>
              <a:ext cx="2616323" cy="964369"/>
            </a:xfrm>
            <a:prstGeom prst="hexagon">
              <a:avLst/>
            </a:prstGeom>
            <a:solidFill>
              <a:schemeClr val="accent1">
                <a:lumMod val="20000"/>
                <a:lumOff val="80000"/>
              </a:scheme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Integrated </a:t>
              </a:r>
              <a:r>
                <a:rPr lang="en-US" sz="1400" dirty="0" err="1">
                  <a:solidFill>
                    <a:schemeClr val="tx1"/>
                  </a:solidFill>
                </a:rPr>
                <a:t>Bioconductor</a:t>
              </a:r>
              <a:r>
                <a:rPr lang="en-US" sz="1400" dirty="0">
                  <a:solidFill>
                    <a:schemeClr val="tx1"/>
                  </a:solidFill>
                </a:rPr>
                <a:t> </a:t>
              </a:r>
              <a:r>
                <a:rPr lang="en-US" sz="1400" dirty="0" err="1">
                  <a:solidFill>
                    <a:schemeClr val="tx1"/>
                  </a:solidFill>
                </a:rPr>
                <a:t>ExpressionSet</a:t>
              </a:r>
              <a:r>
                <a:rPr lang="en-US" sz="1400" dirty="0">
                  <a:solidFill>
                    <a:schemeClr val="tx1"/>
                  </a:solidFill>
                </a:rPr>
                <a:t> objects</a:t>
              </a:r>
            </a:p>
            <a:p>
              <a:pPr marL="285750" indent="-285750">
                <a:buFont typeface="Wingdings" charset="2"/>
                <a:buChar char="Ø"/>
              </a:pPr>
              <a:r>
                <a:rPr lang="en-US" sz="1000" dirty="0">
                  <a:solidFill>
                    <a:schemeClr val="tx1"/>
                  </a:solidFill>
                </a:rPr>
                <a:t>Per-patient </a:t>
              </a:r>
              <a:r>
                <a:rPr lang="en-US" sz="1000" dirty="0" err="1">
                  <a:solidFill>
                    <a:schemeClr val="tx1"/>
                  </a:solidFill>
                </a:rPr>
                <a:t>microbiome</a:t>
              </a:r>
              <a:r>
                <a:rPr lang="en-US" sz="1000" dirty="0">
                  <a:solidFill>
                    <a:schemeClr val="tx1"/>
                  </a:solidFill>
                </a:rPr>
                <a:t> data</a:t>
              </a:r>
            </a:p>
            <a:p>
              <a:pPr marL="285750" indent="-285750">
                <a:buFont typeface="Wingdings" charset="2"/>
                <a:buChar char="Ø"/>
              </a:pPr>
              <a:r>
                <a:rPr lang="en-US" sz="1000" dirty="0">
                  <a:solidFill>
                    <a:schemeClr val="tx1"/>
                  </a:solidFill>
                </a:rPr>
                <a:t>Per-patient metadata</a:t>
              </a:r>
            </a:p>
            <a:p>
              <a:pPr marL="285750" indent="-285750">
                <a:buFont typeface="Wingdings" charset="2"/>
                <a:buChar char="Ø"/>
              </a:pPr>
              <a:r>
                <a:rPr lang="en-US" sz="1000" dirty="0">
                  <a:solidFill>
                    <a:schemeClr val="tx1"/>
                  </a:solidFill>
                </a:rPr>
                <a:t>Experiment-wide metadata</a:t>
              </a:r>
            </a:p>
          </p:txBody>
        </p:sp>
        <p:pic>
          <p:nvPicPr>
            <p:cNvPr id="36" name="Picture 35">
              <a:extLst>
                <a:ext uri="{FF2B5EF4-FFF2-40B4-BE49-F238E27FC236}">
                  <a16:creationId xmlns:a16="http://schemas.microsoft.com/office/drawing/2014/main" id="{D0FD36A5-FFCA-EA76-778B-29B71AB401BC}"/>
                </a:ext>
              </a:extLst>
            </p:cNvPr>
            <p:cNvPicPr>
              <a:picLocks noChangeAspect="1"/>
            </p:cNvPicPr>
            <p:nvPr/>
          </p:nvPicPr>
          <p:blipFill>
            <a:blip r:embed="rId2"/>
            <a:stretch>
              <a:fillRect/>
            </a:stretch>
          </p:blipFill>
          <p:spPr>
            <a:xfrm rot="16200000">
              <a:off x="4613917" y="4737514"/>
              <a:ext cx="982476" cy="883787"/>
            </a:xfrm>
            <a:prstGeom prst="rect">
              <a:avLst/>
            </a:prstGeom>
          </p:spPr>
        </p:pic>
        <p:sp>
          <p:nvSpPr>
            <p:cNvPr id="37" name="Rounded Rectangle 36">
              <a:extLst>
                <a:ext uri="{FF2B5EF4-FFF2-40B4-BE49-F238E27FC236}">
                  <a16:creationId xmlns:a16="http://schemas.microsoft.com/office/drawing/2014/main" id="{E860882E-6E96-15E1-3797-D5C0A0286D60}"/>
                </a:ext>
              </a:extLst>
            </p:cNvPr>
            <p:cNvSpPr/>
            <p:nvPr/>
          </p:nvSpPr>
          <p:spPr>
            <a:xfrm>
              <a:off x="4562649" y="5817286"/>
              <a:ext cx="1085011"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Integration</a:t>
              </a:r>
              <a:endParaRPr lang="en-US" sz="1000" dirty="0">
                <a:solidFill>
                  <a:schemeClr val="tx1"/>
                </a:solidFill>
              </a:endParaRPr>
            </a:p>
          </p:txBody>
        </p:sp>
        <p:cxnSp>
          <p:nvCxnSpPr>
            <p:cNvPr id="38" name="Straight Arrow Connector 37">
              <a:extLst>
                <a:ext uri="{FF2B5EF4-FFF2-40B4-BE49-F238E27FC236}">
                  <a16:creationId xmlns:a16="http://schemas.microsoft.com/office/drawing/2014/main" id="{7C30C491-8154-424F-E954-F9D1AFFD8ADE}"/>
                </a:ext>
              </a:extLst>
            </p:cNvPr>
            <p:cNvCxnSpPr>
              <a:cxnSpLocks/>
            </p:cNvCxnSpPr>
            <p:nvPr/>
          </p:nvCxnSpPr>
          <p:spPr>
            <a:xfrm>
              <a:off x="2893298" y="5182241"/>
              <a:ext cx="1621972" cy="0"/>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04311026-6812-90D2-34C9-EDEFAB0400FC}"/>
              </a:ext>
            </a:extLst>
          </p:cNvPr>
          <p:cNvGrpSpPr/>
          <p:nvPr/>
        </p:nvGrpSpPr>
        <p:grpSpPr>
          <a:xfrm>
            <a:off x="8202484" y="2957126"/>
            <a:ext cx="2616323" cy="1665879"/>
            <a:chOff x="5544068" y="3022290"/>
            <a:chExt cx="2616323" cy="1665879"/>
          </a:xfrm>
        </p:grpSpPr>
        <p:cxnSp>
          <p:nvCxnSpPr>
            <p:cNvPr id="40" name="Straight Arrow Connector 39">
              <a:extLst>
                <a:ext uri="{FF2B5EF4-FFF2-40B4-BE49-F238E27FC236}">
                  <a16:creationId xmlns:a16="http://schemas.microsoft.com/office/drawing/2014/main" id="{80438A51-14BA-72B2-6CFA-798D469067C1}"/>
                </a:ext>
              </a:extLst>
            </p:cNvPr>
            <p:cNvCxnSpPr/>
            <p:nvPr/>
          </p:nvCxnSpPr>
          <p:spPr>
            <a:xfrm flipV="1">
              <a:off x="6852230" y="4546189"/>
              <a:ext cx="0" cy="141980"/>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B500F00C-8E34-27C1-6B39-6FF4234AC728}"/>
                </a:ext>
              </a:extLst>
            </p:cNvPr>
            <p:cNvSpPr/>
            <p:nvPr/>
          </p:nvSpPr>
          <p:spPr>
            <a:xfrm>
              <a:off x="5698705" y="4169136"/>
              <a:ext cx="2341235" cy="375139"/>
            </a:xfrm>
            <a:prstGeom prst="roundRect">
              <a:avLst/>
            </a:prstGeom>
            <a:noFill/>
            <a:ln w="222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Automatic documentation</a:t>
              </a:r>
              <a:endParaRPr lang="en-US" sz="1000" dirty="0">
                <a:solidFill>
                  <a:schemeClr val="tx1"/>
                </a:solidFill>
              </a:endParaRPr>
            </a:p>
          </p:txBody>
        </p:sp>
        <p:sp>
          <p:nvSpPr>
            <p:cNvPr id="42" name="Hexagon 41">
              <a:extLst>
                <a:ext uri="{FF2B5EF4-FFF2-40B4-BE49-F238E27FC236}">
                  <a16:creationId xmlns:a16="http://schemas.microsoft.com/office/drawing/2014/main" id="{DD648DEE-F8EE-F3C8-3846-A58B85C1D70A}"/>
                </a:ext>
              </a:extLst>
            </p:cNvPr>
            <p:cNvSpPr/>
            <p:nvPr/>
          </p:nvSpPr>
          <p:spPr>
            <a:xfrm>
              <a:off x="5544068" y="3022290"/>
              <a:ext cx="2616323" cy="964369"/>
            </a:xfrm>
            <a:prstGeom prst="hexagon">
              <a:avLst/>
            </a:prstGeom>
            <a:solidFill>
              <a:schemeClr val="accent1">
                <a:lumMod val="20000"/>
                <a:lumOff val="80000"/>
              </a:scheme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err="1">
                  <a:solidFill>
                    <a:schemeClr val="tx1"/>
                  </a:solidFill>
                </a:rPr>
                <a:t>ExperimentHub</a:t>
              </a:r>
              <a:r>
                <a:rPr lang="en-US" sz="1400" dirty="0">
                  <a:solidFill>
                    <a:schemeClr val="tx1"/>
                  </a:solidFill>
                </a:rPr>
                <a:t> product</a:t>
              </a:r>
            </a:p>
            <a:p>
              <a:pPr marL="285750" indent="-285750">
                <a:buFont typeface="Wingdings" charset="2"/>
                <a:buChar char="Ø"/>
              </a:pPr>
              <a:r>
                <a:rPr lang="en-US" sz="1000" dirty="0">
                  <a:solidFill>
                    <a:schemeClr val="tx1"/>
                  </a:solidFill>
                </a:rPr>
                <a:t>Amazon S3 cloud distribution</a:t>
              </a:r>
            </a:p>
            <a:p>
              <a:pPr marL="285750" indent="-285750">
                <a:buFont typeface="Wingdings" charset="2"/>
                <a:buChar char="Ø"/>
              </a:pPr>
              <a:r>
                <a:rPr lang="en-US" sz="1000" dirty="0">
                  <a:solidFill>
                    <a:schemeClr val="tx1"/>
                  </a:solidFill>
                </a:rPr>
                <a:t>Tag-based searching</a:t>
              </a:r>
            </a:p>
            <a:p>
              <a:pPr marL="285750" indent="-285750">
                <a:buFont typeface="Wingdings" charset="2"/>
                <a:buChar char="Ø"/>
              </a:pPr>
              <a:r>
                <a:rPr lang="en-US" sz="1000" dirty="0">
                  <a:solidFill>
                    <a:schemeClr val="tx1"/>
                  </a:solidFill>
                </a:rPr>
                <a:t>Dataset snapshot dates</a:t>
              </a:r>
            </a:p>
            <a:p>
              <a:pPr marL="285750" indent="-285750">
                <a:buFont typeface="Wingdings" charset="2"/>
                <a:buChar char="Ø"/>
              </a:pPr>
              <a:r>
                <a:rPr lang="en-US" sz="1000" dirty="0">
                  <a:solidFill>
                    <a:schemeClr val="tx1"/>
                  </a:solidFill>
                </a:rPr>
                <a:t>Automatic local caching</a:t>
              </a:r>
            </a:p>
          </p:txBody>
        </p:sp>
        <p:cxnSp>
          <p:nvCxnSpPr>
            <p:cNvPr id="43" name="Straight Arrow Connector 42">
              <a:extLst>
                <a:ext uri="{FF2B5EF4-FFF2-40B4-BE49-F238E27FC236}">
                  <a16:creationId xmlns:a16="http://schemas.microsoft.com/office/drawing/2014/main" id="{AFE1605C-7826-1E83-8633-6A685947B1DA}"/>
                </a:ext>
              </a:extLst>
            </p:cNvPr>
            <p:cNvCxnSpPr/>
            <p:nvPr/>
          </p:nvCxnSpPr>
          <p:spPr>
            <a:xfrm flipV="1">
              <a:off x="6852230" y="3997568"/>
              <a:ext cx="0" cy="141980"/>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330ED2F2-2AB4-18AB-6B47-B12385127E1D}"/>
              </a:ext>
            </a:extLst>
          </p:cNvPr>
          <p:cNvGrpSpPr/>
          <p:nvPr/>
        </p:nvGrpSpPr>
        <p:grpSpPr>
          <a:xfrm>
            <a:off x="7873610" y="2308031"/>
            <a:ext cx="3295135" cy="649095"/>
            <a:chOff x="5215194" y="2373195"/>
            <a:chExt cx="3295135" cy="649095"/>
          </a:xfrm>
        </p:grpSpPr>
        <p:sp>
          <p:nvSpPr>
            <p:cNvPr id="45" name="Hexagon 44">
              <a:extLst>
                <a:ext uri="{FF2B5EF4-FFF2-40B4-BE49-F238E27FC236}">
                  <a16:creationId xmlns:a16="http://schemas.microsoft.com/office/drawing/2014/main" id="{66DE5E45-A3CD-753B-78CE-AEC29404B850}"/>
                </a:ext>
              </a:extLst>
            </p:cNvPr>
            <p:cNvSpPr/>
            <p:nvPr/>
          </p:nvSpPr>
          <p:spPr>
            <a:xfrm>
              <a:off x="5215194" y="2373195"/>
              <a:ext cx="3295135" cy="507115"/>
            </a:xfrm>
            <a:prstGeom prst="hexagon">
              <a:avLst/>
            </a:prstGeom>
            <a:solidFill>
              <a:schemeClr val="accent1">
                <a:lumMod val="20000"/>
                <a:lumOff val="80000"/>
              </a:schemeClr>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Convenience download functions</a:t>
              </a:r>
            </a:p>
            <a:p>
              <a:pPr algn="ctr"/>
              <a:r>
                <a:rPr lang="en-US" sz="1000" dirty="0">
                  <a:solidFill>
                    <a:schemeClr val="tx1"/>
                  </a:solidFill>
                </a:rPr>
                <a:t>Megabytes-sized datasets</a:t>
              </a:r>
            </a:p>
          </p:txBody>
        </p:sp>
        <p:cxnSp>
          <p:nvCxnSpPr>
            <p:cNvPr id="46" name="Straight Arrow Connector 45">
              <a:extLst>
                <a:ext uri="{FF2B5EF4-FFF2-40B4-BE49-F238E27FC236}">
                  <a16:creationId xmlns:a16="http://schemas.microsoft.com/office/drawing/2014/main" id="{109C94F4-9B39-9885-A914-DF030A470BE1}"/>
                </a:ext>
              </a:extLst>
            </p:cNvPr>
            <p:cNvCxnSpPr/>
            <p:nvPr/>
          </p:nvCxnSpPr>
          <p:spPr>
            <a:xfrm flipV="1">
              <a:off x="6852230" y="2880310"/>
              <a:ext cx="0" cy="141980"/>
            </a:xfrm>
            <a:prstGeom prst="straightConnector1">
              <a:avLst/>
            </a:prstGeom>
            <a:ln w="19050" cmpd="sng">
              <a:solidFill>
                <a:schemeClr val="tx1"/>
              </a:solidFill>
              <a:tailEnd type="arrow" w="sm" len="sm"/>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C23B6758-EF2A-D4C2-FC7D-F204A8C72838}"/>
              </a:ext>
            </a:extLst>
          </p:cNvPr>
          <p:cNvGrpSpPr/>
          <p:nvPr/>
        </p:nvGrpSpPr>
        <p:grpSpPr>
          <a:xfrm>
            <a:off x="7769696" y="1472037"/>
            <a:ext cx="3052092" cy="861774"/>
            <a:chOff x="5111280" y="1537201"/>
            <a:chExt cx="3052092" cy="861774"/>
          </a:xfrm>
        </p:grpSpPr>
        <p:pic>
          <p:nvPicPr>
            <p:cNvPr id="48" name="Picture 47">
              <a:extLst>
                <a:ext uri="{FF2B5EF4-FFF2-40B4-BE49-F238E27FC236}">
                  <a16:creationId xmlns:a16="http://schemas.microsoft.com/office/drawing/2014/main" id="{81B448E4-B582-8ACD-0B78-397EA2AD5070}"/>
                </a:ext>
              </a:extLst>
            </p:cNvPr>
            <p:cNvPicPr>
              <a:picLocks noChangeAspect="1"/>
            </p:cNvPicPr>
            <p:nvPr/>
          </p:nvPicPr>
          <p:blipFill>
            <a:blip r:embed="rId3"/>
            <a:stretch>
              <a:fillRect/>
            </a:stretch>
          </p:blipFill>
          <p:spPr>
            <a:xfrm>
              <a:off x="5111280" y="1537201"/>
              <a:ext cx="865575" cy="670821"/>
            </a:xfrm>
            <a:prstGeom prst="rect">
              <a:avLst/>
            </a:prstGeom>
          </p:spPr>
        </p:pic>
        <p:pic>
          <p:nvPicPr>
            <p:cNvPr id="49" name="Picture 48">
              <a:extLst>
                <a:ext uri="{FF2B5EF4-FFF2-40B4-BE49-F238E27FC236}">
                  <a16:creationId xmlns:a16="http://schemas.microsoft.com/office/drawing/2014/main" id="{8E0EA644-5AA1-50DF-1BAB-2D0D81C1BBC3}"/>
                </a:ext>
              </a:extLst>
            </p:cNvPr>
            <p:cNvPicPr>
              <a:picLocks noChangeAspect="1"/>
            </p:cNvPicPr>
            <p:nvPr/>
          </p:nvPicPr>
          <p:blipFill>
            <a:blip r:embed="rId4"/>
            <a:stretch>
              <a:fillRect/>
            </a:stretch>
          </p:blipFill>
          <p:spPr>
            <a:xfrm>
              <a:off x="7529558" y="1581814"/>
              <a:ext cx="633814" cy="626208"/>
            </a:xfrm>
            <a:prstGeom prst="rect">
              <a:avLst/>
            </a:prstGeom>
          </p:spPr>
        </p:pic>
        <p:sp>
          <p:nvSpPr>
            <p:cNvPr id="50" name="TextBox 49">
              <a:extLst>
                <a:ext uri="{FF2B5EF4-FFF2-40B4-BE49-F238E27FC236}">
                  <a16:creationId xmlns:a16="http://schemas.microsoft.com/office/drawing/2014/main" id="{3C0FDE3F-60EE-DF06-6CE4-8EC36F23884D}"/>
                </a:ext>
              </a:extLst>
            </p:cNvPr>
            <p:cNvSpPr txBox="1"/>
            <p:nvPr/>
          </p:nvSpPr>
          <p:spPr>
            <a:xfrm>
              <a:off x="6072925" y="1537201"/>
              <a:ext cx="1531188" cy="861774"/>
            </a:xfrm>
            <a:prstGeom prst="rect">
              <a:avLst/>
            </a:prstGeom>
            <a:noFill/>
          </p:spPr>
          <p:txBody>
            <a:bodyPr wrap="none" rtlCol="0">
              <a:spAutoFit/>
            </a:bodyPr>
            <a:lstStyle/>
            <a:p>
              <a:pPr marL="171450" indent="-171450">
                <a:buFont typeface="Wingdings" charset="2"/>
                <a:buChar char="Ø"/>
              </a:pPr>
              <a:r>
                <a:rPr lang="en-US" sz="1000" dirty="0"/>
                <a:t>Differential abundance</a:t>
              </a:r>
            </a:p>
            <a:p>
              <a:pPr marL="171450" indent="-171450">
                <a:buFont typeface="Wingdings" charset="2"/>
                <a:buChar char="Ø"/>
              </a:pPr>
              <a:r>
                <a:rPr lang="en-US" sz="1000" dirty="0"/>
                <a:t>Diversity metrics</a:t>
              </a:r>
            </a:p>
            <a:p>
              <a:pPr marL="171450" indent="-171450">
                <a:buFont typeface="Wingdings" charset="2"/>
                <a:buChar char="Ø"/>
              </a:pPr>
              <a:r>
                <a:rPr lang="en-US" sz="1000" dirty="0"/>
                <a:t>Clustering</a:t>
              </a:r>
            </a:p>
            <a:p>
              <a:pPr marL="171450" indent="-171450">
                <a:buFont typeface="Wingdings" charset="2"/>
                <a:buChar char="Ø"/>
              </a:pPr>
              <a:r>
                <a:rPr lang="en-US" sz="1000" dirty="0"/>
                <a:t>Machine learning</a:t>
              </a:r>
            </a:p>
            <a:p>
              <a:endParaRPr lang="en-US" sz="1000" dirty="0"/>
            </a:p>
          </p:txBody>
        </p:sp>
      </p:grpSp>
      <p:sp>
        <p:nvSpPr>
          <p:cNvPr id="51" name="TextBox 50">
            <a:extLst>
              <a:ext uri="{FF2B5EF4-FFF2-40B4-BE49-F238E27FC236}">
                <a16:creationId xmlns:a16="http://schemas.microsoft.com/office/drawing/2014/main" id="{2A17B6AE-B16B-3E06-169F-B84D61364ACA}"/>
              </a:ext>
            </a:extLst>
          </p:cNvPr>
          <p:cNvSpPr txBox="1"/>
          <p:nvPr/>
        </p:nvSpPr>
        <p:spPr>
          <a:xfrm>
            <a:off x="57667" y="6477661"/>
            <a:ext cx="10972800" cy="307777"/>
          </a:xfrm>
          <a:prstGeom prst="rect">
            <a:avLst/>
          </a:prstGeom>
          <a:noFill/>
        </p:spPr>
        <p:txBody>
          <a:bodyPr wrap="square" rtlCol="0">
            <a:spAutoFit/>
          </a:bodyPr>
          <a:lstStyle/>
          <a:p>
            <a:r>
              <a:rPr lang="en-US" sz="1400" dirty="0" err="1"/>
              <a:t>Pasolli</a:t>
            </a:r>
            <a:r>
              <a:rPr lang="en-US" sz="1400" dirty="0"/>
              <a:t> E and Schiffer L </a:t>
            </a:r>
            <a:r>
              <a:rPr lang="en-US" sz="1400" i="1" dirty="0"/>
              <a:t>et al.</a:t>
            </a:r>
            <a:r>
              <a:rPr lang="en-US" sz="1400" dirty="0"/>
              <a:t>: </a:t>
            </a:r>
            <a:r>
              <a:rPr lang="en-US" sz="1400" b="1" dirty="0"/>
              <a:t>Accessible, curated metagenomic data through ExperimentHub</a:t>
            </a:r>
            <a:r>
              <a:rPr lang="en-US" sz="1400" dirty="0"/>
              <a:t>. </a:t>
            </a:r>
            <a:r>
              <a:rPr lang="en-US" sz="1400" i="1" dirty="0"/>
              <a:t>Nat. Methods</a:t>
            </a:r>
            <a:r>
              <a:rPr lang="en-US" sz="1400" dirty="0"/>
              <a:t> 2017, </a:t>
            </a:r>
            <a:r>
              <a:rPr lang="en-US" sz="1400" b="1" dirty="0"/>
              <a:t>14</a:t>
            </a:r>
            <a:r>
              <a:rPr lang="en-US" sz="1400" dirty="0"/>
              <a:t>:1023–1024.</a:t>
            </a:r>
          </a:p>
        </p:txBody>
      </p:sp>
    </p:spTree>
    <p:extLst>
      <p:ext uri="{BB962C8B-B14F-4D97-AF65-F5344CB8AC3E}">
        <p14:creationId xmlns:p14="http://schemas.microsoft.com/office/powerpoint/2010/main" val="3288982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48B94B-897A-12C0-BD53-89846E771181}"/>
              </a:ext>
            </a:extLst>
          </p:cNvPr>
          <p:cNvSpPr>
            <a:spLocks noGrp="1"/>
          </p:cNvSpPr>
          <p:nvPr>
            <p:ph type="sldNum" sz="quarter" idx="12"/>
          </p:nvPr>
        </p:nvSpPr>
        <p:spPr/>
        <p:txBody>
          <a:bodyPr/>
          <a:lstStyle/>
          <a:p>
            <a:fld id="{C71C242F-20BE-4F6C-ABA6-9DCC8641EF60}" type="slidenum">
              <a:rPr lang="en-US" smtClean="0"/>
              <a:pPr/>
              <a:t>4</a:t>
            </a:fld>
            <a:endParaRPr lang="en-US"/>
          </a:p>
        </p:txBody>
      </p:sp>
      <p:pic>
        <p:nvPicPr>
          <p:cNvPr id="11" name="Picture 10">
            <a:extLst>
              <a:ext uri="{FF2B5EF4-FFF2-40B4-BE49-F238E27FC236}">
                <a16:creationId xmlns:a16="http://schemas.microsoft.com/office/drawing/2014/main" id="{2AFAED72-9482-5651-3C8E-AF817E0C786E}"/>
              </a:ext>
            </a:extLst>
          </p:cNvPr>
          <p:cNvPicPr>
            <a:picLocks noChangeAspect="1"/>
          </p:cNvPicPr>
          <p:nvPr/>
        </p:nvPicPr>
        <p:blipFill>
          <a:blip r:embed="rId2"/>
          <a:stretch>
            <a:fillRect/>
          </a:stretch>
        </p:blipFill>
        <p:spPr>
          <a:xfrm>
            <a:off x="522513" y="0"/>
            <a:ext cx="8887494" cy="6858000"/>
          </a:xfrm>
          <a:prstGeom prst="rect">
            <a:avLst/>
          </a:prstGeom>
        </p:spPr>
      </p:pic>
      <p:sp>
        <p:nvSpPr>
          <p:cNvPr id="2" name="Title 1">
            <a:extLst>
              <a:ext uri="{FF2B5EF4-FFF2-40B4-BE49-F238E27FC236}">
                <a16:creationId xmlns:a16="http://schemas.microsoft.com/office/drawing/2014/main" id="{CF6465D2-93F0-ADB0-13DD-F7C9776B9813}"/>
              </a:ext>
            </a:extLst>
          </p:cNvPr>
          <p:cNvSpPr>
            <a:spLocks noGrp="1"/>
          </p:cNvSpPr>
          <p:nvPr>
            <p:ph type="title"/>
          </p:nvPr>
        </p:nvSpPr>
        <p:spPr>
          <a:xfrm>
            <a:off x="9459686" y="0"/>
            <a:ext cx="2732314" cy="1143000"/>
          </a:xfrm>
        </p:spPr>
        <p:txBody>
          <a:bodyPr>
            <a:normAutofit/>
          </a:bodyPr>
          <a:lstStyle/>
          <a:p>
            <a:r>
              <a:rPr lang="en-US" dirty="0"/>
              <a:t>metadata</a:t>
            </a:r>
          </a:p>
        </p:txBody>
      </p:sp>
    </p:spTree>
    <p:extLst>
      <p:ext uri="{BB962C8B-B14F-4D97-AF65-F5344CB8AC3E}">
        <p14:creationId xmlns:p14="http://schemas.microsoft.com/office/powerpoint/2010/main" val="2093705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B2803-3163-9600-AB90-CCEAF503B2F0}"/>
              </a:ext>
            </a:extLst>
          </p:cNvPr>
          <p:cNvSpPr>
            <a:spLocks noGrp="1"/>
          </p:cNvSpPr>
          <p:nvPr>
            <p:ph type="title"/>
          </p:nvPr>
        </p:nvSpPr>
        <p:spPr/>
        <p:txBody>
          <a:bodyPr>
            <a:normAutofit fontScale="90000"/>
          </a:bodyPr>
          <a:lstStyle/>
          <a:p>
            <a:r>
              <a:rPr lang="en-US" dirty="0" err="1"/>
              <a:t>BugSigDB.org</a:t>
            </a:r>
            <a:r>
              <a:rPr lang="en-US" dirty="0"/>
              <a:t>: A Comprehensive Database of Published Microbial Signatures</a:t>
            </a:r>
          </a:p>
        </p:txBody>
      </p:sp>
      <p:sp>
        <p:nvSpPr>
          <p:cNvPr id="3" name="Content Placeholder 2">
            <a:extLst>
              <a:ext uri="{FF2B5EF4-FFF2-40B4-BE49-F238E27FC236}">
                <a16:creationId xmlns:a16="http://schemas.microsoft.com/office/drawing/2014/main" id="{088CC6B8-2738-0796-AB04-31D8F023FDE9}"/>
              </a:ext>
            </a:extLst>
          </p:cNvPr>
          <p:cNvSpPr>
            <a:spLocks noGrp="1"/>
          </p:cNvSpPr>
          <p:nvPr>
            <p:ph idx="1"/>
          </p:nvPr>
        </p:nvSpPr>
        <p:spPr/>
        <p:txBody>
          <a:bodyPr>
            <a:normAutofit/>
          </a:bodyPr>
          <a:lstStyle/>
          <a:p>
            <a:pPr>
              <a:lnSpc>
                <a:spcPct val="90000"/>
              </a:lnSpc>
            </a:pPr>
            <a:r>
              <a:rPr lang="en-US" sz="2400" dirty="0">
                <a:latin typeface="Calibri" panose="020F0502020204030204" pitchFamily="34" charset="0"/>
                <a:cs typeface="Calibri" panose="020F0502020204030204" pitchFamily="34" charset="0"/>
              </a:rPr>
              <a:t>Standardizes key information from microbiome studies including:</a:t>
            </a:r>
          </a:p>
          <a:p>
            <a:pPr lvl="1">
              <a:lnSpc>
                <a:spcPct val="90000"/>
              </a:lnSpc>
            </a:pPr>
            <a:r>
              <a:rPr lang="en-US" sz="2000" dirty="0">
                <a:latin typeface="Calibri" panose="020F0502020204030204" pitchFamily="34" charset="0"/>
                <a:cs typeface="Calibri" panose="020F0502020204030204" pitchFamily="34" charset="0"/>
              </a:rPr>
              <a:t>Health condition of interest</a:t>
            </a:r>
          </a:p>
          <a:p>
            <a:pPr lvl="1">
              <a:lnSpc>
                <a:spcPct val="90000"/>
              </a:lnSpc>
            </a:pPr>
            <a:r>
              <a:rPr lang="en-US" sz="2000" dirty="0">
                <a:latin typeface="Calibri" panose="020F0502020204030204" pitchFamily="34" charset="0"/>
                <a:cs typeface="Calibri" panose="020F0502020204030204" pitchFamily="34" charset="0"/>
              </a:rPr>
              <a:t>Study design</a:t>
            </a:r>
          </a:p>
          <a:p>
            <a:pPr lvl="1">
              <a:lnSpc>
                <a:spcPct val="90000"/>
              </a:lnSpc>
            </a:pPr>
            <a:r>
              <a:rPr lang="en-US" sz="2000" dirty="0">
                <a:latin typeface="Calibri" panose="020F0502020204030204" pitchFamily="34" charset="0"/>
                <a:cs typeface="Calibri" panose="020F0502020204030204" pitchFamily="34" charset="0"/>
              </a:rPr>
              <a:t>Experimental and statistical methods</a:t>
            </a:r>
          </a:p>
          <a:p>
            <a:pPr lvl="1">
              <a:lnSpc>
                <a:spcPct val="90000"/>
              </a:lnSpc>
            </a:pPr>
            <a:r>
              <a:rPr lang="en-US" sz="2000" dirty="0">
                <a:latin typeface="Calibri" panose="020F0502020204030204" pitchFamily="34" charset="0"/>
                <a:cs typeface="Calibri" panose="020F0502020204030204" pitchFamily="34" charset="0"/>
              </a:rPr>
              <a:t>Diversity measures</a:t>
            </a:r>
          </a:p>
          <a:p>
            <a:pPr lvl="1">
              <a:lnSpc>
                <a:spcPct val="90000"/>
              </a:lnSpc>
            </a:pPr>
            <a:r>
              <a:rPr lang="en-US" sz="2000" dirty="0">
                <a:latin typeface="Calibri" panose="020F0502020204030204" pitchFamily="34" charset="0"/>
                <a:cs typeface="Calibri" panose="020F0502020204030204" pitchFamily="34" charset="0"/>
              </a:rPr>
              <a:t>Differentially abundant taxa</a:t>
            </a:r>
          </a:p>
        </p:txBody>
      </p:sp>
      <p:sp>
        <p:nvSpPr>
          <p:cNvPr id="4" name="Slide Number Placeholder 3">
            <a:extLst>
              <a:ext uri="{FF2B5EF4-FFF2-40B4-BE49-F238E27FC236}">
                <a16:creationId xmlns:a16="http://schemas.microsoft.com/office/drawing/2014/main" id="{497026A5-F6B3-3958-A37E-0D958FD2ACD1}"/>
              </a:ext>
            </a:extLst>
          </p:cNvPr>
          <p:cNvSpPr>
            <a:spLocks noGrp="1"/>
          </p:cNvSpPr>
          <p:nvPr>
            <p:ph type="sldNum" sz="quarter" idx="12"/>
          </p:nvPr>
        </p:nvSpPr>
        <p:spPr/>
        <p:txBody>
          <a:bodyPr/>
          <a:lstStyle/>
          <a:p>
            <a:fld id="{C71C242F-20BE-4F6C-ABA6-9DCC8641EF60}" type="slidenum">
              <a:rPr lang="en-US" smtClean="0"/>
              <a:pPr/>
              <a:t>5</a:t>
            </a:fld>
            <a:endParaRPr lang="en-US"/>
          </a:p>
        </p:txBody>
      </p:sp>
      <p:sp>
        <p:nvSpPr>
          <p:cNvPr id="5" name="TextBox 4">
            <a:extLst>
              <a:ext uri="{FF2B5EF4-FFF2-40B4-BE49-F238E27FC236}">
                <a16:creationId xmlns:a16="http://schemas.microsoft.com/office/drawing/2014/main" id="{B2F5E18C-6F04-FE5D-BC71-E69790C68991}"/>
              </a:ext>
            </a:extLst>
          </p:cNvPr>
          <p:cNvSpPr txBox="1"/>
          <p:nvPr/>
        </p:nvSpPr>
        <p:spPr>
          <a:xfrm>
            <a:off x="952500" y="4611468"/>
            <a:ext cx="10286999" cy="646331"/>
          </a:xfrm>
          <a:prstGeom prst="rect">
            <a:avLst/>
          </a:prstGeom>
          <a:noFill/>
        </p:spPr>
        <p:txBody>
          <a:bodyPr wrap="square" rtlCol="0">
            <a:spAutoFit/>
          </a:bodyPr>
          <a:lstStyle/>
          <a:p>
            <a:r>
              <a:rPr lang="en-US" sz="1800" dirty="0" err="1"/>
              <a:t>Geistlinger</a:t>
            </a:r>
            <a:r>
              <a:rPr lang="en-US" sz="1800" dirty="0"/>
              <a:t>, L. </a:t>
            </a:r>
            <a:r>
              <a:rPr lang="en-US" sz="1800" i="1" dirty="0"/>
              <a:t>et al.</a:t>
            </a:r>
            <a:r>
              <a:rPr lang="en-US" sz="1800" dirty="0"/>
              <a:t> BugSigDB captures patterns of differential abundance across a broad range of host-associated microbial signatures. </a:t>
            </a:r>
            <a:r>
              <a:rPr lang="en-US" sz="1800" i="1" dirty="0"/>
              <a:t>Nat. </a:t>
            </a:r>
            <a:r>
              <a:rPr lang="en-US" sz="1800" i="1" dirty="0" err="1"/>
              <a:t>Biotechnol</a:t>
            </a:r>
            <a:r>
              <a:rPr lang="en-US" sz="1800" i="1" dirty="0"/>
              <a:t>.</a:t>
            </a:r>
            <a:r>
              <a:rPr lang="en-US" sz="1800" dirty="0"/>
              <a:t> (2023) doi:10.1038/s41587-023-01872-y</a:t>
            </a:r>
          </a:p>
        </p:txBody>
      </p:sp>
    </p:spTree>
    <p:extLst>
      <p:ext uri="{BB962C8B-B14F-4D97-AF65-F5344CB8AC3E}">
        <p14:creationId xmlns:p14="http://schemas.microsoft.com/office/powerpoint/2010/main" val="2113411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19112-9DCA-20C2-CFFC-497EACE9B5AA}"/>
              </a:ext>
            </a:extLst>
          </p:cNvPr>
          <p:cNvSpPr>
            <a:spLocks noGrp="1"/>
          </p:cNvSpPr>
          <p:nvPr>
            <p:ph type="title"/>
          </p:nvPr>
        </p:nvSpPr>
        <p:spPr/>
        <p:txBody>
          <a:bodyPr/>
          <a:lstStyle/>
          <a:p>
            <a:r>
              <a:rPr lang="en-US" dirty="0" err="1"/>
              <a:t>BugSigDB.org</a:t>
            </a:r>
            <a:endParaRPr lang="en-US" dirty="0"/>
          </a:p>
        </p:txBody>
      </p:sp>
      <p:sp>
        <p:nvSpPr>
          <p:cNvPr id="4" name="Slide Number Placeholder 3">
            <a:extLst>
              <a:ext uri="{FF2B5EF4-FFF2-40B4-BE49-F238E27FC236}">
                <a16:creationId xmlns:a16="http://schemas.microsoft.com/office/drawing/2014/main" id="{196030C7-B0D3-16CA-8B6D-03A734B75259}"/>
              </a:ext>
            </a:extLst>
          </p:cNvPr>
          <p:cNvSpPr>
            <a:spLocks noGrp="1"/>
          </p:cNvSpPr>
          <p:nvPr>
            <p:ph type="sldNum" sz="quarter" idx="12"/>
          </p:nvPr>
        </p:nvSpPr>
        <p:spPr/>
        <p:txBody>
          <a:bodyPr/>
          <a:lstStyle/>
          <a:p>
            <a:fld id="{C71C242F-20BE-4F6C-ABA6-9DCC8641EF60}" type="slidenum">
              <a:rPr lang="en-US" smtClean="0"/>
              <a:pPr/>
              <a:t>6</a:t>
            </a:fld>
            <a:endParaRPr lang="en-US"/>
          </a:p>
        </p:txBody>
      </p:sp>
      <p:pic>
        <p:nvPicPr>
          <p:cNvPr id="5" name="Picture 4">
            <a:extLst>
              <a:ext uri="{FF2B5EF4-FFF2-40B4-BE49-F238E27FC236}">
                <a16:creationId xmlns:a16="http://schemas.microsoft.com/office/drawing/2014/main" id="{C268FE0C-9390-CC6C-A7CB-7CC15D99347D}"/>
              </a:ext>
            </a:extLst>
          </p:cNvPr>
          <p:cNvPicPr>
            <a:picLocks noChangeAspect="1"/>
          </p:cNvPicPr>
          <p:nvPr/>
        </p:nvPicPr>
        <p:blipFill rotWithShape="1">
          <a:blip r:embed="rId3"/>
          <a:srcRect l="2037" t="2920" r="51938" b="4339"/>
          <a:stretch/>
        </p:blipFill>
        <p:spPr>
          <a:xfrm>
            <a:off x="3287487" y="1567542"/>
            <a:ext cx="5192486" cy="3722915"/>
          </a:xfrm>
          <a:prstGeom prst="rect">
            <a:avLst/>
          </a:prstGeom>
        </p:spPr>
      </p:pic>
      <p:sp>
        <p:nvSpPr>
          <p:cNvPr id="6" name="TextBox 5">
            <a:extLst>
              <a:ext uri="{FF2B5EF4-FFF2-40B4-BE49-F238E27FC236}">
                <a16:creationId xmlns:a16="http://schemas.microsoft.com/office/drawing/2014/main" id="{55676430-D7A3-8EA4-DB9A-9C932BBB90ED}"/>
              </a:ext>
            </a:extLst>
          </p:cNvPr>
          <p:cNvSpPr txBox="1"/>
          <p:nvPr/>
        </p:nvSpPr>
        <p:spPr>
          <a:xfrm>
            <a:off x="2606252" y="5758543"/>
            <a:ext cx="7003071" cy="461665"/>
          </a:xfrm>
          <a:prstGeom prst="rect">
            <a:avLst/>
          </a:prstGeom>
          <a:noFill/>
        </p:spPr>
        <p:txBody>
          <a:bodyPr wrap="none" rtlCol="0">
            <a:spAutoFit/>
          </a:bodyPr>
          <a:lstStyle/>
          <a:p>
            <a:r>
              <a:rPr lang="en-US" dirty="0">
                <a:hlinkClick r:id="rId4"/>
              </a:rPr>
              <a:t>~60 Parkinson’s Disease</a:t>
            </a:r>
            <a:r>
              <a:rPr lang="en-US" dirty="0"/>
              <a:t> studies in </a:t>
            </a:r>
            <a:r>
              <a:rPr lang="en-US" dirty="0" err="1"/>
              <a:t>BugSigDB.org</a:t>
            </a:r>
            <a:endParaRPr lang="en-US" dirty="0"/>
          </a:p>
        </p:txBody>
      </p:sp>
      <p:pic>
        <p:nvPicPr>
          <p:cNvPr id="7" name="Picture 6">
            <a:extLst>
              <a:ext uri="{FF2B5EF4-FFF2-40B4-BE49-F238E27FC236}">
                <a16:creationId xmlns:a16="http://schemas.microsoft.com/office/drawing/2014/main" id="{C4A6C506-09FC-8F7C-2C48-9F0040C6520B}"/>
              </a:ext>
            </a:extLst>
          </p:cNvPr>
          <p:cNvPicPr>
            <a:picLocks noChangeAspect="1"/>
          </p:cNvPicPr>
          <p:nvPr/>
        </p:nvPicPr>
        <p:blipFill>
          <a:blip r:embed="rId5"/>
          <a:stretch>
            <a:fillRect/>
          </a:stretch>
        </p:blipFill>
        <p:spPr>
          <a:xfrm>
            <a:off x="1995317" y="1281379"/>
            <a:ext cx="7772400" cy="4205702"/>
          </a:xfrm>
          <a:prstGeom prst="rect">
            <a:avLst/>
          </a:prstGeom>
        </p:spPr>
      </p:pic>
      <p:pic>
        <p:nvPicPr>
          <p:cNvPr id="8" name="Picture 7">
            <a:extLst>
              <a:ext uri="{FF2B5EF4-FFF2-40B4-BE49-F238E27FC236}">
                <a16:creationId xmlns:a16="http://schemas.microsoft.com/office/drawing/2014/main" id="{089F6831-3033-B1B7-AA37-05D32CAC3717}"/>
              </a:ext>
            </a:extLst>
          </p:cNvPr>
          <p:cNvPicPr>
            <a:picLocks noChangeAspect="1"/>
          </p:cNvPicPr>
          <p:nvPr/>
        </p:nvPicPr>
        <p:blipFill>
          <a:blip r:embed="rId6"/>
          <a:stretch>
            <a:fillRect/>
          </a:stretch>
        </p:blipFill>
        <p:spPr>
          <a:xfrm>
            <a:off x="1836923" y="515399"/>
            <a:ext cx="7772400" cy="5873922"/>
          </a:xfrm>
          <a:prstGeom prst="rect">
            <a:avLst/>
          </a:prstGeom>
        </p:spPr>
      </p:pic>
      <p:pic>
        <p:nvPicPr>
          <p:cNvPr id="9" name="Picture 8">
            <a:extLst>
              <a:ext uri="{FF2B5EF4-FFF2-40B4-BE49-F238E27FC236}">
                <a16:creationId xmlns:a16="http://schemas.microsoft.com/office/drawing/2014/main" id="{E3BBEE85-D056-76C2-BF88-818D74A80A55}"/>
              </a:ext>
            </a:extLst>
          </p:cNvPr>
          <p:cNvPicPr>
            <a:picLocks noChangeAspect="1"/>
          </p:cNvPicPr>
          <p:nvPr/>
        </p:nvPicPr>
        <p:blipFill>
          <a:blip r:embed="rId7"/>
          <a:stretch>
            <a:fillRect/>
          </a:stretch>
        </p:blipFill>
        <p:spPr>
          <a:xfrm>
            <a:off x="1678529" y="1422932"/>
            <a:ext cx="7772400" cy="3922595"/>
          </a:xfrm>
          <a:prstGeom prst="rect">
            <a:avLst/>
          </a:prstGeom>
        </p:spPr>
      </p:pic>
      <p:sp>
        <p:nvSpPr>
          <p:cNvPr id="3" name="TextBox 2">
            <a:extLst>
              <a:ext uri="{FF2B5EF4-FFF2-40B4-BE49-F238E27FC236}">
                <a16:creationId xmlns:a16="http://schemas.microsoft.com/office/drawing/2014/main" id="{03AB3C70-4994-C2DA-D476-7CA41E99CD8C}"/>
              </a:ext>
            </a:extLst>
          </p:cNvPr>
          <p:cNvSpPr txBox="1"/>
          <p:nvPr/>
        </p:nvSpPr>
        <p:spPr>
          <a:xfrm>
            <a:off x="2582677" y="6294220"/>
            <a:ext cx="3591048" cy="461665"/>
          </a:xfrm>
          <a:prstGeom prst="rect">
            <a:avLst/>
          </a:prstGeom>
          <a:noFill/>
        </p:spPr>
        <p:txBody>
          <a:bodyPr wrap="none" rtlCol="0">
            <a:spAutoFit/>
          </a:bodyPr>
          <a:lstStyle/>
          <a:p>
            <a:r>
              <a:rPr lang="en-US" dirty="0"/>
              <a:t>https://</a:t>
            </a:r>
            <a:r>
              <a:rPr lang="en-US" dirty="0" err="1"/>
              <a:t>bit.ly</a:t>
            </a:r>
            <a:r>
              <a:rPr lang="en-US" dirty="0"/>
              <a:t>/</a:t>
            </a:r>
            <a:r>
              <a:rPr lang="en-US" dirty="0" err="1"/>
              <a:t>bugsigdb_pd</a:t>
            </a:r>
            <a:endParaRPr lang="en-US" dirty="0"/>
          </a:p>
        </p:txBody>
      </p:sp>
      <p:pic>
        <p:nvPicPr>
          <p:cNvPr id="14" name="Picture 13" descr="A qr code on a white background&#10;&#10;Description automatically generated">
            <a:extLst>
              <a:ext uri="{FF2B5EF4-FFF2-40B4-BE49-F238E27FC236}">
                <a16:creationId xmlns:a16="http://schemas.microsoft.com/office/drawing/2014/main" id="{A36E8639-62DE-A85B-D869-B355A8B919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5345527"/>
            <a:ext cx="1512473" cy="1512473"/>
          </a:xfrm>
          <a:prstGeom prst="rect">
            <a:avLst/>
          </a:prstGeom>
        </p:spPr>
      </p:pic>
    </p:spTree>
    <p:extLst>
      <p:ext uri="{BB962C8B-B14F-4D97-AF65-F5344CB8AC3E}">
        <p14:creationId xmlns:p14="http://schemas.microsoft.com/office/powerpoint/2010/main" val="127955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xit" presetSubtype="0" fill="hold" nodeType="clickEffect">
                                  <p:stCondLst>
                                    <p:cond delay="0"/>
                                  </p:stCondLst>
                                  <p:childTnLst>
                                    <p:animEffect transition="out" filter="dissolve">
                                      <p:cBhvr>
                                        <p:cTn id="18" dur="10"/>
                                        <p:tgtEl>
                                          <p:spTgt spid="8"/>
                                        </p:tgtEl>
                                      </p:cBhvr>
                                    </p:animEffect>
                                    <p:set>
                                      <p:cBhvr>
                                        <p:cTn id="19" dur="1" fill="hold">
                                          <p:stCondLst>
                                            <p:cond delay="9"/>
                                          </p:stCondLst>
                                        </p:cTn>
                                        <p:tgtEl>
                                          <p:spTgt spid="8"/>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406885-3885-2CE5-838F-5B82F9FFB7DB}"/>
              </a:ext>
            </a:extLst>
          </p:cNvPr>
          <p:cNvSpPr>
            <a:spLocks noGrp="1"/>
          </p:cNvSpPr>
          <p:nvPr>
            <p:ph type="title"/>
          </p:nvPr>
        </p:nvSpPr>
        <p:spPr>
          <a:xfrm>
            <a:off x="148999" y="5390800"/>
            <a:ext cx="9353550" cy="843190"/>
          </a:xfrm>
        </p:spPr>
        <p:txBody>
          <a:bodyPr>
            <a:normAutofit fontScale="90000"/>
          </a:bodyPr>
          <a:lstStyle/>
          <a:p>
            <a:r>
              <a:rPr lang="en-US" sz="4200" dirty="0"/>
              <a:t>Reproducibility of microbiome research topics</a:t>
            </a:r>
            <a:endParaRPr lang="en-US" sz="2700" dirty="0"/>
          </a:p>
        </p:txBody>
      </p:sp>
      <p:pic>
        <p:nvPicPr>
          <p:cNvPr id="5" name="Picture 4" descr="A picture containing diagram, line, plan, parallel&#10;&#10;Description automatically generated">
            <a:extLst>
              <a:ext uri="{FF2B5EF4-FFF2-40B4-BE49-F238E27FC236}">
                <a16:creationId xmlns:a16="http://schemas.microsoft.com/office/drawing/2014/main" id="{8418FA2A-0798-B19E-91BC-3912A0FABD54}"/>
              </a:ext>
            </a:extLst>
          </p:cNvPr>
          <p:cNvPicPr>
            <a:picLocks noChangeAspect="1"/>
          </p:cNvPicPr>
          <p:nvPr/>
        </p:nvPicPr>
        <p:blipFill rotWithShape="1">
          <a:blip r:embed="rId3">
            <a:extLst>
              <a:ext uri="{28A0092B-C50C-407E-A947-70E740481C1C}">
                <a14:useLocalDpi xmlns:a14="http://schemas.microsoft.com/office/drawing/2010/main" val="0"/>
              </a:ext>
            </a:extLst>
          </a:blip>
          <a:srcRect l="34286" t="44597"/>
          <a:stretch/>
        </p:blipFill>
        <p:spPr>
          <a:xfrm>
            <a:off x="722087" y="12441"/>
            <a:ext cx="9967684" cy="5378359"/>
          </a:xfrm>
          <a:prstGeom prst="rect">
            <a:avLst/>
          </a:prstGeom>
        </p:spPr>
      </p:pic>
      <p:sp>
        <p:nvSpPr>
          <p:cNvPr id="2" name="Slide Number Placeholder 1">
            <a:extLst>
              <a:ext uri="{FF2B5EF4-FFF2-40B4-BE49-F238E27FC236}">
                <a16:creationId xmlns:a16="http://schemas.microsoft.com/office/drawing/2014/main" id="{5DC26D10-604B-0A09-3E58-EA4EB33DAFA6}"/>
              </a:ext>
            </a:extLst>
          </p:cNvPr>
          <p:cNvSpPr>
            <a:spLocks noGrp="1"/>
          </p:cNvSpPr>
          <p:nvPr>
            <p:ph type="sldNum" sz="quarter" idx="12"/>
          </p:nvPr>
        </p:nvSpPr>
        <p:spPr>
          <a:xfrm>
            <a:off x="9982200" y="6356351"/>
            <a:ext cx="2057400" cy="365125"/>
          </a:xfrm>
        </p:spPr>
        <p:txBody>
          <a:bodyPr>
            <a:normAutofit/>
          </a:bodyPr>
          <a:lstStyle/>
          <a:p>
            <a:pPr>
              <a:spcAft>
                <a:spcPts val="600"/>
              </a:spcAft>
            </a:pPr>
            <a:fld id="{1A0AFAAF-5E43-4A48-94B3-8EA7C9944121}" type="slidenum">
              <a:rPr lang="en-US" smtClean="0"/>
              <a:pPr>
                <a:spcAft>
                  <a:spcPts val="600"/>
                </a:spcAft>
              </a:pPr>
              <a:t>7</a:t>
            </a:fld>
            <a:endParaRPr lang="en-US"/>
          </a:p>
        </p:txBody>
      </p:sp>
      <p:sp>
        <p:nvSpPr>
          <p:cNvPr id="4" name="TextBox 3">
            <a:extLst>
              <a:ext uri="{FF2B5EF4-FFF2-40B4-BE49-F238E27FC236}">
                <a16:creationId xmlns:a16="http://schemas.microsoft.com/office/drawing/2014/main" id="{A1AF03FA-0A6F-115D-2380-4BA78EC78597}"/>
              </a:ext>
            </a:extLst>
          </p:cNvPr>
          <p:cNvSpPr txBox="1"/>
          <p:nvPr/>
        </p:nvSpPr>
        <p:spPr>
          <a:xfrm>
            <a:off x="239486" y="80054"/>
            <a:ext cx="2908168" cy="830997"/>
          </a:xfrm>
          <a:prstGeom prst="rect">
            <a:avLst/>
          </a:prstGeom>
          <a:noFill/>
        </p:spPr>
        <p:txBody>
          <a:bodyPr wrap="none" rtlCol="0">
            <a:spAutoFit/>
          </a:bodyPr>
          <a:lstStyle/>
          <a:p>
            <a:r>
              <a:rPr lang="en-US" sz="2400" dirty="0"/>
              <a:t>antibiotics exposure</a:t>
            </a:r>
            <a:br>
              <a:rPr lang="en-US" sz="2400" dirty="0"/>
            </a:br>
            <a:r>
              <a:rPr lang="en-US" sz="2400" dirty="0"/>
              <a:t>HIV infection</a:t>
            </a:r>
            <a:endParaRPr lang="en-US" dirty="0"/>
          </a:p>
        </p:txBody>
      </p:sp>
      <p:sp>
        <p:nvSpPr>
          <p:cNvPr id="6" name="TextBox 5">
            <a:extLst>
              <a:ext uri="{FF2B5EF4-FFF2-40B4-BE49-F238E27FC236}">
                <a16:creationId xmlns:a16="http://schemas.microsoft.com/office/drawing/2014/main" id="{0349E3FE-F17D-BA4A-B3D0-292CF02ECD9C}"/>
              </a:ext>
            </a:extLst>
          </p:cNvPr>
          <p:cNvSpPr txBox="1"/>
          <p:nvPr/>
        </p:nvSpPr>
        <p:spPr>
          <a:xfrm>
            <a:off x="239486" y="6199228"/>
            <a:ext cx="10286999" cy="646331"/>
          </a:xfrm>
          <a:prstGeom prst="rect">
            <a:avLst/>
          </a:prstGeom>
          <a:noFill/>
        </p:spPr>
        <p:txBody>
          <a:bodyPr wrap="square" rtlCol="0">
            <a:spAutoFit/>
          </a:bodyPr>
          <a:lstStyle/>
          <a:p>
            <a:r>
              <a:rPr lang="en-US" sz="1800" dirty="0" err="1"/>
              <a:t>Geistlinger</a:t>
            </a:r>
            <a:r>
              <a:rPr lang="en-US" sz="1800" dirty="0"/>
              <a:t>, L. </a:t>
            </a:r>
            <a:r>
              <a:rPr lang="en-US" sz="1800" i="1" dirty="0"/>
              <a:t>et al.</a:t>
            </a:r>
            <a:r>
              <a:rPr lang="en-US" sz="1800" dirty="0"/>
              <a:t> BugSigDB captures patterns of differential abundance across a broad range of host-associated microbial signatures. </a:t>
            </a:r>
            <a:r>
              <a:rPr lang="en-US" sz="1800" i="1" dirty="0"/>
              <a:t>Nat. </a:t>
            </a:r>
            <a:r>
              <a:rPr lang="en-US" sz="1800" i="1" dirty="0" err="1"/>
              <a:t>Biotechnol</a:t>
            </a:r>
            <a:r>
              <a:rPr lang="en-US" sz="1800" i="1" dirty="0"/>
              <a:t>.</a:t>
            </a:r>
            <a:r>
              <a:rPr lang="en-US" sz="1800" dirty="0"/>
              <a:t> (2023) doi:10.1038/s41587-023-01872-y</a:t>
            </a:r>
          </a:p>
        </p:txBody>
      </p:sp>
    </p:spTree>
    <p:extLst>
      <p:ext uri="{BB962C8B-B14F-4D97-AF65-F5344CB8AC3E}">
        <p14:creationId xmlns:p14="http://schemas.microsoft.com/office/powerpoint/2010/main" val="1212481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2933A-51D0-A45F-7A3B-729A382515E4}"/>
              </a:ext>
            </a:extLst>
          </p:cNvPr>
          <p:cNvSpPr>
            <a:spLocks noGrp="1"/>
          </p:cNvSpPr>
          <p:nvPr>
            <p:ph type="title"/>
          </p:nvPr>
        </p:nvSpPr>
        <p:spPr>
          <a:xfrm>
            <a:off x="2152650" y="291090"/>
            <a:ext cx="7886699" cy="547110"/>
          </a:xfrm>
        </p:spPr>
        <p:txBody>
          <a:bodyPr vert="horz" lIns="91440" tIns="45720" rIns="91440" bIns="45720" rtlCol="0" anchor="b">
            <a:normAutofit/>
          </a:bodyPr>
          <a:lstStyle/>
          <a:p>
            <a:pPr algn="l">
              <a:lnSpc>
                <a:spcPct val="90000"/>
              </a:lnSpc>
            </a:pPr>
            <a:r>
              <a:rPr lang="en-US" sz="2900" dirty="0"/>
              <a:t>Similar signatures of different health outcomes</a:t>
            </a:r>
          </a:p>
        </p:txBody>
      </p:sp>
      <p:pic>
        <p:nvPicPr>
          <p:cNvPr id="3" name="Picture 2">
            <a:extLst>
              <a:ext uri="{FF2B5EF4-FFF2-40B4-BE49-F238E27FC236}">
                <a16:creationId xmlns:a16="http://schemas.microsoft.com/office/drawing/2014/main" id="{11DAEEB7-5243-B880-189E-342FC3CB00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57" t="-479" r="1043" b="50268"/>
          <a:stretch/>
        </p:blipFill>
        <p:spPr bwMode="auto">
          <a:xfrm>
            <a:off x="1604074" y="1133429"/>
            <a:ext cx="8983850" cy="56160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69333D5-3B13-9D6C-370A-77607A85AD9F}"/>
              </a:ext>
            </a:extLst>
          </p:cNvPr>
          <p:cNvSpPr txBox="1"/>
          <p:nvPr/>
        </p:nvSpPr>
        <p:spPr>
          <a:xfrm>
            <a:off x="4235670" y="13085379"/>
            <a:ext cx="184731" cy="461665"/>
          </a:xfrm>
          <a:prstGeom prst="rect">
            <a:avLst/>
          </a:prstGeom>
          <a:noFill/>
        </p:spPr>
        <p:txBody>
          <a:bodyPr wrap="none" rtlCol="0">
            <a:spAutoFit/>
          </a:bodyPr>
          <a:lstStyle/>
          <a:p>
            <a:endParaRPr lang="en-US" dirty="0"/>
          </a:p>
        </p:txBody>
      </p:sp>
      <p:sp>
        <p:nvSpPr>
          <p:cNvPr id="6" name="Slide Number Placeholder 3">
            <a:extLst>
              <a:ext uri="{FF2B5EF4-FFF2-40B4-BE49-F238E27FC236}">
                <a16:creationId xmlns:a16="http://schemas.microsoft.com/office/drawing/2014/main" id="{426C7C41-4409-2AE8-CFBD-54A2494E499F}"/>
              </a:ext>
            </a:extLst>
          </p:cNvPr>
          <p:cNvSpPr txBox="1">
            <a:spLocks/>
          </p:cNvSpPr>
          <p:nvPr/>
        </p:nvSpPr>
        <p:spPr>
          <a:xfrm>
            <a:off x="10039349" y="6384347"/>
            <a:ext cx="2057400" cy="365125"/>
          </a:xfrm>
          <a:prstGeom prst="rect">
            <a:avLst/>
          </a:prstGeom>
        </p:spPr>
        <p:txBody>
          <a:bodyPr vert="horz" lIns="91440" tIns="45720" rIns="91440" bIns="45720" rtlCol="0" anchor="ctr">
            <a:normAutofit/>
          </a:bodyPr>
          <a:lstStyle>
            <a:defPPr>
              <a:defRPr lang="en-US"/>
            </a:defPPr>
            <a:lvl1pPr algn="r" rtl="0" eaLnBrk="0" fontAlgn="base" hangingPunct="0">
              <a:spcBef>
                <a:spcPct val="0"/>
              </a:spcBef>
              <a:spcAft>
                <a:spcPct val="0"/>
              </a:spcAft>
              <a:defRPr sz="1200" kern="1200">
                <a:solidFill>
                  <a:schemeClr val="tx1">
                    <a:tint val="75000"/>
                  </a:schemeClr>
                </a:solidFill>
                <a:latin typeface="Arial" charset="0"/>
                <a:ea typeface="ＭＳ Ｐゴシック" pitchFamily="1"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 charset="-128"/>
                <a:cs typeface="+mn-cs"/>
              </a:defRPr>
            </a:lvl5pPr>
            <a:lvl6pPr marL="2286000" algn="l" defTabSz="914400" rtl="0" eaLnBrk="1" latinLnBrk="0" hangingPunct="1">
              <a:defRPr sz="2400" kern="1200">
                <a:solidFill>
                  <a:schemeClr val="tx1"/>
                </a:solidFill>
                <a:latin typeface="Arial" charset="0"/>
                <a:ea typeface="ＭＳ Ｐゴシック" pitchFamily="1" charset="-128"/>
                <a:cs typeface="+mn-cs"/>
              </a:defRPr>
            </a:lvl6pPr>
            <a:lvl7pPr marL="2743200" algn="l" defTabSz="914400" rtl="0" eaLnBrk="1" latinLnBrk="0" hangingPunct="1">
              <a:defRPr sz="2400" kern="1200">
                <a:solidFill>
                  <a:schemeClr val="tx1"/>
                </a:solidFill>
                <a:latin typeface="Arial" charset="0"/>
                <a:ea typeface="ＭＳ Ｐゴシック" pitchFamily="1" charset="-128"/>
                <a:cs typeface="+mn-cs"/>
              </a:defRPr>
            </a:lvl7pPr>
            <a:lvl8pPr marL="3200400" algn="l" defTabSz="914400" rtl="0" eaLnBrk="1" latinLnBrk="0" hangingPunct="1">
              <a:defRPr sz="2400" kern="1200">
                <a:solidFill>
                  <a:schemeClr val="tx1"/>
                </a:solidFill>
                <a:latin typeface="Arial" charset="0"/>
                <a:ea typeface="ＭＳ Ｐゴシック" pitchFamily="1" charset="-128"/>
                <a:cs typeface="+mn-cs"/>
              </a:defRPr>
            </a:lvl8pPr>
            <a:lvl9pPr marL="3657600" algn="l" defTabSz="914400" rtl="0" eaLnBrk="1" latinLnBrk="0" hangingPunct="1">
              <a:defRPr sz="2400" kern="1200">
                <a:solidFill>
                  <a:schemeClr val="tx1"/>
                </a:solidFill>
                <a:latin typeface="Arial" charset="0"/>
                <a:ea typeface="ＭＳ Ｐゴシック" pitchFamily="1" charset="-128"/>
                <a:cs typeface="+mn-cs"/>
              </a:defRPr>
            </a:lvl9pPr>
          </a:lstStyle>
          <a:p>
            <a:pPr eaLnBrk="1" hangingPunct="1">
              <a:spcAft>
                <a:spcPts val="600"/>
              </a:spcAft>
            </a:pPr>
            <a:fld id="{C71C242F-20BE-4F6C-ABA6-9DCC8641EF60}" type="slidenum">
              <a:rPr lang="en-US" smtClean="0">
                <a:latin typeface="+mn-lt"/>
                <a:ea typeface="+mn-ea"/>
              </a:rPr>
              <a:pPr eaLnBrk="1" hangingPunct="1">
                <a:spcAft>
                  <a:spcPts val="600"/>
                </a:spcAft>
              </a:pPr>
              <a:t>8</a:t>
            </a:fld>
            <a:endParaRPr lang="en-US" dirty="0">
              <a:latin typeface="+mn-lt"/>
              <a:ea typeface="+mn-ea"/>
            </a:endParaRPr>
          </a:p>
        </p:txBody>
      </p:sp>
    </p:spTree>
    <p:extLst>
      <p:ext uri="{BB962C8B-B14F-4D97-AF65-F5344CB8AC3E}">
        <p14:creationId xmlns:p14="http://schemas.microsoft.com/office/powerpoint/2010/main" val="4031296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02" name="Picture 10">
            <a:extLst>
              <a:ext uri="{FF2B5EF4-FFF2-40B4-BE49-F238E27FC236}">
                <a16:creationId xmlns:a16="http://schemas.microsoft.com/office/drawing/2014/main" id="{8716F064-C7E7-1846-8859-1309BB5AE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6995" y="596106"/>
            <a:ext cx="2843213" cy="2006600"/>
          </a:xfrm>
          <a:prstGeom prst="rect">
            <a:avLst/>
          </a:prstGeom>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C705CA32-51BC-1843-B519-1BF7F81EB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3980" y="527843"/>
            <a:ext cx="3631961" cy="3693320"/>
          </a:xfrm>
          <a:prstGeom prst="rect">
            <a:avLst/>
          </a:prstGeom>
          <a:extLst>
            <a:ext uri="{909E8E84-426E-40DD-AFC4-6F175D3DCCD1}">
              <a14:hiddenFill xmlns:a14="http://schemas.microsoft.com/office/drawing/2010/main">
                <a:solidFill>
                  <a:srgbClr val="FFFFFF"/>
                </a:solidFill>
              </a14:hiddenFill>
            </a:ext>
          </a:extLst>
        </p:spPr>
      </p:pic>
      <p:pic>
        <p:nvPicPr>
          <p:cNvPr id="8204" name="Picture 12">
            <a:extLst>
              <a:ext uri="{FF2B5EF4-FFF2-40B4-BE49-F238E27FC236}">
                <a16:creationId xmlns:a16="http://schemas.microsoft.com/office/drawing/2014/main" id="{96B7F842-C5EA-354C-9999-AB398CCF5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2994" y="4255294"/>
            <a:ext cx="4499837" cy="2254250"/>
          </a:xfrm>
          <a:prstGeom prst="rect">
            <a:avLst/>
          </a:prstGeom>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3C422CCC-0AF5-A048-86AD-3771148051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942" y="2602706"/>
            <a:ext cx="3407268" cy="4089401"/>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89918DC-E84E-434A-830E-F303077D4422}"/>
              </a:ext>
            </a:extLst>
          </p:cNvPr>
          <p:cNvSpPr>
            <a:spLocks noGrp="1"/>
          </p:cNvSpPr>
          <p:nvPr>
            <p:ph type="title"/>
          </p:nvPr>
        </p:nvSpPr>
        <p:spPr>
          <a:xfrm>
            <a:off x="261147" y="120482"/>
            <a:ext cx="6243635" cy="2821324"/>
          </a:xfrm>
        </p:spPr>
        <p:txBody>
          <a:bodyPr>
            <a:normAutofit/>
          </a:bodyPr>
          <a:lstStyle/>
          <a:p>
            <a:pPr algn="l"/>
            <a:r>
              <a:rPr lang="en-US" sz="3200" dirty="0"/>
              <a:t>Difficult to:</a:t>
            </a:r>
            <a:br>
              <a:rPr lang="en-US" sz="3200" dirty="0"/>
            </a:br>
            <a:r>
              <a:rPr lang="en-US" sz="3200" dirty="0"/>
              <a:t>   - compare results of two studies</a:t>
            </a:r>
            <a:br>
              <a:rPr lang="en-US" sz="3200" dirty="0"/>
            </a:br>
            <a:r>
              <a:rPr lang="en-US" sz="3200" dirty="0"/>
              <a:t>   - compare or replicate methods</a:t>
            </a:r>
          </a:p>
        </p:txBody>
      </p:sp>
      <p:sp>
        <p:nvSpPr>
          <p:cNvPr id="4" name="Slide Number Placeholder 3">
            <a:extLst>
              <a:ext uri="{FF2B5EF4-FFF2-40B4-BE49-F238E27FC236}">
                <a16:creationId xmlns:a16="http://schemas.microsoft.com/office/drawing/2014/main" id="{9BBDE846-CF08-A644-8145-B47523CA1C9C}"/>
              </a:ext>
            </a:extLst>
          </p:cNvPr>
          <p:cNvSpPr>
            <a:spLocks noGrp="1"/>
          </p:cNvSpPr>
          <p:nvPr>
            <p:ph type="sldNum" sz="quarter" idx="12"/>
          </p:nvPr>
        </p:nvSpPr>
        <p:spPr>
          <a:xfrm>
            <a:off x="10991065" y="6326982"/>
            <a:ext cx="470685" cy="365125"/>
          </a:xfrm>
        </p:spPr>
        <p:txBody>
          <a:bodyPr>
            <a:normAutofit/>
          </a:bodyPr>
          <a:lstStyle/>
          <a:p>
            <a:pPr>
              <a:spcAft>
                <a:spcPts val="600"/>
              </a:spcAft>
            </a:pPr>
            <a:fld id="{C71C242F-20BE-4F6C-ABA6-9DCC8641EF60}" type="slidenum">
              <a:rPr lang="en-US" sz="1000">
                <a:solidFill>
                  <a:prstClr val="black">
                    <a:tint val="75000"/>
                  </a:prstClr>
                </a:solidFill>
              </a:rPr>
              <a:pPr>
                <a:spcAft>
                  <a:spcPts val="600"/>
                </a:spcAft>
              </a:pPr>
              <a:t>9</a:t>
            </a:fld>
            <a:endParaRPr lang="en-US" sz="1000">
              <a:solidFill>
                <a:prstClr val="black">
                  <a:tint val="75000"/>
                </a:prstClr>
              </a:solidFill>
            </a:endParaRPr>
          </a:p>
        </p:txBody>
      </p:sp>
      <p:pic>
        <p:nvPicPr>
          <p:cNvPr id="8198" name="Picture 6">
            <a:extLst>
              <a:ext uri="{FF2B5EF4-FFF2-40B4-BE49-F238E27FC236}">
                <a16:creationId xmlns:a16="http://schemas.microsoft.com/office/drawing/2014/main" id="{D8D0E0E4-28C0-7E47-890C-1FE57B7829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7472" y="3971757"/>
            <a:ext cx="4750594" cy="2821324"/>
          </a:xfrm>
          <a:prstGeom prst="rect">
            <a:avLst/>
          </a:prstGeom>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23BD58D5-76FF-4D4B-ACD3-66357515AB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7337" y="2345928"/>
            <a:ext cx="1855787" cy="2022905"/>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60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3C3CD-71FA-4AEC-A422-5E92FF403785}"/>
              </a:ext>
            </a:extLst>
          </p:cNvPr>
          <p:cNvSpPr>
            <a:spLocks noGrp="1"/>
          </p:cNvSpPr>
          <p:nvPr>
            <p:ph type="title"/>
          </p:nvPr>
        </p:nvSpPr>
        <p:spPr/>
        <p:txBody>
          <a:bodyPr/>
          <a:lstStyle/>
          <a:p>
            <a:pPr algn="ctr"/>
            <a:r>
              <a:rPr lang="en-US" dirty="0"/>
              <a:t>STORMS checklist objectives</a:t>
            </a:r>
          </a:p>
        </p:txBody>
      </p:sp>
      <p:pic>
        <p:nvPicPr>
          <p:cNvPr id="5" name="Picture 4" descr="A picture containing drawing&#10;&#10;Description automatically generated">
            <a:extLst>
              <a:ext uri="{FF2B5EF4-FFF2-40B4-BE49-F238E27FC236}">
                <a16:creationId xmlns:a16="http://schemas.microsoft.com/office/drawing/2014/main" id="{A27DEA62-ED21-430B-AF59-66437154D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5716" y="2375431"/>
            <a:ext cx="1592277" cy="171450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82BA294-1AE7-4426-B07C-07317B4B8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7742" y="2357922"/>
            <a:ext cx="1714500" cy="1714500"/>
          </a:xfrm>
          <a:prstGeom prst="rect">
            <a:avLst/>
          </a:prstGeom>
        </p:spPr>
      </p:pic>
      <p:pic>
        <p:nvPicPr>
          <p:cNvPr id="9" name="Picture 8" descr="A close up of a sign&#10;&#10;Description automatically generated">
            <a:extLst>
              <a:ext uri="{FF2B5EF4-FFF2-40B4-BE49-F238E27FC236}">
                <a16:creationId xmlns:a16="http://schemas.microsoft.com/office/drawing/2014/main" id="{F12CEFBD-982D-4B9B-8B33-6EABD1C67C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7863" y="2534146"/>
            <a:ext cx="1714500" cy="1714500"/>
          </a:xfrm>
          <a:prstGeom prst="rect">
            <a:avLst/>
          </a:prstGeom>
        </p:spPr>
      </p:pic>
      <p:pic>
        <p:nvPicPr>
          <p:cNvPr id="11" name="Picture 10" descr="A picture containing wheel&#10;&#10;Description automatically generated">
            <a:extLst>
              <a:ext uri="{FF2B5EF4-FFF2-40B4-BE49-F238E27FC236}">
                <a16:creationId xmlns:a16="http://schemas.microsoft.com/office/drawing/2014/main" id="{E24DD694-5473-424D-AE8B-A759FC83A6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0003" y="2370235"/>
            <a:ext cx="1714500" cy="1714500"/>
          </a:xfrm>
          <a:prstGeom prst="rect">
            <a:avLst/>
          </a:prstGeom>
        </p:spPr>
      </p:pic>
      <p:sp>
        <p:nvSpPr>
          <p:cNvPr id="13" name="Content Placeholder 2">
            <a:extLst>
              <a:ext uri="{FF2B5EF4-FFF2-40B4-BE49-F238E27FC236}">
                <a16:creationId xmlns:a16="http://schemas.microsoft.com/office/drawing/2014/main" id="{B726D983-D8B5-4A90-9FB8-B26666BC983D}"/>
              </a:ext>
            </a:extLst>
          </p:cNvPr>
          <p:cNvSpPr txBox="1">
            <a:spLocks/>
          </p:cNvSpPr>
          <p:nvPr/>
        </p:nvSpPr>
        <p:spPr>
          <a:xfrm>
            <a:off x="1761147" y="4121107"/>
            <a:ext cx="2198836" cy="747719"/>
          </a:xfrm>
          <a:prstGeom prst="rect">
            <a:avLst/>
          </a:prstGeom>
        </p:spPr>
        <p:txBody>
          <a:bodyPr vert="horz" lIns="68580" tIns="34290" rIns="68580" bIns="3429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100" dirty="0">
                <a:latin typeface="Calibri" panose="020F0502020204030204" pitchFamily="34" charset="0"/>
                <a:cs typeface="Calibri" panose="020F0502020204030204" pitchFamily="34" charset="0"/>
              </a:rPr>
              <a:t>Intuitive and straightforward</a:t>
            </a:r>
          </a:p>
        </p:txBody>
      </p:sp>
      <p:sp>
        <p:nvSpPr>
          <p:cNvPr id="15" name="TextBox 14">
            <a:extLst>
              <a:ext uri="{FF2B5EF4-FFF2-40B4-BE49-F238E27FC236}">
                <a16:creationId xmlns:a16="http://schemas.microsoft.com/office/drawing/2014/main" id="{C2EA0CD6-D639-4207-A96C-6B5E384BBBEE}"/>
              </a:ext>
            </a:extLst>
          </p:cNvPr>
          <p:cNvSpPr txBox="1"/>
          <p:nvPr/>
        </p:nvSpPr>
        <p:spPr>
          <a:xfrm>
            <a:off x="3959983" y="4121105"/>
            <a:ext cx="2125980" cy="1708160"/>
          </a:xfrm>
          <a:prstGeom prst="rect">
            <a:avLst/>
          </a:prstGeom>
          <a:noFill/>
        </p:spPr>
        <p:txBody>
          <a:bodyPr wrap="square">
            <a:spAutoFit/>
          </a:bodyPr>
          <a:lstStyle/>
          <a:p>
            <a:pPr algn="ctr"/>
            <a:r>
              <a:rPr lang="en-US" sz="2100" dirty="0">
                <a:latin typeface="Calibri" panose="020F0502020204030204" pitchFamily="34" charset="0"/>
                <a:cs typeface="Calibri" panose="020F0502020204030204" pitchFamily="34" charset="0"/>
              </a:rPr>
              <a:t>Help authors write well-organized microbiome papers</a:t>
            </a:r>
          </a:p>
        </p:txBody>
      </p:sp>
      <p:sp>
        <p:nvSpPr>
          <p:cNvPr id="17" name="TextBox 16">
            <a:extLst>
              <a:ext uri="{FF2B5EF4-FFF2-40B4-BE49-F238E27FC236}">
                <a16:creationId xmlns:a16="http://schemas.microsoft.com/office/drawing/2014/main" id="{C4B35720-42C6-480F-AEF9-9DC7C0604117}"/>
              </a:ext>
            </a:extLst>
          </p:cNvPr>
          <p:cNvSpPr txBox="1"/>
          <p:nvPr/>
        </p:nvSpPr>
        <p:spPr>
          <a:xfrm>
            <a:off x="6161107" y="4121108"/>
            <a:ext cx="2168019" cy="1384995"/>
          </a:xfrm>
          <a:prstGeom prst="rect">
            <a:avLst/>
          </a:prstGeom>
          <a:noFill/>
        </p:spPr>
        <p:txBody>
          <a:bodyPr wrap="square">
            <a:spAutoFit/>
          </a:bodyPr>
          <a:lstStyle/>
          <a:p>
            <a:pPr algn="ctr"/>
            <a:r>
              <a:rPr lang="en-US" sz="2100" dirty="0">
                <a:latin typeface="Calibri" panose="020F0502020204030204" pitchFamily="34" charset="0"/>
                <a:cs typeface="Calibri" panose="020F0502020204030204" pitchFamily="34" charset="0"/>
              </a:rPr>
              <a:t>Easier comparison of study designs and results between papers</a:t>
            </a:r>
          </a:p>
        </p:txBody>
      </p:sp>
      <p:sp>
        <p:nvSpPr>
          <p:cNvPr id="19" name="TextBox 18">
            <a:extLst>
              <a:ext uri="{FF2B5EF4-FFF2-40B4-BE49-F238E27FC236}">
                <a16:creationId xmlns:a16="http://schemas.microsoft.com/office/drawing/2014/main" id="{074BA871-9D0F-4893-841F-1576DAE55987}"/>
              </a:ext>
            </a:extLst>
          </p:cNvPr>
          <p:cNvSpPr txBox="1"/>
          <p:nvPr/>
        </p:nvSpPr>
        <p:spPr>
          <a:xfrm>
            <a:off x="8404263" y="4121107"/>
            <a:ext cx="2125980" cy="1061829"/>
          </a:xfrm>
          <a:prstGeom prst="rect">
            <a:avLst/>
          </a:prstGeom>
          <a:noFill/>
        </p:spPr>
        <p:txBody>
          <a:bodyPr wrap="square">
            <a:spAutoFit/>
          </a:bodyPr>
          <a:lstStyle/>
          <a:p>
            <a:pPr algn="ctr"/>
            <a:r>
              <a:rPr lang="en-US" sz="2100" dirty="0">
                <a:latin typeface="Calibri" panose="020F0502020204030204" pitchFamily="34" charset="0"/>
                <a:cs typeface="Calibri" panose="020F0502020204030204" pitchFamily="34" charset="0"/>
              </a:rPr>
              <a:t>Method, database, and analysis-agnostic</a:t>
            </a:r>
          </a:p>
        </p:txBody>
      </p:sp>
      <p:sp>
        <p:nvSpPr>
          <p:cNvPr id="12" name="Content Placeholder 2">
            <a:extLst>
              <a:ext uri="{FF2B5EF4-FFF2-40B4-BE49-F238E27FC236}">
                <a16:creationId xmlns:a16="http://schemas.microsoft.com/office/drawing/2014/main" id="{D355DBEC-D3C7-1741-A566-A10AED1AC8F5}"/>
              </a:ext>
            </a:extLst>
          </p:cNvPr>
          <p:cNvSpPr txBox="1">
            <a:spLocks/>
          </p:cNvSpPr>
          <p:nvPr/>
        </p:nvSpPr>
        <p:spPr>
          <a:xfrm>
            <a:off x="2683654" y="1436288"/>
            <a:ext cx="6875393" cy="37073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lnSpc>
                <a:spcPct val="90000"/>
              </a:lnSpc>
              <a:spcAft>
                <a:spcPts val="0"/>
              </a:spcAft>
              <a:buNone/>
            </a:pPr>
            <a:r>
              <a:rPr lang="en-US" sz="1700" u="sng" dirty="0"/>
              <a:t>St</a:t>
            </a:r>
            <a:r>
              <a:rPr lang="en-US" sz="1700" dirty="0"/>
              <a:t>rengthening the </a:t>
            </a:r>
            <a:r>
              <a:rPr lang="en-US" sz="1700" u="sng" dirty="0"/>
              <a:t>O</a:t>
            </a:r>
            <a:r>
              <a:rPr lang="en-US" sz="1700" dirty="0"/>
              <a:t>rganization and </a:t>
            </a:r>
            <a:r>
              <a:rPr lang="en-US" sz="1700" u="sng" dirty="0"/>
              <a:t>R</a:t>
            </a:r>
            <a:r>
              <a:rPr lang="en-US" sz="1700" dirty="0"/>
              <a:t>eporting of </a:t>
            </a:r>
            <a:r>
              <a:rPr lang="en-US" sz="1700" u="sng" dirty="0"/>
              <a:t>M</a:t>
            </a:r>
            <a:r>
              <a:rPr lang="en-US" sz="1700" dirty="0"/>
              <a:t>icrobiome </a:t>
            </a:r>
            <a:r>
              <a:rPr lang="en-US" sz="1700" u="sng" dirty="0"/>
              <a:t>S</a:t>
            </a:r>
            <a:r>
              <a:rPr lang="en-US" sz="1700" dirty="0"/>
              <a:t>tudies</a:t>
            </a:r>
          </a:p>
        </p:txBody>
      </p:sp>
      <p:sp>
        <p:nvSpPr>
          <p:cNvPr id="14" name="Content Placeholder 2">
            <a:extLst>
              <a:ext uri="{FF2B5EF4-FFF2-40B4-BE49-F238E27FC236}">
                <a16:creationId xmlns:a16="http://schemas.microsoft.com/office/drawing/2014/main" id="{F79D376E-B6CF-934D-9AC4-1B276B39B845}"/>
              </a:ext>
            </a:extLst>
          </p:cNvPr>
          <p:cNvSpPr txBox="1">
            <a:spLocks/>
          </p:cNvSpPr>
          <p:nvPr/>
        </p:nvSpPr>
        <p:spPr>
          <a:xfrm>
            <a:off x="447142" y="5236342"/>
            <a:ext cx="3437697" cy="37073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lnSpc>
                <a:spcPct val="90000"/>
              </a:lnSpc>
              <a:spcAft>
                <a:spcPts val="0"/>
              </a:spcAft>
              <a:buNone/>
            </a:pPr>
            <a:r>
              <a:rPr lang="en-US" sz="1700" dirty="0">
                <a:hlinkClick r:id="rId6"/>
              </a:rPr>
              <a:t> www.stormsmicrobiome.org</a:t>
            </a:r>
            <a:r>
              <a:rPr lang="en-US" sz="1700" dirty="0"/>
              <a:t> </a:t>
            </a:r>
          </a:p>
        </p:txBody>
      </p:sp>
      <p:sp>
        <p:nvSpPr>
          <p:cNvPr id="3" name="TextBox 2">
            <a:extLst>
              <a:ext uri="{FF2B5EF4-FFF2-40B4-BE49-F238E27FC236}">
                <a16:creationId xmlns:a16="http://schemas.microsoft.com/office/drawing/2014/main" id="{1BBE3B65-AF90-EA13-6F1B-C489C3A76C81}"/>
              </a:ext>
            </a:extLst>
          </p:cNvPr>
          <p:cNvSpPr txBox="1"/>
          <p:nvPr/>
        </p:nvSpPr>
        <p:spPr>
          <a:xfrm>
            <a:off x="397296" y="6169376"/>
            <a:ext cx="11794704" cy="338554"/>
          </a:xfrm>
          <a:prstGeom prst="rect">
            <a:avLst/>
          </a:prstGeom>
          <a:noFill/>
        </p:spPr>
        <p:txBody>
          <a:bodyPr wrap="none" rtlCol="0">
            <a:spAutoFit/>
          </a:bodyPr>
          <a:lstStyle/>
          <a:p>
            <a:r>
              <a:rPr lang="en-US" sz="1600" dirty="0" err="1"/>
              <a:t>Mirzayi</a:t>
            </a:r>
            <a:r>
              <a:rPr lang="en-US" sz="1600" dirty="0"/>
              <a:t>, C. </a:t>
            </a:r>
            <a:r>
              <a:rPr lang="en-US" sz="1600" i="1" dirty="0"/>
              <a:t>et al.</a:t>
            </a:r>
            <a:r>
              <a:rPr lang="en-US" sz="1600" dirty="0"/>
              <a:t> Reporting guidelines for human microbiome research: the STORMS checklist. </a:t>
            </a:r>
            <a:r>
              <a:rPr lang="en-US" sz="1600" i="1" dirty="0"/>
              <a:t>Nat. Med.</a:t>
            </a:r>
            <a:r>
              <a:rPr lang="en-US" sz="1600" dirty="0"/>
              <a:t> </a:t>
            </a:r>
            <a:r>
              <a:rPr lang="en-US" sz="1600" b="1" dirty="0"/>
              <a:t>27</a:t>
            </a:r>
            <a:r>
              <a:rPr lang="en-US" sz="1600" dirty="0"/>
              <a:t>, 1885–1892 (2021)</a:t>
            </a:r>
          </a:p>
        </p:txBody>
      </p:sp>
    </p:spTree>
    <p:extLst>
      <p:ext uri="{BB962C8B-B14F-4D97-AF65-F5344CB8AC3E}">
        <p14:creationId xmlns:p14="http://schemas.microsoft.com/office/powerpoint/2010/main" val="3467418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A2F52-A806-AC41-9B7D-96E32DBDF7D6}"/>
              </a:ext>
            </a:extLst>
          </p:cNvPr>
          <p:cNvSpPr>
            <a:spLocks noGrp="1"/>
          </p:cNvSpPr>
          <p:nvPr>
            <p:ph type="title"/>
          </p:nvPr>
        </p:nvSpPr>
        <p:spPr/>
        <p:txBody>
          <a:bodyPr>
            <a:normAutofit/>
          </a:bodyPr>
          <a:lstStyle/>
          <a:p>
            <a:r>
              <a:rPr lang="en-US" dirty="0">
                <a:cs typeface="MoolBoran" panose="020F0502020204030204" pitchFamily="34" charset="0"/>
              </a:rPr>
              <a:t>STORMS development process</a:t>
            </a:r>
          </a:p>
        </p:txBody>
      </p:sp>
      <p:sp>
        <p:nvSpPr>
          <p:cNvPr id="3" name="Content Placeholder 2">
            <a:extLst>
              <a:ext uri="{FF2B5EF4-FFF2-40B4-BE49-F238E27FC236}">
                <a16:creationId xmlns:a16="http://schemas.microsoft.com/office/drawing/2014/main" id="{27A3B032-4007-4947-AE69-D832BCB1F152}"/>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Core team drafted initial checklist (Primarily Chloe </a:t>
            </a:r>
            <a:r>
              <a:rPr lang="en-US" dirty="0" err="1"/>
              <a:t>Mirzayi</a:t>
            </a:r>
            <a:r>
              <a:rPr lang="en-US" dirty="0"/>
              <a:t>, Heidi Jones, myself)</a:t>
            </a:r>
          </a:p>
          <a:p>
            <a:pPr marL="514350" indent="-514350">
              <a:buFont typeface="+mj-lt"/>
              <a:buAutoNum type="arabicPeriod"/>
            </a:pPr>
            <a:r>
              <a:rPr lang="en-US" dirty="0"/>
              <a:t>Emailed widely to the microbiome community to invite collaborators</a:t>
            </a:r>
          </a:p>
          <a:p>
            <a:pPr marL="514350" indent="-514350">
              <a:buFont typeface="+mj-lt"/>
              <a:buAutoNum type="arabicPeriod"/>
            </a:pPr>
            <a:r>
              <a:rPr lang="en-US" dirty="0"/>
              <a:t>Collected feedback via email + Google Doc </a:t>
            </a:r>
          </a:p>
          <a:p>
            <a:pPr marL="514350" indent="-514350">
              <a:buFont typeface="+mj-lt"/>
              <a:buAutoNum type="arabicPeriod"/>
            </a:pPr>
            <a:r>
              <a:rPr lang="en-US" dirty="0"/>
              <a:t>Synthesized as a “response to reviewers”</a:t>
            </a:r>
          </a:p>
          <a:p>
            <a:pPr marL="514350" indent="-514350">
              <a:buFont typeface="+mj-lt"/>
              <a:buAutoNum type="arabicPeriod"/>
            </a:pPr>
            <a:r>
              <a:rPr lang="en-US" dirty="0"/>
              <a:t>Repeat steps 2-4 until no further comments (Delphi process)</a:t>
            </a:r>
          </a:p>
          <a:p>
            <a:pPr marL="914400" lvl="1" indent="-514350"/>
            <a:r>
              <a:rPr lang="en-US" dirty="0"/>
              <a:t>~50-page single-spaced response to consortium feedback letter, included in submission to journal</a:t>
            </a:r>
          </a:p>
        </p:txBody>
      </p:sp>
      <p:sp>
        <p:nvSpPr>
          <p:cNvPr id="4" name="Slide Number Placeholder 3">
            <a:extLst>
              <a:ext uri="{FF2B5EF4-FFF2-40B4-BE49-F238E27FC236}">
                <a16:creationId xmlns:a16="http://schemas.microsoft.com/office/drawing/2014/main" id="{7DA44FE8-AC54-474C-89E5-D59F21C3FB4F}"/>
              </a:ext>
            </a:extLst>
          </p:cNvPr>
          <p:cNvSpPr>
            <a:spLocks noGrp="1"/>
          </p:cNvSpPr>
          <p:nvPr>
            <p:ph type="sldNum" sz="quarter" idx="12"/>
          </p:nvPr>
        </p:nvSpPr>
        <p:spPr/>
        <p:txBody>
          <a:bodyPr/>
          <a:lstStyle/>
          <a:p>
            <a:fld id="{C71C242F-20BE-4F6C-ABA6-9DCC8641EF60}" type="slidenum">
              <a:rPr lang="en-US" smtClean="0"/>
              <a:pPr/>
              <a:t>11</a:t>
            </a:fld>
            <a:endParaRPr lang="en-US"/>
          </a:p>
        </p:txBody>
      </p:sp>
      <p:sp>
        <p:nvSpPr>
          <p:cNvPr id="5" name="TextBox 4">
            <a:extLst>
              <a:ext uri="{FF2B5EF4-FFF2-40B4-BE49-F238E27FC236}">
                <a16:creationId xmlns:a16="http://schemas.microsoft.com/office/drawing/2014/main" id="{741D4E8A-DD70-C256-D486-EED73F26E6A0}"/>
              </a:ext>
            </a:extLst>
          </p:cNvPr>
          <p:cNvSpPr txBox="1"/>
          <p:nvPr/>
        </p:nvSpPr>
        <p:spPr>
          <a:xfrm>
            <a:off x="397296" y="6040784"/>
            <a:ext cx="11794704" cy="338554"/>
          </a:xfrm>
          <a:prstGeom prst="rect">
            <a:avLst/>
          </a:prstGeom>
          <a:noFill/>
        </p:spPr>
        <p:txBody>
          <a:bodyPr wrap="none" rtlCol="0">
            <a:spAutoFit/>
          </a:bodyPr>
          <a:lstStyle/>
          <a:p>
            <a:r>
              <a:rPr lang="en-US" sz="1600" dirty="0" err="1"/>
              <a:t>Mirzayi</a:t>
            </a:r>
            <a:r>
              <a:rPr lang="en-US" sz="1600" dirty="0"/>
              <a:t>, C. </a:t>
            </a:r>
            <a:r>
              <a:rPr lang="en-US" sz="1600" i="1" dirty="0"/>
              <a:t>et al.</a:t>
            </a:r>
            <a:r>
              <a:rPr lang="en-US" sz="1600" dirty="0"/>
              <a:t> Reporting guidelines for human microbiome research: the STORMS checklist. </a:t>
            </a:r>
            <a:r>
              <a:rPr lang="en-US" sz="1600" i="1" dirty="0"/>
              <a:t>Nat. Med.</a:t>
            </a:r>
            <a:r>
              <a:rPr lang="en-US" sz="1600" dirty="0"/>
              <a:t> </a:t>
            </a:r>
            <a:r>
              <a:rPr lang="en-US" sz="1600" b="1" dirty="0"/>
              <a:t>27</a:t>
            </a:r>
            <a:r>
              <a:rPr lang="en-US" sz="1600" dirty="0"/>
              <a:t>, 1885–1892 (2021)</a:t>
            </a:r>
          </a:p>
        </p:txBody>
      </p:sp>
    </p:spTree>
    <p:extLst>
      <p:ext uri="{BB962C8B-B14F-4D97-AF65-F5344CB8AC3E}">
        <p14:creationId xmlns:p14="http://schemas.microsoft.com/office/powerpoint/2010/main" val="193209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B756-B5D8-4B1B-9757-4698D6E851F3}"/>
              </a:ext>
            </a:extLst>
          </p:cNvPr>
          <p:cNvSpPr>
            <a:spLocks noGrp="1"/>
          </p:cNvSpPr>
          <p:nvPr>
            <p:ph type="title"/>
          </p:nvPr>
        </p:nvSpPr>
        <p:spPr>
          <a:xfrm>
            <a:off x="2010696" y="629269"/>
            <a:ext cx="2629122" cy="1622321"/>
          </a:xfrm>
        </p:spPr>
        <p:txBody>
          <a:bodyPr>
            <a:normAutofit/>
          </a:bodyPr>
          <a:lstStyle/>
          <a:p>
            <a:r>
              <a:rPr lang="en-US" sz="4100" dirty="0"/>
              <a:t>The Checklist</a:t>
            </a:r>
          </a:p>
        </p:txBody>
      </p:sp>
      <p:sp>
        <p:nvSpPr>
          <p:cNvPr id="3" name="Content Placeholder 2">
            <a:extLst>
              <a:ext uri="{FF2B5EF4-FFF2-40B4-BE49-F238E27FC236}">
                <a16:creationId xmlns:a16="http://schemas.microsoft.com/office/drawing/2014/main" id="{F291EFB4-8499-4383-8105-FEA5868C377A}"/>
              </a:ext>
            </a:extLst>
          </p:cNvPr>
          <p:cNvSpPr>
            <a:spLocks noGrp="1"/>
          </p:cNvSpPr>
          <p:nvPr>
            <p:ph idx="1"/>
          </p:nvPr>
        </p:nvSpPr>
        <p:spPr>
          <a:xfrm>
            <a:off x="2010698" y="2438403"/>
            <a:ext cx="2629120" cy="2985855"/>
          </a:xfrm>
        </p:spPr>
        <p:txBody>
          <a:bodyPr>
            <a:normAutofit/>
          </a:bodyPr>
          <a:lstStyle/>
          <a:p>
            <a:pPr>
              <a:lnSpc>
                <a:spcPct val="90000"/>
              </a:lnSpc>
            </a:pPr>
            <a:r>
              <a:rPr lang="en-US" sz="1700" dirty="0"/>
              <a:t>17 items (57 subitems)</a:t>
            </a:r>
          </a:p>
          <a:p>
            <a:pPr>
              <a:lnSpc>
                <a:spcPct val="90000"/>
              </a:lnSpc>
            </a:pPr>
            <a:r>
              <a:rPr lang="en-US" sz="1700" dirty="0"/>
              <a:t>divided into 6 sections</a:t>
            </a:r>
          </a:p>
          <a:p>
            <a:pPr marL="800100" lvl="1" indent="-342900">
              <a:lnSpc>
                <a:spcPct val="90000"/>
              </a:lnSpc>
              <a:buFont typeface="+mj-lt"/>
              <a:buAutoNum type="arabicPeriod"/>
            </a:pPr>
            <a:r>
              <a:rPr lang="en-US" sz="1700" dirty="0"/>
              <a:t>Abstract </a:t>
            </a:r>
          </a:p>
          <a:p>
            <a:pPr marL="800100" lvl="1" indent="-342900">
              <a:lnSpc>
                <a:spcPct val="90000"/>
              </a:lnSpc>
              <a:buFont typeface="+mj-lt"/>
              <a:buAutoNum type="arabicPeriod"/>
            </a:pPr>
            <a:r>
              <a:rPr lang="en-US" sz="1700"/>
              <a:t>Introduction </a:t>
            </a:r>
            <a:endParaRPr lang="en-US" sz="1700" dirty="0"/>
          </a:p>
          <a:p>
            <a:pPr marL="800100" lvl="1" indent="-342900">
              <a:lnSpc>
                <a:spcPct val="90000"/>
              </a:lnSpc>
              <a:buFont typeface="+mj-lt"/>
              <a:buAutoNum type="arabicPeriod"/>
            </a:pPr>
            <a:r>
              <a:rPr lang="en-US" sz="1700" dirty="0"/>
              <a:t>Methods</a:t>
            </a:r>
          </a:p>
          <a:p>
            <a:pPr marL="800100" lvl="1" indent="-342900">
              <a:lnSpc>
                <a:spcPct val="90000"/>
              </a:lnSpc>
              <a:buFont typeface="+mj-lt"/>
              <a:buAutoNum type="arabicPeriod"/>
            </a:pPr>
            <a:r>
              <a:rPr lang="en-US" sz="1700" dirty="0"/>
              <a:t>Results</a:t>
            </a:r>
          </a:p>
          <a:p>
            <a:pPr marL="800100" lvl="1" indent="-342900">
              <a:lnSpc>
                <a:spcPct val="90000"/>
              </a:lnSpc>
              <a:buFont typeface="+mj-lt"/>
              <a:buAutoNum type="arabicPeriod"/>
            </a:pPr>
            <a:r>
              <a:rPr lang="en-US" sz="1700" dirty="0"/>
              <a:t>Discussion</a:t>
            </a:r>
          </a:p>
          <a:p>
            <a:pPr marL="800100" lvl="1" indent="-342900">
              <a:lnSpc>
                <a:spcPct val="90000"/>
              </a:lnSpc>
              <a:buFont typeface="+mj-lt"/>
              <a:buAutoNum type="arabicPeriod"/>
            </a:pPr>
            <a:r>
              <a:rPr lang="en-US" sz="1700" dirty="0"/>
              <a:t>Other Information</a:t>
            </a:r>
          </a:p>
          <a:p>
            <a:pPr>
              <a:lnSpc>
                <a:spcPct val="90000"/>
              </a:lnSpc>
            </a:pPr>
            <a:r>
              <a:rPr lang="en-US" sz="1700" dirty="0"/>
              <a:t>Follows a paper outline</a:t>
            </a:r>
          </a:p>
          <a:p>
            <a:pPr>
              <a:lnSpc>
                <a:spcPct val="90000"/>
              </a:lnSpc>
            </a:pPr>
            <a:r>
              <a:rPr lang="en-US" sz="1700" dirty="0"/>
              <a:t>Easy to use</a:t>
            </a:r>
          </a:p>
        </p:txBody>
      </p:sp>
      <p:sp>
        <p:nvSpPr>
          <p:cNvPr id="38" name="Rectangle 37">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3292" y="0"/>
            <a:ext cx="5664708"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6767" y="557785"/>
            <a:ext cx="4938073"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7B7031C7-6F54-1B49-B60A-7336D2C39A0F}"/>
              </a:ext>
            </a:extLst>
          </p:cNvPr>
          <p:cNvGraphicFramePr>
            <a:graphicFrameLocks noGrp="1"/>
          </p:cNvGraphicFramePr>
          <p:nvPr>
            <p:extLst>
              <p:ext uri="{D42A27DB-BD31-4B8C-83A1-F6EECF244321}">
                <p14:modId xmlns:p14="http://schemas.microsoft.com/office/powerpoint/2010/main" val="4026201446"/>
              </p:ext>
            </p:extLst>
          </p:nvPr>
        </p:nvGraphicFramePr>
        <p:xfrm>
          <a:off x="5578396" y="1312983"/>
          <a:ext cx="4514500" cy="4228796"/>
        </p:xfrm>
        <a:graphic>
          <a:graphicData uri="http://schemas.openxmlformats.org/drawingml/2006/table">
            <a:tbl>
              <a:tblPr firstRow="1" bandRow="1">
                <a:noFill/>
              </a:tblPr>
              <a:tblGrid>
                <a:gridCol w="487625">
                  <a:extLst>
                    <a:ext uri="{9D8B030D-6E8A-4147-A177-3AD203B41FA5}">
                      <a16:colId xmlns:a16="http://schemas.microsoft.com/office/drawing/2014/main" val="1734179372"/>
                    </a:ext>
                  </a:extLst>
                </a:gridCol>
                <a:gridCol w="636509">
                  <a:extLst>
                    <a:ext uri="{9D8B030D-6E8A-4147-A177-3AD203B41FA5}">
                      <a16:colId xmlns:a16="http://schemas.microsoft.com/office/drawing/2014/main" val="1675325926"/>
                    </a:ext>
                  </a:extLst>
                </a:gridCol>
                <a:gridCol w="1201282">
                  <a:extLst>
                    <a:ext uri="{9D8B030D-6E8A-4147-A177-3AD203B41FA5}">
                      <a16:colId xmlns:a16="http://schemas.microsoft.com/office/drawing/2014/main" val="1634159569"/>
                    </a:ext>
                  </a:extLst>
                </a:gridCol>
                <a:gridCol w="456864">
                  <a:extLst>
                    <a:ext uri="{9D8B030D-6E8A-4147-A177-3AD203B41FA5}">
                      <a16:colId xmlns:a16="http://schemas.microsoft.com/office/drawing/2014/main" val="2732644853"/>
                    </a:ext>
                  </a:extLst>
                </a:gridCol>
                <a:gridCol w="602057">
                  <a:extLst>
                    <a:ext uri="{9D8B030D-6E8A-4147-A177-3AD203B41FA5}">
                      <a16:colId xmlns:a16="http://schemas.microsoft.com/office/drawing/2014/main" val="757746906"/>
                    </a:ext>
                  </a:extLst>
                </a:gridCol>
                <a:gridCol w="592213">
                  <a:extLst>
                    <a:ext uri="{9D8B030D-6E8A-4147-A177-3AD203B41FA5}">
                      <a16:colId xmlns:a16="http://schemas.microsoft.com/office/drawing/2014/main" val="625958660"/>
                    </a:ext>
                  </a:extLst>
                </a:gridCol>
                <a:gridCol w="537950">
                  <a:extLst>
                    <a:ext uri="{9D8B030D-6E8A-4147-A177-3AD203B41FA5}">
                      <a16:colId xmlns:a16="http://schemas.microsoft.com/office/drawing/2014/main" val="2523115830"/>
                    </a:ext>
                  </a:extLst>
                </a:gridCol>
              </a:tblGrid>
              <a:tr h="309482">
                <a:tc>
                  <a:txBody>
                    <a:bodyPr/>
                    <a:lstStyle/>
                    <a:p>
                      <a:pPr algn="ctr" rtl="0" fontAlgn="b"/>
                      <a:r>
                        <a:rPr lang="en-US" sz="600" b="1">
                          <a:solidFill>
                            <a:srgbClr val="FFFFFF"/>
                          </a:solidFill>
                          <a:effectLst/>
                          <a:latin typeface="+mn-lt"/>
                        </a:rPr>
                        <a:t>Number</a:t>
                      </a:r>
                    </a:p>
                  </a:txBody>
                  <a:tcPr marL="88592" marR="53155" marT="53155" marB="53155"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Item</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Recommendation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Source</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Additional Guidance</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Yes/No/NA</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rtl="0" fontAlgn="b"/>
                      <a:r>
                        <a:rPr lang="en-US" sz="600" b="1">
                          <a:solidFill>
                            <a:srgbClr val="FFFFFF"/>
                          </a:solidFill>
                          <a:effectLst/>
                          <a:latin typeface="+mn-lt"/>
                        </a:rPr>
                        <a:t>Comments</a:t>
                      </a:r>
                    </a:p>
                  </a:txBody>
                  <a:tcPr marL="88592" marR="53155" marT="53155" marB="53155"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1003468825"/>
                  </a:ext>
                </a:extLst>
              </a:tr>
              <a:tr h="403980">
                <a:tc>
                  <a:txBody>
                    <a:bodyPr/>
                    <a:lstStyle/>
                    <a:p>
                      <a:pPr algn="ctr" rtl="0" fontAlgn="b"/>
                      <a:r>
                        <a:rPr lang="en-US" sz="600">
                          <a:solidFill>
                            <a:schemeClr val="tx1">
                              <a:lumMod val="85000"/>
                              <a:lumOff val="15000"/>
                            </a:schemeClr>
                          </a:solidFill>
                          <a:effectLst/>
                          <a:latin typeface="+mn-lt"/>
                        </a:rPr>
                        <a:t>4.0</a:t>
                      </a:r>
                    </a:p>
                  </a:txBody>
                  <a:tcPr marL="88592" marR="53155" marT="53155" marB="5315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1">
                          <a:solidFill>
                            <a:schemeClr val="tx1">
                              <a:lumMod val="85000"/>
                              <a:lumOff val="15000"/>
                            </a:schemeClr>
                          </a:solidFill>
                          <a:effectLst/>
                          <a:latin typeface="+mn-lt"/>
                        </a:rPr>
                        <a:t>Laboratory methods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State the laboratory/center where laboratory work was done. </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600">
                          <a:solidFill>
                            <a:schemeClr val="tx1">
                              <a:lumMod val="85000"/>
                              <a:lumOff val="15000"/>
                            </a:schemeClr>
                          </a:solidFill>
                        </a:rPr>
                        <a:t>(not shown)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endParaRPr lang="en-US" sz="600">
                        <a:solidFill>
                          <a:schemeClr val="tx1">
                            <a:lumMod val="85000"/>
                            <a:lumOff val="15000"/>
                          </a:schemeClr>
                        </a:solidFill>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endParaRPr lang="en-US" sz="600">
                        <a:solidFill>
                          <a:schemeClr val="tx1">
                            <a:lumMod val="85000"/>
                            <a:lumOff val="15000"/>
                          </a:schemeClr>
                        </a:solidFill>
                      </a:endParaRPr>
                    </a:p>
                  </a:txBody>
                  <a:tcPr marL="88592" marR="53155" marT="53155" marB="5315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991624423"/>
                  </a:ext>
                </a:extLst>
              </a:tr>
              <a:tr h="403980">
                <a:tc>
                  <a:txBody>
                    <a:bodyPr/>
                    <a:lstStyle/>
                    <a:p>
                      <a:pPr algn="ctr" rtl="0" fontAlgn="b"/>
                      <a:r>
                        <a:rPr lang="en-US" sz="600">
                          <a:solidFill>
                            <a:schemeClr val="tx1">
                              <a:lumMod val="85000"/>
                              <a:lumOff val="15000"/>
                            </a:schemeClr>
                          </a:solidFill>
                          <a:effectLst/>
                          <a:latin typeface="+mn-lt"/>
                        </a:rPr>
                        <a:t>4.1</a:t>
                      </a:r>
                    </a:p>
                  </a:txBody>
                  <a:tcPr marL="88592" marR="53155" marT="53155" marB="5315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a:solidFill>
                            <a:schemeClr val="tx1">
                              <a:lumMod val="85000"/>
                              <a:lumOff val="15000"/>
                            </a:schemeClr>
                          </a:solidFill>
                          <a:effectLst/>
                          <a:latin typeface="+mn-lt"/>
                        </a:rPr>
                        <a:t>Specimen collection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State the body site sampled from and how specimens were collected.</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82392152"/>
                  </a:ext>
                </a:extLst>
              </a:tr>
              <a:tr h="403980">
                <a:tc>
                  <a:txBody>
                    <a:bodyPr/>
                    <a:lstStyle/>
                    <a:p>
                      <a:pPr algn="ctr" rtl="0" fontAlgn="b"/>
                      <a:r>
                        <a:rPr lang="en-US" sz="600">
                          <a:solidFill>
                            <a:schemeClr val="tx1">
                              <a:lumMod val="85000"/>
                              <a:lumOff val="15000"/>
                            </a:schemeClr>
                          </a:solidFill>
                          <a:effectLst/>
                          <a:latin typeface="+mn-lt"/>
                        </a:rPr>
                        <a:t>4.2</a:t>
                      </a:r>
                    </a:p>
                  </a:txBody>
                  <a:tcPr marL="88592" marR="53155" marT="53155" marB="5315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a:solidFill>
                            <a:schemeClr val="tx1">
                              <a:lumMod val="85000"/>
                              <a:lumOff val="15000"/>
                            </a:schemeClr>
                          </a:solidFill>
                          <a:effectLst/>
                          <a:latin typeface="+mn-lt"/>
                        </a:rPr>
                        <a:t>Shipping</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Describe how samples were stored and shipped to the laboratory</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928745772"/>
                  </a:ext>
                </a:extLst>
              </a:tr>
              <a:tr h="592976">
                <a:tc>
                  <a:txBody>
                    <a:bodyPr/>
                    <a:lstStyle/>
                    <a:p>
                      <a:pPr algn="ctr" rtl="0" fontAlgn="b"/>
                      <a:r>
                        <a:rPr lang="en-US" sz="600">
                          <a:solidFill>
                            <a:schemeClr val="tx1">
                              <a:lumMod val="85000"/>
                              <a:lumOff val="15000"/>
                            </a:schemeClr>
                          </a:solidFill>
                          <a:effectLst/>
                          <a:latin typeface="+mn-lt"/>
                        </a:rPr>
                        <a:t>4.3</a:t>
                      </a:r>
                    </a:p>
                  </a:txBody>
                  <a:tcPr marL="88592" marR="53155" marT="53155" marB="5315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a:solidFill>
                            <a:schemeClr val="tx1">
                              <a:lumMod val="85000"/>
                              <a:lumOff val="15000"/>
                            </a:schemeClr>
                          </a:solidFill>
                          <a:effectLst/>
                          <a:latin typeface="+mn-lt"/>
                        </a:rPr>
                        <a:t>Storage</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Describe how the laboratory stored samples, including time between collection and storage and any preservation buffers or refridgeration used.</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110774254"/>
                  </a:ext>
                </a:extLst>
              </a:tr>
              <a:tr h="403980">
                <a:tc>
                  <a:txBody>
                    <a:bodyPr/>
                    <a:lstStyle/>
                    <a:p>
                      <a:pPr algn="ctr" rtl="0" fontAlgn="b"/>
                      <a:r>
                        <a:rPr lang="en-US" sz="600">
                          <a:solidFill>
                            <a:schemeClr val="tx1">
                              <a:lumMod val="85000"/>
                              <a:lumOff val="15000"/>
                            </a:schemeClr>
                          </a:solidFill>
                          <a:effectLst/>
                          <a:latin typeface="+mn-lt"/>
                        </a:rPr>
                        <a:t>4.4</a:t>
                      </a:r>
                    </a:p>
                  </a:txBody>
                  <a:tcPr marL="88592" marR="53155" marT="53155" marB="5315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a:solidFill>
                            <a:schemeClr val="tx1">
                              <a:lumMod val="85000"/>
                              <a:lumOff val="15000"/>
                            </a:schemeClr>
                          </a:solidFill>
                          <a:effectLst/>
                          <a:latin typeface="+mn-lt"/>
                        </a:rPr>
                        <a:t>DNA extraction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Provide DNA extraction method, including kit and version if relevant</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481034175"/>
                  </a:ext>
                </a:extLst>
              </a:tr>
              <a:tr h="309482">
                <a:tc>
                  <a:txBody>
                    <a:bodyPr/>
                    <a:lstStyle/>
                    <a:p>
                      <a:pPr algn="ctr" rtl="0" fontAlgn="b"/>
                      <a:r>
                        <a:rPr lang="en-US" sz="600">
                          <a:solidFill>
                            <a:schemeClr val="tx1">
                              <a:lumMod val="85000"/>
                              <a:lumOff val="15000"/>
                            </a:schemeClr>
                          </a:solidFill>
                          <a:effectLst/>
                          <a:latin typeface="+mn-lt"/>
                        </a:rPr>
                        <a:t>4.5</a:t>
                      </a:r>
                    </a:p>
                  </a:txBody>
                  <a:tcPr marL="88592" marR="53155" marT="53155" marB="5315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a:solidFill>
                            <a:schemeClr val="tx1">
                              <a:lumMod val="85000"/>
                              <a:lumOff val="15000"/>
                            </a:schemeClr>
                          </a:solidFill>
                          <a:effectLst/>
                          <a:latin typeface="+mn-lt"/>
                        </a:rPr>
                        <a:t>Human DNA removal</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Describe whether human DNA removal was performed</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402418758"/>
                  </a:ext>
                </a:extLst>
              </a:tr>
              <a:tr h="498478">
                <a:tc>
                  <a:txBody>
                    <a:bodyPr/>
                    <a:lstStyle/>
                    <a:p>
                      <a:pPr algn="ctr" rtl="0" fontAlgn="b"/>
                      <a:r>
                        <a:rPr lang="en-US" sz="600">
                          <a:solidFill>
                            <a:schemeClr val="tx1">
                              <a:lumMod val="85000"/>
                              <a:lumOff val="15000"/>
                            </a:schemeClr>
                          </a:solidFill>
                          <a:effectLst/>
                          <a:latin typeface="+mn-lt"/>
                        </a:rPr>
                        <a:t>4.6</a:t>
                      </a:r>
                    </a:p>
                  </a:txBody>
                  <a:tcPr marL="88592" marR="53155" marT="53155" marB="5315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a:solidFill>
                            <a:schemeClr val="tx1">
                              <a:lumMod val="85000"/>
                              <a:lumOff val="15000"/>
                            </a:schemeClr>
                          </a:solidFill>
                          <a:effectLst/>
                          <a:latin typeface="+mn-lt"/>
                        </a:rPr>
                        <a:t>Primer selection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Provide primer selection and DNA amplification methods as well as variable region sequenced (if applicable).</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973022942"/>
                  </a:ext>
                </a:extLst>
              </a:tr>
              <a:tr h="403980">
                <a:tc>
                  <a:txBody>
                    <a:bodyPr/>
                    <a:lstStyle/>
                    <a:p>
                      <a:pPr algn="ctr" rtl="0" fontAlgn="b"/>
                      <a:r>
                        <a:rPr lang="en-US" sz="600">
                          <a:solidFill>
                            <a:schemeClr val="tx1">
                              <a:lumMod val="85000"/>
                              <a:lumOff val="15000"/>
                            </a:schemeClr>
                          </a:solidFill>
                          <a:effectLst/>
                          <a:latin typeface="+mn-lt"/>
                        </a:rPr>
                        <a:t>4.7</a:t>
                      </a:r>
                    </a:p>
                  </a:txBody>
                  <a:tcPr marL="88592" marR="53155" marT="53155" marB="53155"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a:solidFill>
                            <a:schemeClr val="tx1">
                              <a:lumMod val="85000"/>
                              <a:lumOff val="15000"/>
                            </a:schemeClr>
                          </a:solidFill>
                          <a:effectLst/>
                          <a:latin typeface="+mn-lt"/>
                        </a:rPr>
                        <a:t>Contaminant analysis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Provide any methods used to control for or identify microbiome contamination.</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1128443220"/>
                  </a:ext>
                </a:extLst>
              </a:tr>
              <a:tr h="498478">
                <a:tc>
                  <a:txBody>
                    <a:bodyPr/>
                    <a:lstStyle/>
                    <a:p>
                      <a:pPr algn="ctr" rtl="0" fontAlgn="t"/>
                      <a:r>
                        <a:rPr lang="en-US" sz="600" b="0">
                          <a:solidFill>
                            <a:schemeClr val="tx1">
                              <a:lumMod val="85000"/>
                              <a:lumOff val="15000"/>
                            </a:schemeClr>
                          </a:solidFill>
                          <a:effectLst/>
                          <a:latin typeface="+mn-lt"/>
                        </a:rPr>
                        <a:t>4.8</a:t>
                      </a:r>
                    </a:p>
                  </a:txBody>
                  <a:tcPr marL="88592" marR="53155" marT="53155" marB="53155"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t"/>
                      <a:r>
                        <a:rPr lang="en-US" sz="600" b="0">
                          <a:solidFill>
                            <a:schemeClr val="tx1">
                              <a:lumMod val="85000"/>
                              <a:lumOff val="15000"/>
                            </a:schemeClr>
                          </a:solidFill>
                          <a:effectLst/>
                          <a:latin typeface="+mn-lt"/>
                        </a:rPr>
                        <a:t>Controls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Describe any positive and negative controls, including their source and which steps were performed on them. </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b"/>
                      <a:r>
                        <a:rPr lang="en-US" sz="600" b="0">
                          <a:solidFill>
                            <a:schemeClr val="tx1">
                              <a:lumMod val="85000"/>
                              <a:lumOff val="15000"/>
                            </a:schemeClr>
                          </a:solidFill>
                          <a:effectLst/>
                          <a:latin typeface="+mn-lt"/>
                        </a:rPr>
                        <a:t>STORMS</a:t>
                      </a: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rtl="0" fontAlgn="b"/>
                      <a:endParaRPr lang="en-US" sz="600" b="0">
                        <a:solidFill>
                          <a:schemeClr val="tx1">
                            <a:lumMod val="85000"/>
                            <a:lumOff val="15000"/>
                          </a:schemeClr>
                        </a:solidFill>
                        <a:effectLst/>
                        <a:latin typeface="+mn-lt"/>
                      </a:endParaRPr>
                    </a:p>
                  </a:txBody>
                  <a:tcPr marL="88592" marR="53155" marT="53155" marB="53155"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4278365327"/>
                  </a:ext>
                </a:extLst>
              </a:tr>
            </a:tbl>
          </a:graphicData>
        </a:graphic>
      </p:graphicFrame>
      <p:pic>
        <p:nvPicPr>
          <p:cNvPr id="16" name="Picture 15">
            <a:hlinkClick r:id="rId2"/>
            <a:extLst>
              <a:ext uri="{FF2B5EF4-FFF2-40B4-BE49-F238E27FC236}">
                <a16:creationId xmlns:a16="http://schemas.microsoft.com/office/drawing/2014/main" id="{69D9373F-4046-8F4C-8E66-658613F2DCE5}"/>
              </a:ext>
            </a:extLst>
          </p:cNvPr>
          <p:cNvPicPr>
            <a:picLocks noChangeAspect="1"/>
          </p:cNvPicPr>
          <p:nvPr/>
        </p:nvPicPr>
        <p:blipFill>
          <a:blip r:embed="rId3"/>
          <a:stretch>
            <a:fillRect/>
          </a:stretch>
        </p:blipFill>
        <p:spPr>
          <a:xfrm>
            <a:off x="2393816" y="5747424"/>
            <a:ext cx="1783905" cy="195234"/>
          </a:xfrm>
          <a:prstGeom prst="rect">
            <a:avLst/>
          </a:prstGeom>
        </p:spPr>
      </p:pic>
      <p:sp>
        <p:nvSpPr>
          <p:cNvPr id="17" name="TextBox 16">
            <a:extLst>
              <a:ext uri="{FF2B5EF4-FFF2-40B4-BE49-F238E27FC236}">
                <a16:creationId xmlns:a16="http://schemas.microsoft.com/office/drawing/2014/main" id="{00EE2C12-60A8-A64B-A28B-1DA86B3BE5A6}"/>
              </a:ext>
            </a:extLst>
          </p:cNvPr>
          <p:cNvSpPr txBox="1"/>
          <p:nvPr/>
        </p:nvSpPr>
        <p:spPr>
          <a:xfrm>
            <a:off x="2120806" y="5947821"/>
            <a:ext cx="2444644" cy="461665"/>
          </a:xfrm>
          <a:prstGeom prst="rect">
            <a:avLst/>
          </a:prstGeom>
          <a:noFill/>
        </p:spPr>
        <p:txBody>
          <a:bodyPr wrap="none" rtlCol="0">
            <a:spAutoFit/>
          </a:bodyPr>
          <a:lstStyle/>
          <a:p>
            <a:pPr algn="ctr"/>
            <a:r>
              <a:rPr lang="en-US" sz="1200" dirty="0">
                <a:latin typeface="+mn-lt"/>
                <a:hlinkClick r:id="rId2"/>
              </a:rPr>
              <a:t>https://zenodo.org/record/5714305</a:t>
            </a:r>
            <a:endParaRPr lang="en-US" sz="1200" dirty="0">
              <a:latin typeface="+mn-lt"/>
            </a:endParaRPr>
          </a:p>
          <a:p>
            <a:pPr algn="ctr"/>
            <a:r>
              <a:rPr lang="en-US" sz="1200" dirty="0" err="1">
                <a:latin typeface="+mn-lt"/>
              </a:rPr>
              <a:t>www.stormsmicrobiome.org</a:t>
            </a:r>
            <a:endParaRPr lang="en-US" sz="1200" dirty="0">
              <a:latin typeface="+mn-lt"/>
            </a:endParaRPr>
          </a:p>
        </p:txBody>
      </p:sp>
      <p:sp>
        <p:nvSpPr>
          <p:cNvPr id="6" name="TextBox 5">
            <a:extLst>
              <a:ext uri="{FF2B5EF4-FFF2-40B4-BE49-F238E27FC236}">
                <a16:creationId xmlns:a16="http://schemas.microsoft.com/office/drawing/2014/main" id="{24701C07-9A41-DE43-A837-5E356209A0AF}"/>
              </a:ext>
            </a:extLst>
          </p:cNvPr>
          <p:cNvSpPr txBox="1"/>
          <p:nvPr/>
        </p:nvSpPr>
        <p:spPr>
          <a:xfrm>
            <a:off x="5455435" y="5788772"/>
            <a:ext cx="4849404" cy="307777"/>
          </a:xfrm>
          <a:prstGeom prst="rect">
            <a:avLst/>
          </a:prstGeom>
          <a:noFill/>
        </p:spPr>
        <p:txBody>
          <a:bodyPr wrap="none" rtlCol="0">
            <a:spAutoFit/>
          </a:bodyPr>
          <a:lstStyle/>
          <a:p>
            <a:r>
              <a:rPr lang="en-US" sz="1400" dirty="0"/>
              <a:t>Go to full checklist now: </a:t>
            </a:r>
            <a:r>
              <a:rPr lang="en-US" sz="1400" dirty="0">
                <a:hlinkClick r:id="rId2"/>
              </a:rPr>
              <a:t>https://zenodo.org/record/5714305</a:t>
            </a:r>
            <a:endParaRPr lang="en-US" sz="1400" dirty="0"/>
          </a:p>
        </p:txBody>
      </p:sp>
    </p:spTree>
    <p:extLst>
      <p:ext uri="{BB962C8B-B14F-4D97-AF65-F5344CB8AC3E}">
        <p14:creationId xmlns:p14="http://schemas.microsoft.com/office/powerpoint/2010/main" val="3292460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6C9FB-B147-C5B0-C8DE-A240F712DD0A}"/>
              </a:ext>
            </a:extLst>
          </p:cNvPr>
          <p:cNvSpPr>
            <a:spLocks noGrp="1"/>
          </p:cNvSpPr>
          <p:nvPr>
            <p:ph type="title"/>
          </p:nvPr>
        </p:nvSpPr>
        <p:spPr/>
        <p:txBody>
          <a:bodyPr/>
          <a:lstStyle/>
          <a:p>
            <a:r>
              <a:rPr lang="en-US" dirty="0"/>
              <a:t>Roles for MAC in ASAP</a:t>
            </a:r>
          </a:p>
        </p:txBody>
      </p:sp>
      <p:sp>
        <p:nvSpPr>
          <p:cNvPr id="3" name="Content Placeholder 2">
            <a:extLst>
              <a:ext uri="{FF2B5EF4-FFF2-40B4-BE49-F238E27FC236}">
                <a16:creationId xmlns:a16="http://schemas.microsoft.com/office/drawing/2014/main" id="{7CDF7A4E-62D8-A9DB-EF92-AF021CF68984}"/>
              </a:ext>
            </a:extLst>
          </p:cNvPr>
          <p:cNvSpPr>
            <a:spLocks noGrp="1"/>
          </p:cNvSpPr>
          <p:nvPr>
            <p:ph idx="1"/>
          </p:nvPr>
        </p:nvSpPr>
        <p:spPr>
          <a:xfrm>
            <a:off x="609600" y="1600201"/>
            <a:ext cx="10972800" cy="4833256"/>
          </a:xfrm>
        </p:spPr>
        <p:txBody>
          <a:bodyPr>
            <a:normAutofit fontScale="62500" lnSpcReduction="20000"/>
          </a:bodyPr>
          <a:lstStyle/>
          <a:p>
            <a:r>
              <a:rPr lang="en-US" dirty="0"/>
              <a:t>Support for ASAP researchers – can start already:</a:t>
            </a:r>
          </a:p>
          <a:p>
            <a:pPr lvl="1"/>
            <a:r>
              <a:rPr lang="en-US" dirty="0"/>
              <a:t>Advise on experimental, study and analytical design</a:t>
            </a:r>
          </a:p>
          <a:p>
            <a:pPr lvl="1"/>
            <a:r>
              <a:rPr lang="en-US" dirty="0"/>
              <a:t>Provide SOP for microbiome sample collection, storage, and processing</a:t>
            </a:r>
          </a:p>
          <a:p>
            <a:pPr lvl="1"/>
            <a:r>
              <a:rPr lang="en-US" dirty="0"/>
              <a:t>Provide template for standardizing metadata, including required metadata</a:t>
            </a:r>
          </a:p>
          <a:p>
            <a:pPr lvl="1"/>
            <a:r>
              <a:rPr lang="en-US" dirty="0"/>
              <a:t>Manuscript scientific review and feedback</a:t>
            </a:r>
          </a:p>
          <a:p>
            <a:pPr lvl="1"/>
            <a:r>
              <a:rPr lang="en-US" dirty="0"/>
              <a:t>Work with Open Science Team to develop policies</a:t>
            </a:r>
          </a:p>
          <a:p>
            <a:pPr lvl="1"/>
            <a:r>
              <a:rPr lang="en-US" dirty="0"/>
              <a:t>Preprint review for adherence to ASAP open science policies</a:t>
            </a:r>
          </a:p>
          <a:p>
            <a:r>
              <a:rPr lang="en-US" dirty="0"/>
              <a:t>Support for ASAP researchers – pending hiring:</a:t>
            </a:r>
          </a:p>
          <a:p>
            <a:pPr lvl="1"/>
            <a:r>
              <a:rPr lang="en-US" dirty="0"/>
              <a:t>Uniform processing of raw data</a:t>
            </a:r>
          </a:p>
          <a:p>
            <a:pPr lvl="1"/>
            <a:r>
              <a:rPr lang="en-US" dirty="0"/>
              <a:t>Standardization of metadata</a:t>
            </a:r>
          </a:p>
          <a:p>
            <a:pPr lvl="1"/>
            <a:r>
              <a:rPr lang="en-US" dirty="0"/>
              <a:t>Statistical analysis and machine learning analysis</a:t>
            </a:r>
          </a:p>
          <a:p>
            <a:pPr lvl="1"/>
            <a:r>
              <a:rPr lang="en-US" dirty="0"/>
              <a:t>Depositing data in public repositories (SRA, Genomic Data Commons, curatedMetagenomicData)</a:t>
            </a:r>
          </a:p>
          <a:p>
            <a:pPr lvl="1"/>
            <a:r>
              <a:rPr lang="en-US" dirty="0"/>
              <a:t>Contribute methods and results to manuscript</a:t>
            </a:r>
          </a:p>
          <a:p>
            <a:r>
              <a:rPr lang="en-US" dirty="0"/>
              <a:t>Encourage:</a:t>
            </a:r>
          </a:p>
          <a:p>
            <a:pPr lvl="1"/>
            <a:r>
              <a:rPr lang="en-US" dirty="0"/>
              <a:t>Informed consent for General Research Use of data, e.g. TCGA template </a:t>
            </a:r>
          </a:p>
          <a:p>
            <a:pPr lvl="1"/>
            <a:r>
              <a:rPr lang="en-US" dirty="0"/>
              <a:t>STORMS to help organize manuscripts, with customization as needed</a:t>
            </a:r>
          </a:p>
          <a:p>
            <a:pPr lvl="1"/>
            <a:endParaRPr lang="en-US" dirty="0"/>
          </a:p>
        </p:txBody>
      </p:sp>
      <p:sp>
        <p:nvSpPr>
          <p:cNvPr id="4" name="Slide Number Placeholder 3">
            <a:extLst>
              <a:ext uri="{FF2B5EF4-FFF2-40B4-BE49-F238E27FC236}">
                <a16:creationId xmlns:a16="http://schemas.microsoft.com/office/drawing/2014/main" id="{E1884DCE-3891-E361-59EC-6704A0BAEBA3}"/>
              </a:ext>
            </a:extLst>
          </p:cNvPr>
          <p:cNvSpPr>
            <a:spLocks noGrp="1"/>
          </p:cNvSpPr>
          <p:nvPr>
            <p:ph type="sldNum" sz="quarter" idx="12"/>
          </p:nvPr>
        </p:nvSpPr>
        <p:spPr/>
        <p:txBody>
          <a:bodyPr/>
          <a:lstStyle/>
          <a:p>
            <a:fld id="{C71C242F-20BE-4F6C-ABA6-9DCC8641EF60}" type="slidenum">
              <a:rPr lang="en-US" smtClean="0"/>
              <a:pPr/>
              <a:t>13</a:t>
            </a:fld>
            <a:endParaRPr lang="en-US"/>
          </a:p>
        </p:txBody>
      </p:sp>
    </p:spTree>
    <p:extLst>
      <p:ext uri="{BB962C8B-B14F-4D97-AF65-F5344CB8AC3E}">
        <p14:creationId xmlns:p14="http://schemas.microsoft.com/office/powerpoint/2010/main" val="309422690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71361</TotalTime>
  <Words>1639</Words>
  <Application>Microsoft Macintosh PowerPoint</Application>
  <PresentationFormat>Widescreen</PresentationFormat>
  <Paragraphs>175</Paragraphs>
  <Slides>13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Montserrat</vt:lpstr>
      <vt:lpstr>MoolBoran</vt:lpstr>
      <vt:lpstr>Wingdings</vt:lpstr>
      <vt:lpstr>Office Theme</vt:lpstr>
      <vt:lpstr>Increasing the value of ASAP-produced data</vt:lpstr>
      <vt:lpstr>Outline</vt:lpstr>
      <vt:lpstr>Background: curatedMetagenomicData</vt:lpstr>
      <vt:lpstr>metadata</vt:lpstr>
      <vt:lpstr>BugSigDB.org: A Comprehensive Database of Published Microbial Signatures</vt:lpstr>
      <vt:lpstr>BugSigDB.org</vt:lpstr>
      <vt:lpstr>Reproducibility of microbiome research topics</vt:lpstr>
      <vt:lpstr>Similar signatures of different health outcomes</vt:lpstr>
      <vt:lpstr>Difficult to:    - compare results of two studies    - compare or replicate methods</vt:lpstr>
      <vt:lpstr>STORMS checklist objectives</vt:lpstr>
      <vt:lpstr>STORMS development process</vt:lpstr>
      <vt:lpstr>The Checklist</vt:lpstr>
      <vt:lpstr>Roles for MAC in ASAP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Waldron</dc:creator>
  <cp:lastModifiedBy>Levi Waldron</cp:lastModifiedBy>
  <cp:revision>3504</cp:revision>
  <dcterms:created xsi:type="dcterms:W3CDTF">2006-04-21T21:58:28Z</dcterms:created>
  <dcterms:modified xsi:type="dcterms:W3CDTF">2024-04-09T17:28:18Z</dcterms:modified>
</cp:coreProperties>
</file>