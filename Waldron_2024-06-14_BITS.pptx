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27"/>
  </p:notesMasterIdLst>
  <p:handoutMasterIdLst>
    <p:handoutMasterId r:id="rId28"/>
  </p:handoutMasterIdLst>
  <p:sldIdLst>
    <p:sldId id="256" r:id="rId2"/>
    <p:sldId id="682" r:id="rId3"/>
    <p:sldId id="683" r:id="rId4"/>
    <p:sldId id="615" r:id="rId5"/>
    <p:sldId id="691" r:id="rId6"/>
    <p:sldId id="616" r:id="rId7"/>
    <p:sldId id="684" r:id="rId8"/>
    <p:sldId id="685" r:id="rId9"/>
    <p:sldId id="690" r:id="rId10"/>
    <p:sldId id="700" r:id="rId11"/>
    <p:sldId id="699" r:id="rId12"/>
    <p:sldId id="617" r:id="rId13"/>
    <p:sldId id="686" r:id="rId14"/>
    <p:sldId id="269" r:id="rId15"/>
    <p:sldId id="270" r:id="rId16"/>
    <p:sldId id="273" r:id="rId17"/>
    <p:sldId id="687" r:id="rId18"/>
    <p:sldId id="282" r:id="rId19"/>
    <p:sldId id="283" r:id="rId20"/>
    <p:sldId id="695" r:id="rId21"/>
    <p:sldId id="696" r:id="rId22"/>
    <p:sldId id="697" r:id="rId23"/>
    <p:sldId id="611" r:id="rId24"/>
    <p:sldId id="275" r:id="rId25"/>
    <p:sldId id="688" r:id="rId26"/>
  </p:sldIdLst>
  <p:sldSz cx="9144000" cy="5143500" type="screen16x9"/>
  <p:notesSz cx="6985000" cy="92837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5pPr>
    <a:lvl6pPr marL="2286000" algn="l" defTabSz="914400" rtl="0" eaLnBrk="1" latinLnBrk="0" hangingPunct="1">
      <a:defRPr sz="2400" kern="1200">
        <a:solidFill>
          <a:schemeClr val="tx1"/>
        </a:solidFill>
        <a:latin typeface="Arial" charset="0"/>
        <a:ea typeface="ＭＳ Ｐゴシック" pitchFamily="1" charset="-128"/>
        <a:cs typeface="+mn-cs"/>
      </a:defRPr>
    </a:lvl6pPr>
    <a:lvl7pPr marL="2743200" algn="l" defTabSz="914400" rtl="0" eaLnBrk="1" latinLnBrk="0" hangingPunct="1">
      <a:defRPr sz="2400" kern="1200">
        <a:solidFill>
          <a:schemeClr val="tx1"/>
        </a:solidFill>
        <a:latin typeface="Arial" charset="0"/>
        <a:ea typeface="ＭＳ Ｐゴシック" pitchFamily="1" charset="-128"/>
        <a:cs typeface="+mn-cs"/>
      </a:defRPr>
    </a:lvl7pPr>
    <a:lvl8pPr marL="3200400" algn="l" defTabSz="914400" rtl="0" eaLnBrk="1" latinLnBrk="0" hangingPunct="1">
      <a:defRPr sz="2400" kern="1200">
        <a:solidFill>
          <a:schemeClr val="tx1"/>
        </a:solidFill>
        <a:latin typeface="Arial" charset="0"/>
        <a:ea typeface="ＭＳ Ｐゴシック" pitchFamily="1" charset="-128"/>
        <a:cs typeface="+mn-cs"/>
      </a:defRPr>
    </a:lvl8pPr>
    <a:lvl9pPr marL="3657600" algn="l" defTabSz="914400" rtl="0" eaLnBrk="1" latinLnBrk="0" hangingPunct="1">
      <a:defRPr sz="2400" kern="1200">
        <a:solidFill>
          <a:schemeClr val="tx1"/>
        </a:solidFill>
        <a:latin typeface="Arial" charset="0"/>
        <a:ea typeface="ＭＳ Ｐゴシック" pitchFamily="1" charset="-128"/>
        <a:cs typeface="+mn-cs"/>
      </a:defRPr>
    </a:lvl9pPr>
  </p:defaultTextStyle>
  <p:extLst>
    <p:ext uri="{521415D9-36F7-43E2-AB2F-B90AF26B5E84}">
      <p14:sectionLst xmlns:p14="http://schemas.microsoft.com/office/powerpoint/2010/main">
        <p14:section name="Default Section" id="{BF0DED3F-89D9-1C47-96B2-18AA82D3C9EB}">
          <p14:sldIdLst>
            <p14:sldId id="256"/>
            <p14:sldId id="682"/>
            <p14:sldId id="683"/>
            <p14:sldId id="615"/>
            <p14:sldId id="691"/>
            <p14:sldId id="616"/>
            <p14:sldId id="684"/>
            <p14:sldId id="685"/>
            <p14:sldId id="690"/>
            <p14:sldId id="700"/>
            <p14:sldId id="699"/>
            <p14:sldId id="617"/>
            <p14:sldId id="686"/>
            <p14:sldId id="269"/>
            <p14:sldId id="270"/>
            <p14:sldId id="273"/>
            <p14:sldId id="687"/>
            <p14:sldId id="282"/>
            <p14:sldId id="283"/>
            <p14:sldId id="695"/>
            <p14:sldId id="696"/>
            <p14:sldId id="697"/>
            <p14:sldId id="611"/>
            <p14:sldId id="275"/>
            <p14:sldId id="688"/>
          </p14:sldIdLst>
        </p14:section>
        <p14:section name="extra slides" id="{7CE0F5D5-9A70-804A-A702-CD9FE7187AEB}">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924">
          <p15:clr>
            <a:srgbClr val="A4A3A4"/>
          </p15:clr>
        </p15:guide>
        <p15:guide id="2" pos="220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vi.Waldron56" initials="L" lastIdx="2" clrIdx="0">
    <p:extLst>
      <p:ext uri="{19B8F6BF-5375-455C-9EA6-DF929625EA0E}">
        <p15:presenceInfo xmlns:p15="http://schemas.microsoft.com/office/powerpoint/2012/main" userId="S::levi.waldron56@login.cuny.edu::c74a3ce4-869e-48ea-8915-14044909b53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0091C4"/>
    <a:srgbClr val="B3B701"/>
    <a:srgbClr val="0000FF"/>
    <a:srgbClr val="5DD5FF"/>
    <a:srgbClr val="85DFFF"/>
    <a:srgbClr val="3FCDFF"/>
    <a:srgbClr val="11C1FF"/>
    <a:srgbClr val="0078A2"/>
    <a:srgbClr val="005A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080" autoAdjust="0"/>
    <p:restoredTop sz="84173" autoAdjust="0"/>
  </p:normalViewPr>
  <p:slideViewPr>
    <p:cSldViewPr snapToGrid="0">
      <p:cViewPr varScale="1">
        <p:scale>
          <a:sx n="120" d="100"/>
          <a:sy n="120" d="100"/>
        </p:scale>
        <p:origin x="200" y="872"/>
      </p:cViewPr>
      <p:guideLst>
        <p:guide orient="horz" pos="1620"/>
        <p:guide pos="2880"/>
      </p:guideLst>
    </p:cSldViewPr>
  </p:slideViewPr>
  <p:outlineViewPr>
    <p:cViewPr>
      <p:scale>
        <a:sx n="33" d="100"/>
        <a:sy n="33" d="100"/>
      </p:scale>
      <p:origin x="0" y="2718"/>
    </p:cViewPr>
  </p:outlineViewPr>
  <p:notesTextViewPr>
    <p:cViewPr>
      <p:scale>
        <a:sx n="125" d="100"/>
        <a:sy n="125" d="100"/>
      </p:scale>
      <p:origin x="0" y="0"/>
    </p:cViewPr>
  </p:notesTextViewPr>
  <p:sorterViewPr>
    <p:cViewPr>
      <p:scale>
        <a:sx n="48" d="100"/>
        <a:sy n="48" d="100"/>
      </p:scale>
      <p:origin x="0" y="2388"/>
    </p:cViewPr>
  </p:sorterViewPr>
  <p:notesViewPr>
    <p:cSldViewPr snapToGrid="0">
      <p:cViewPr varScale="1">
        <p:scale>
          <a:sx n="70" d="100"/>
          <a:sy n="70" d="100"/>
        </p:scale>
        <p:origin x="-3258" y="-114"/>
      </p:cViewPr>
      <p:guideLst>
        <p:guide orient="horz" pos="2924"/>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56050" y="0"/>
            <a:ext cx="3027363" cy="463550"/>
          </a:xfrm>
          <a:prstGeom prst="rect">
            <a:avLst/>
          </a:prstGeom>
        </p:spPr>
        <p:txBody>
          <a:bodyPr vert="horz" lIns="91440" tIns="45720" rIns="91440" bIns="45720" rtlCol="0"/>
          <a:lstStyle>
            <a:lvl1pPr algn="r">
              <a:defRPr sz="1200"/>
            </a:lvl1pPr>
          </a:lstStyle>
          <a:p>
            <a:fld id="{FC537BD1-336C-499A-9357-A5A986E43ECB}" type="datetimeFigureOut">
              <a:rPr lang="en-US" smtClean="0"/>
              <a:pPr/>
              <a:t>6/14/24</a:t>
            </a:fld>
            <a:endParaRPr lang="en-US"/>
          </a:p>
        </p:txBody>
      </p:sp>
      <p:sp>
        <p:nvSpPr>
          <p:cNvPr id="4" name="Footer Placeholder 3"/>
          <p:cNvSpPr>
            <a:spLocks noGrp="1"/>
          </p:cNvSpPr>
          <p:nvPr>
            <p:ph type="ftr" sz="quarter" idx="2"/>
          </p:nvPr>
        </p:nvSpPr>
        <p:spPr>
          <a:xfrm>
            <a:off x="0" y="8818563"/>
            <a:ext cx="3027363"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56050" y="8818563"/>
            <a:ext cx="3027363" cy="463550"/>
          </a:xfrm>
          <a:prstGeom prst="rect">
            <a:avLst/>
          </a:prstGeom>
        </p:spPr>
        <p:txBody>
          <a:bodyPr vert="horz" lIns="91440" tIns="45720" rIns="91440" bIns="45720" rtlCol="0" anchor="b"/>
          <a:lstStyle>
            <a:lvl1pPr algn="r">
              <a:defRPr sz="1200"/>
            </a:lvl1pPr>
          </a:lstStyle>
          <a:p>
            <a:fld id="{185E343B-D4B1-4171-9113-4DFF710A3A77}" type="slidenum">
              <a:rPr lang="en-US" smtClean="0"/>
              <a:pPr/>
              <a:t>‹#›</a:t>
            </a:fld>
            <a:endParaRPr lang="en-US"/>
          </a:p>
        </p:txBody>
      </p:sp>
    </p:spTree>
    <p:extLst>
      <p:ext uri="{BB962C8B-B14F-4D97-AF65-F5344CB8AC3E}">
        <p14:creationId xmlns:p14="http://schemas.microsoft.com/office/powerpoint/2010/main" val="980982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26833" cy="46418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lvl1pPr>
              <a:defRPr sz="1200"/>
            </a:lvl1pPr>
          </a:lstStyle>
          <a:p>
            <a:endParaRPr lang="en-US"/>
          </a:p>
        </p:txBody>
      </p:sp>
      <p:sp>
        <p:nvSpPr>
          <p:cNvPr id="3075" name="Rectangle 3"/>
          <p:cNvSpPr>
            <a:spLocks noGrp="1" noChangeArrowheads="1"/>
          </p:cNvSpPr>
          <p:nvPr>
            <p:ph type="dt" idx="1"/>
          </p:nvPr>
        </p:nvSpPr>
        <p:spPr bwMode="auto">
          <a:xfrm>
            <a:off x="3958167" y="0"/>
            <a:ext cx="3026833" cy="46418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lvl1pPr algn="r">
              <a:defRPr sz="1200"/>
            </a:lvl1pPr>
          </a:lstStyle>
          <a:p>
            <a:endParaRPr lang="en-US"/>
          </a:p>
        </p:txBody>
      </p:sp>
      <p:sp>
        <p:nvSpPr>
          <p:cNvPr id="3076" name="Rectangle 4"/>
          <p:cNvSpPr>
            <a:spLocks noGrp="1" noRot="1" noChangeAspect="1" noChangeArrowheads="1" noTextEdit="1"/>
          </p:cNvSpPr>
          <p:nvPr>
            <p:ph type="sldImg" idx="2"/>
          </p:nvPr>
        </p:nvSpPr>
        <p:spPr bwMode="auto">
          <a:xfrm>
            <a:off x="398463" y="696913"/>
            <a:ext cx="6188075" cy="3481387"/>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931334" y="4409758"/>
            <a:ext cx="5122333" cy="417766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8819515"/>
            <a:ext cx="3026833" cy="464185"/>
          </a:xfrm>
          <a:prstGeom prst="rect">
            <a:avLst/>
          </a:prstGeom>
          <a:noFill/>
          <a:ln w="9525">
            <a:noFill/>
            <a:miter lim="800000"/>
            <a:headEnd/>
            <a:tailEnd/>
          </a:ln>
        </p:spPr>
        <p:txBody>
          <a:bodyPr vert="horz" wrap="square" lIns="92958" tIns="46479" rIns="92958" bIns="46479" numCol="1" anchor="b" anchorCtr="0" compatLnSpc="1">
            <a:prstTxWarp prst="textNoShape">
              <a:avLst/>
            </a:prstTxWarp>
          </a:bodyPr>
          <a:lstStyle>
            <a:lvl1pPr>
              <a:defRPr sz="1200"/>
            </a:lvl1pPr>
          </a:lstStyle>
          <a:p>
            <a:endParaRPr lang="en-US"/>
          </a:p>
        </p:txBody>
      </p:sp>
      <p:sp>
        <p:nvSpPr>
          <p:cNvPr id="3079" name="Rectangle 7"/>
          <p:cNvSpPr>
            <a:spLocks noGrp="1" noChangeArrowheads="1"/>
          </p:cNvSpPr>
          <p:nvPr>
            <p:ph type="sldNum" sz="quarter" idx="5"/>
          </p:nvPr>
        </p:nvSpPr>
        <p:spPr bwMode="auto">
          <a:xfrm>
            <a:off x="3958167" y="8819515"/>
            <a:ext cx="3026833" cy="464185"/>
          </a:xfrm>
          <a:prstGeom prst="rect">
            <a:avLst/>
          </a:prstGeom>
          <a:noFill/>
          <a:ln w="9525">
            <a:noFill/>
            <a:miter lim="800000"/>
            <a:headEnd/>
            <a:tailEnd/>
          </a:ln>
        </p:spPr>
        <p:txBody>
          <a:bodyPr vert="horz" wrap="square" lIns="92958" tIns="46479" rIns="92958" bIns="46479" numCol="1" anchor="b" anchorCtr="0" compatLnSpc="1">
            <a:prstTxWarp prst="textNoShape">
              <a:avLst/>
            </a:prstTxWarp>
          </a:bodyPr>
          <a:lstStyle>
            <a:lvl1pPr algn="r">
              <a:defRPr sz="1200"/>
            </a:lvl1pPr>
          </a:lstStyle>
          <a:p>
            <a:fld id="{8C865A49-EB5E-4903-ACE8-213423977F78}" type="slidenum">
              <a:rPr lang="en-US"/>
              <a:pPr/>
              <a:t>‹#›</a:t>
            </a:fld>
            <a:endParaRPr lang="en-US"/>
          </a:p>
        </p:txBody>
      </p:sp>
    </p:spTree>
    <p:extLst>
      <p:ext uri="{BB962C8B-B14F-4D97-AF65-F5344CB8AC3E}">
        <p14:creationId xmlns:p14="http://schemas.microsoft.com/office/powerpoint/2010/main" val="418698714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8463" y="696913"/>
            <a:ext cx="6188075" cy="3481387"/>
          </a:xfrm>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charset="0"/>
              <a:ea typeface="ＭＳ Ｐゴシック" pitchFamily="1" charset="-128"/>
              <a:cs typeface="+mn-cs"/>
            </a:endParaRPr>
          </a:p>
        </p:txBody>
      </p:sp>
      <p:sp>
        <p:nvSpPr>
          <p:cNvPr id="4" name="Slide Number Placeholder 3"/>
          <p:cNvSpPr>
            <a:spLocks noGrp="1"/>
          </p:cNvSpPr>
          <p:nvPr>
            <p:ph type="sldNum" sz="quarter" idx="10"/>
          </p:nvPr>
        </p:nvSpPr>
        <p:spPr/>
        <p:txBody>
          <a:bodyPr/>
          <a:lstStyle/>
          <a:p>
            <a:fld id="{8C865A49-EB5E-4903-ACE8-213423977F78}" type="slidenum">
              <a:rPr lang="en-US" smtClean="0"/>
              <a:pPr/>
              <a:t>1</a:t>
            </a:fld>
            <a:endParaRPr lang="en-US"/>
          </a:p>
        </p:txBody>
      </p:sp>
    </p:spTree>
    <p:extLst>
      <p:ext uri="{BB962C8B-B14F-4D97-AF65-F5344CB8AC3E}">
        <p14:creationId xmlns:p14="http://schemas.microsoft.com/office/powerpoint/2010/main" val="2054048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8463" y="696913"/>
            <a:ext cx="6188075" cy="3481387"/>
          </a:xfrm>
        </p:spPr>
      </p:sp>
      <p:sp>
        <p:nvSpPr>
          <p:cNvPr id="3" name="Notes Placeholder 2"/>
          <p:cNvSpPr>
            <a:spLocks noGrp="1"/>
          </p:cNvSpPr>
          <p:nvPr>
            <p:ph type="body" idx="1"/>
          </p:nvPr>
        </p:nvSpPr>
        <p:spPr/>
        <p:txBody>
          <a:bodyPr/>
          <a:lstStyle/>
          <a:p>
            <a:pPr algn="l" fontAlgn="base"/>
            <a:r>
              <a:rPr lang="en-US" b="1" i="0" dirty="0">
                <a:solidFill>
                  <a:srgbClr val="2A2A2A"/>
                </a:solidFill>
                <a:effectLst/>
                <a:highlight>
                  <a:srgbClr val="FFFFFF"/>
                </a:highlight>
                <a:latin typeface="Source Sans Pro" panose="020F0502020204030204" pitchFamily="34" charset="0"/>
              </a:rPr>
              <a:t>Figure 1. </a:t>
            </a:r>
            <a:r>
              <a:rPr lang="en-US" b="0" i="0" dirty="0">
                <a:solidFill>
                  <a:srgbClr val="2A2A2A"/>
                </a:solidFill>
                <a:effectLst/>
                <a:highlight>
                  <a:srgbClr val="FFFFFF"/>
                </a:highlight>
                <a:latin typeface="inherit"/>
              </a:rPr>
              <a:t>GEO growth and data type trends over the last decade. The stacked bars display the percentage of each of four broad data type categories from 2013–2022, using the left y-axis. The thick black line shows growth of the total number of studies from 2013–2022 and uses the right y-axis.</a:t>
            </a:r>
          </a:p>
        </p:txBody>
      </p:sp>
      <p:sp>
        <p:nvSpPr>
          <p:cNvPr id="4" name="Slide Number Placeholder 3"/>
          <p:cNvSpPr>
            <a:spLocks noGrp="1"/>
          </p:cNvSpPr>
          <p:nvPr>
            <p:ph type="sldNum" sz="quarter" idx="5"/>
          </p:nvPr>
        </p:nvSpPr>
        <p:spPr/>
        <p:txBody>
          <a:bodyPr/>
          <a:lstStyle/>
          <a:p>
            <a:fld id="{8C865A49-EB5E-4903-ACE8-213423977F78}" type="slidenum">
              <a:rPr lang="en-US" smtClean="0"/>
              <a:pPr/>
              <a:t>2</a:t>
            </a:fld>
            <a:endParaRPr lang="en-US"/>
          </a:p>
        </p:txBody>
      </p:sp>
    </p:spTree>
    <p:extLst>
      <p:ext uri="{BB962C8B-B14F-4D97-AF65-F5344CB8AC3E}">
        <p14:creationId xmlns:p14="http://schemas.microsoft.com/office/powerpoint/2010/main" val="3138667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Shape 5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59" name="Shape 59"/>
          <p:cNvSpPr txBox="1">
            <a:spLocks noGrp="1"/>
          </p:cNvSpPr>
          <p:nvPr>
            <p:ph type="body" idx="1"/>
          </p:nvPr>
        </p:nvSpPr>
        <p:spPr>
          <a:xfrm>
            <a:off x="685801" y="4343401"/>
            <a:ext cx="5486399" cy="4114800"/>
          </a:xfrm>
          <a:prstGeom prst="rect">
            <a:avLst/>
          </a:prstGeom>
        </p:spPr>
        <p:txBody>
          <a:bodyPr lIns="91419" tIns="91419" rIns="91419" bIns="91419" anchor="t" anchorCtr="0">
            <a:noAutofit/>
          </a:bodyPr>
          <a:lstStyle/>
          <a:p>
            <a:r>
              <a:rPr lang="en-US" dirty="0"/>
              <a:t>This work was motivated by the need to simplify general statistical analysis and development of bioinformatic tools for a study as complex as the Cancer Genome Atlas, where</a:t>
            </a:r>
            <a:r>
              <a:rPr lang="en-US" baseline="0" dirty="0"/>
              <a:t> 33 cancers were assayed on many platforms to generate different types of data, but also to provide a simplified framework for more easily reproducible and less error-prone analysis of simpler experiments involving just a couple of complementary assays and clinical data.</a:t>
            </a:r>
            <a:endParaRPr dirty="0"/>
          </a:p>
        </p:txBody>
      </p:sp>
    </p:spTree>
    <p:extLst>
      <p:ext uri="{BB962C8B-B14F-4D97-AF65-F5344CB8AC3E}">
        <p14:creationId xmlns:p14="http://schemas.microsoft.com/office/powerpoint/2010/main" val="1304998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8463" y="696913"/>
            <a:ext cx="6188075" cy="34813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DF6F9E-104F-8D44-916B-293655508415}" type="slidenum">
              <a:rPr lang="en-US" smtClean="0"/>
              <a:t>6</a:t>
            </a:fld>
            <a:endParaRPr lang="en-US"/>
          </a:p>
        </p:txBody>
      </p:sp>
    </p:spTree>
    <p:extLst>
      <p:ext uri="{BB962C8B-B14F-4D97-AF65-F5344CB8AC3E}">
        <p14:creationId xmlns:p14="http://schemas.microsoft.com/office/powerpoint/2010/main" val="2955399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94b85a43af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94b85a43af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index stays directly connected to the training datasets. Additionally, we annotated newly created signatures with two aspects: MeSH terms and GSEA.</a:t>
            </a:r>
            <a:endParaRPr/>
          </a:p>
          <a:p>
            <a:pPr marL="0" lvl="0" indent="0" algn="l" rtl="0">
              <a:spcBef>
                <a:spcPts val="0"/>
              </a:spcBef>
              <a:spcAft>
                <a:spcPts val="0"/>
              </a:spcAft>
              <a:buNone/>
            </a:pPr>
            <a:endParaRPr/>
          </a:p>
          <a:p>
            <a:pPr marL="0" lvl="0" indent="0" algn="l" rtl="0">
              <a:spcBef>
                <a:spcPts val="0"/>
              </a:spcBef>
              <a:spcAft>
                <a:spcPts val="0"/>
              </a:spcAft>
              <a:buNone/>
            </a:pPr>
            <a:r>
              <a:rPr lang="en"/>
              <a:t>For MeSH term annotation, we collect all the MeSH terms assigned to the 536 studies and reverse-weighted them by the frequency. And at the cluster level, we weighted them again  based on the variance explained by each PC in the clusters. </a:t>
            </a: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94b85a43af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94b85a43af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GSEA-based annotation, we created a pre-ranked gene list from each PCcluster. PCAGenomicSignatures object contains the enriched pathways with the minimum q-value.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94b85a43af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94b85a43af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solidFill>
                  <a:schemeClr val="dk1"/>
                </a:solidFill>
              </a:rPr>
              <a:t>Alignment</a:t>
            </a:r>
            <a:r>
              <a:rPr lang="en" dirty="0">
                <a:solidFill>
                  <a:schemeClr val="dk1"/>
                </a:solidFill>
              </a:rPr>
              <a:t>. </a:t>
            </a:r>
            <a:r>
              <a:rPr lang="en" dirty="0" err="1">
                <a:solidFill>
                  <a:schemeClr val="dk1"/>
                </a:solidFill>
              </a:rPr>
              <a:t>GTEx</a:t>
            </a:r>
            <a:r>
              <a:rPr lang="en" dirty="0">
                <a:solidFill>
                  <a:schemeClr val="dk1"/>
                </a:solidFill>
              </a:rPr>
              <a:t> and public SRA samples were selected by searching the SRA website as discussed in </a:t>
            </a:r>
            <a:r>
              <a:rPr lang="en" i="1" dirty="0">
                <a:solidFill>
                  <a:schemeClr val="dk1"/>
                </a:solidFill>
              </a:rPr>
              <a:t>selecting </a:t>
            </a:r>
            <a:r>
              <a:rPr lang="en" i="1" dirty="0" err="1">
                <a:solidFill>
                  <a:schemeClr val="dk1"/>
                </a:solidFill>
              </a:rPr>
              <a:t>GTEx</a:t>
            </a:r>
            <a:r>
              <a:rPr lang="en" i="1" dirty="0">
                <a:solidFill>
                  <a:schemeClr val="dk1"/>
                </a:solidFill>
              </a:rPr>
              <a:t>, SRA and TCGA samples </a:t>
            </a:r>
            <a:r>
              <a:rPr lang="en" dirty="0">
                <a:solidFill>
                  <a:schemeClr val="dk1"/>
                </a:solidFill>
              </a:rPr>
              <a:t>subsection. Samples that could not be downloaded using </a:t>
            </a:r>
            <a:r>
              <a:rPr lang="en" dirty="0" err="1">
                <a:solidFill>
                  <a:schemeClr val="dk1"/>
                </a:solidFill>
              </a:rPr>
              <a:t>fastq</a:t>
            </a:r>
            <a:r>
              <a:rPr lang="en" dirty="0">
                <a:solidFill>
                  <a:schemeClr val="dk1"/>
                </a:solidFill>
              </a:rPr>
              <a:t>-dump were eliminated as described in incomplete and invalid input data. Samples were aligned in a spliced fashion to the hg38 assembly of the human genome using Rail-RNA. Alignments were performed in batches on computer clusters rented from the Amazon Web Services Elastic MapReduce service. The alignment pipeline was divided into two phases, where the first phase (“preprocessing”) downloads and reformats the data and the second phase performs spliced alignment. Outputs of the pipeline include, for each sample, a junction coverage file (similar to a </a:t>
            </a:r>
            <a:r>
              <a:rPr lang="en" dirty="0" err="1">
                <a:solidFill>
                  <a:schemeClr val="dk1"/>
                </a:solidFill>
              </a:rPr>
              <a:t>TopHat</a:t>
            </a:r>
            <a:r>
              <a:rPr lang="en" dirty="0">
                <a:solidFill>
                  <a:schemeClr val="dk1"/>
                </a:solidFill>
              </a:rPr>
              <a:t> “</a:t>
            </a:r>
            <a:r>
              <a:rPr lang="en" dirty="0" err="1">
                <a:solidFill>
                  <a:schemeClr val="dk1"/>
                </a:solidFill>
              </a:rPr>
              <a:t>junctions.bed</a:t>
            </a:r>
            <a:r>
              <a:rPr lang="en" dirty="0">
                <a:solidFill>
                  <a:schemeClr val="dk1"/>
                </a:solidFill>
              </a:rPr>
              <a:t>” file) and a </a:t>
            </a:r>
            <a:r>
              <a:rPr lang="en" dirty="0" err="1">
                <a:solidFill>
                  <a:schemeClr val="dk1"/>
                </a:solidFill>
              </a:rPr>
              <a:t>BigWig</a:t>
            </a:r>
            <a:r>
              <a:rPr lang="en" dirty="0">
                <a:solidFill>
                  <a:schemeClr val="dk1"/>
                </a:solidFill>
              </a:rPr>
              <a:t> file</a:t>
            </a:r>
            <a:r>
              <a:rPr lang="en" sz="700" dirty="0">
                <a:solidFill>
                  <a:schemeClr val="dk1"/>
                </a:solidFill>
              </a:rPr>
              <a:t>37 </a:t>
            </a:r>
            <a:r>
              <a:rPr lang="en" dirty="0">
                <a:solidFill>
                  <a:schemeClr val="dk1"/>
                </a:solidFill>
              </a:rPr>
              <a:t>containing a genome-wide coverage vector. Further details are presented in </a:t>
            </a:r>
            <a:r>
              <a:rPr lang="en" i="1" dirty="0">
                <a:solidFill>
                  <a:schemeClr val="dk1"/>
                </a:solidFill>
              </a:rPr>
              <a:t>alignment with Rail-RNA </a:t>
            </a:r>
            <a:r>
              <a:rPr lang="en" dirty="0">
                <a:solidFill>
                  <a:schemeClr val="dk1"/>
                </a:solidFill>
              </a:rPr>
              <a:t>section below and the Rail-RNA study</a:t>
            </a:r>
            <a:r>
              <a:rPr lang="en" sz="700" dirty="0">
                <a:solidFill>
                  <a:schemeClr val="dk1"/>
                </a:solidFill>
              </a:rPr>
              <a:t>21</a:t>
            </a:r>
            <a:r>
              <a:rPr lang="en" dirty="0">
                <a:solidFill>
                  <a:schemeClr val="dk1"/>
                </a:solidFill>
              </a:rPr>
              <a:t>. Gene and exon counts were compiled using the </a:t>
            </a:r>
            <a:r>
              <a:rPr lang="en" dirty="0" err="1">
                <a:solidFill>
                  <a:schemeClr val="dk1"/>
                </a:solidFill>
              </a:rPr>
              <a:t>BigWig</a:t>
            </a:r>
            <a:r>
              <a:rPr lang="en" dirty="0">
                <a:solidFill>
                  <a:schemeClr val="dk1"/>
                </a:solidFill>
              </a:rPr>
              <a:t> files output by Rail-RNA and the </a:t>
            </a:r>
            <a:r>
              <a:rPr lang="en" dirty="0" err="1">
                <a:solidFill>
                  <a:schemeClr val="dk1"/>
                </a:solidFill>
              </a:rPr>
              <a:t>Gencode</a:t>
            </a:r>
            <a:r>
              <a:rPr lang="en" dirty="0">
                <a:solidFill>
                  <a:schemeClr val="dk1"/>
                </a:solidFill>
              </a:rPr>
              <a:t> v25 annotation</a:t>
            </a:r>
            <a:r>
              <a:rPr lang="en" sz="700" dirty="0">
                <a:solidFill>
                  <a:schemeClr val="dk1"/>
                </a:solidFill>
              </a:rPr>
              <a:t>38</a:t>
            </a:r>
            <a:r>
              <a:rPr lang="en" dirty="0">
                <a:solidFill>
                  <a:schemeClr val="dk1"/>
                </a:solidFill>
              </a:rPr>
              <a:t>. For exon counts, we first obtained a set of non-overlapping “</a:t>
            </a:r>
            <a:r>
              <a:rPr lang="en" dirty="0" err="1">
                <a:solidFill>
                  <a:schemeClr val="dk1"/>
                </a:solidFill>
              </a:rPr>
              <a:t>unioned</a:t>
            </a:r>
            <a:r>
              <a:rPr lang="en" dirty="0">
                <a:solidFill>
                  <a:schemeClr val="dk1"/>
                </a:solidFill>
              </a:rPr>
              <a:t>” exons. Gene and exon counts were compiled into per-project tables and </a:t>
            </a:r>
            <a:r>
              <a:rPr lang="en" dirty="0" err="1">
                <a:solidFill>
                  <a:schemeClr val="dk1"/>
                </a:solidFill>
              </a:rPr>
              <a:t>RangedSummarizedExperiment</a:t>
            </a:r>
            <a:r>
              <a:rPr lang="en" dirty="0">
                <a:solidFill>
                  <a:schemeClr val="dk1"/>
                </a:solidFill>
              </a:rPr>
              <a:t> objects. We expanded the tables with several metadata columns containing, for example, read count, paired-end status, GEO accession, and the tissue type as predicted by the SHARQ beta resource (http://</a:t>
            </a:r>
            <a:r>
              <a:rPr lang="en" dirty="0" err="1">
                <a:solidFill>
                  <a:schemeClr val="dk1"/>
                </a:solidFill>
              </a:rPr>
              <a:t>www.cs.cmu.edu</a:t>
            </a:r>
            <a:r>
              <a:rPr lang="en" dirty="0">
                <a:solidFill>
                  <a:schemeClr val="dk1"/>
                </a:solidFill>
              </a:rPr>
              <a:t>/~</a:t>
            </a:r>
            <a:r>
              <a:rPr lang="en" dirty="0" err="1">
                <a:solidFill>
                  <a:schemeClr val="dk1"/>
                </a:solidFill>
              </a:rPr>
              <a:t>ckingsf</a:t>
            </a:r>
            <a:r>
              <a:rPr lang="en" dirty="0">
                <a:solidFill>
                  <a:schemeClr val="dk1"/>
                </a:solidFill>
              </a:rPr>
              <a:t>/</a:t>
            </a:r>
            <a:r>
              <a:rPr lang="en" dirty="0" err="1">
                <a:solidFill>
                  <a:schemeClr val="dk1"/>
                </a:solidFill>
              </a:rPr>
              <a:t>sharq</a:t>
            </a:r>
            <a:r>
              <a:rPr lang="en" dirty="0">
                <a:solidFill>
                  <a:schemeClr val="dk1"/>
                </a:solidFill>
              </a:rPr>
              <a:t>/). For </a:t>
            </a:r>
            <a:r>
              <a:rPr lang="en" dirty="0" err="1">
                <a:solidFill>
                  <a:schemeClr val="dk1"/>
                </a:solidFill>
              </a:rPr>
              <a:t>GTEx</a:t>
            </a:r>
            <a:r>
              <a:rPr lang="en" dirty="0">
                <a:solidFill>
                  <a:schemeClr val="dk1"/>
                </a:solidFill>
              </a:rPr>
              <a:t> and TCGA we included metadata provided by the respective projects as detailed in the counting genes and exons.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94b85a43af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94b85a43af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a0bada63e2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a0bada63e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94b85a43af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94b85a43af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6318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5a4e4a1d6c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5a4e4a1d6c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52bb2f23dc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52bb2f23dc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Workspace is the main building block of </a:t>
            </a:r>
            <a:r>
              <a:rPr lang="en" dirty="0" err="1"/>
              <a:t>AnVIL</a:t>
            </a:r>
            <a:r>
              <a:rPr lang="en" dirty="0"/>
              <a:t> - delivers data, workflows, and interactive analysis interfaces, or some/all of them. This list here is some of the workspaces available in </a:t>
            </a:r>
            <a:r>
              <a:rPr lang="en" dirty="0" err="1"/>
              <a:t>AnVIL</a:t>
            </a:r>
            <a:r>
              <a:rPr lang="en"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As I just mentioned, workflow is one of the main components of workspace. Workflows are a series of… </a:t>
            </a:r>
            <a:endParaRPr dirty="0"/>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5a4e4a1d6c_0_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5a4e4a1d6c_0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Even though </a:t>
            </a:r>
            <a:r>
              <a:rPr lang="en" dirty="0" err="1">
                <a:solidFill>
                  <a:schemeClr val="dk1"/>
                </a:solidFill>
              </a:rPr>
              <a:t>AnVIL</a:t>
            </a:r>
            <a:r>
              <a:rPr lang="en" dirty="0">
                <a:solidFill>
                  <a:schemeClr val="dk1"/>
                </a:solidFill>
              </a:rPr>
              <a:t> offers a lot of benefit supporting data and resource sharing</a:t>
            </a:r>
            <a:r>
              <a:rPr lang="en" dirty="0"/>
              <a:t>, there are a few weaknesses, and we are motivated to create </a:t>
            </a:r>
            <a:r>
              <a:rPr lang="en" dirty="0" err="1"/>
              <a:t>AnVILWorkflow</a:t>
            </a:r>
            <a:r>
              <a:rPr lang="en" dirty="0"/>
              <a:t> package to improve those weaknesses and provide additional R-user-friendly features.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err="1"/>
              <a:t>AnVIL’s</a:t>
            </a:r>
            <a:r>
              <a:rPr lang="en" dirty="0"/>
              <a:t> GUI is potentially intuitive, but still require some learning. Also, GUI tends to be less efficient and slower than a command line interface, especially for bulk analyses.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err="1"/>
              <a:t>AnVILWorkflow</a:t>
            </a:r>
            <a:r>
              <a:rPr lang="en" dirty="0"/>
              <a:t> package enables to run </a:t>
            </a:r>
            <a:r>
              <a:rPr lang="en" dirty="0" err="1"/>
              <a:t>AnVIL</a:t>
            </a:r>
            <a:r>
              <a:rPr lang="en" dirty="0"/>
              <a:t>-implemented workflows from a local R session, provides interpretable and actionable error messaging, and make it possible to incorporate upstream batch analysis using non-R-based tools into a </a:t>
            </a:r>
            <a:r>
              <a:rPr lang="en" dirty="0" err="1"/>
              <a:t>rmarkdown</a:t>
            </a:r>
            <a:r>
              <a:rPr lang="en" dirty="0"/>
              <a:t> file for improved reproducibility.</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9c5c5d0ecc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9c5c5d0ec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7240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9c5c5d0ec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9c5c5d0ec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76838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182" indent="0" algn="ctr">
              <a:buNone/>
              <a:defRPr>
                <a:solidFill>
                  <a:schemeClr val="tx1">
                    <a:tint val="75000"/>
                  </a:schemeClr>
                </a:solidFill>
              </a:defRPr>
            </a:lvl2pPr>
            <a:lvl3pPr marL="914364"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1"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149B-02C2-486B-B75A-700EE76F6898}" type="slidenum">
              <a:rPr lang="en-US" smtClean="0"/>
              <a:pPr/>
              <a:t>‹#›</a:t>
            </a:fld>
            <a:endParaRPr lang="en-US"/>
          </a:p>
        </p:txBody>
      </p:sp>
      <p:pic>
        <p:nvPicPr>
          <p:cNvPr id="7" name="Picture 2" descr="C:\Documents and Settings\eblis\My Documents\My Dropbox\working\website_09-27-09\logo_side_big-02.png"/>
          <p:cNvPicPr>
            <a:picLocks noChangeAspect="1" noChangeArrowheads="1"/>
          </p:cNvPicPr>
          <p:nvPr userDrawn="1"/>
        </p:nvPicPr>
        <p:blipFill>
          <a:blip r:embed="rId2" cstate="print"/>
          <a:srcRect/>
          <a:stretch>
            <a:fillRect/>
          </a:stretch>
        </p:blipFill>
        <p:spPr bwMode="auto">
          <a:xfrm>
            <a:off x="4" y="800102"/>
            <a:ext cx="1580593" cy="2374016"/>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C242F-20BE-4F6C-ABA6-9DCC8641EF6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182" indent="0">
              <a:buNone/>
              <a:defRPr sz="1800">
                <a:solidFill>
                  <a:schemeClr val="tx1">
                    <a:tint val="75000"/>
                  </a:schemeClr>
                </a:solidFill>
              </a:defRPr>
            </a:lvl2pPr>
            <a:lvl3pPr marL="914364" indent="0">
              <a:buNone/>
              <a:defRPr sz="1600">
                <a:solidFill>
                  <a:schemeClr val="tx1">
                    <a:tint val="75000"/>
                  </a:schemeClr>
                </a:solidFill>
              </a:defRPr>
            </a:lvl3pPr>
            <a:lvl4pPr marL="1371545" indent="0">
              <a:buNone/>
              <a:defRPr sz="1400">
                <a:solidFill>
                  <a:schemeClr val="tx1">
                    <a:tint val="75000"/>
                  </a:schemeClr>
                </a:solidFill>
              </a:defRPr>
            </a:lvl4pPr>
            <a:lvl5pPr marL="1828727" indent="0">
              <a:buNone/>
              <a:defRPr sz="1400">
                <a:solidFill>
                  <a:schemeClr val="tx1">
                    <a:tint val="75000"/>
                  </a:schemeClr>
                </a:solidFill>
              </a:defRPr>
            </a:lvl5pPr>
            <a:lvl6pPr marL="2285909" indent="0">
              <a:buNone/>
              <a:defRPr sz="1400">
                <a:solidFill>
                  <a:schemeClr val="tx1">
                    <a:tint val="75000"/>
                  </a:schemeClr>
                </a:solidFill>
              </a:defRPr>
            </a:lvl6pPr>
            <a:lvl7pPr marL="2743091" indent="0">
              <a:buNone/>
              <a:defRPr sz="1400">
                <a:solidFill>
                  <a:schemeClr val="tx1">
                    <a:tint val="75000"/>
                  </a:schemeClr>
                </a:solidFill>
              </a:defRPr>
            </a:lvl7pPr>
            <a:lvl8pPr marL="3200272" indent="0">
              <a:buNone/>
              <a:defRPr sz="1400">
                <a:solidFill>
                  <a:schemeClr val="tx1">
                    <a:tint val="75000"/>
                  </a:schemeClr>
                </a:solidFill>
              </a:defRPr>
            </a:lvl8pPr>
            <a:lvl9pPr marL="3657454"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28DF25-4D78-4EE5-B83E-1582EE0F26B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2"/>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200152"/>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78028-53A3-436D-A27A-F8121CE5CB6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182" indent="0">
              <a:buNone/>
              <a:defRPr sz="2000" b="1"/>
            </a:lvl2pPr>
            <a:lvl3pPr marL="914364" indent="0">
              <a:buNone/>
              <a:defRPr sz="1800" b="1"/>
            </a:lvl3pPr>
            <a:lvl4pPr marL="1371545" indent="0">
              <a:buNone/>
              <a:defRPr sz="1600" b="1"/>
            </a:lvl4pPr>
            <a:lvl5pPr marL="1828727" indent="0">
              <a:buNone/>
              <a:defRPr sz="1600" b="1"/>
            </a:lvl5pPr>
            <a:lvl6pPr marL="2285909" indent="0">
              <a:buNone/>
              <a:defRPr sz="1600" b="1"/>
            </a:lvl6pPr>
            <a:lvl7pPr marL="2743091"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151335"/>
            <a:ext cx="4041775" cy="479822"/>
          </a:xfrm>
        </p:spPr>
        <p:txBody>
          <a:bodyPr anchor="b"/>
          <a:lstStyle>
            <a:lvl1pPr marL="0" indent="0">
              <a:buNone/>
              <a:defRPr sz="2400" b="1"/>
            </a:lvl1pPr>
            <a:lvl2pPr marL="457182" indent="0">
              <a:buNone/>
              <a:defRPr sz="2000" b="1"/>
            </a:lvl2pPr>
            <a:lvl3pPr marL="914364" indent="0">
              <a:buNone/>
              <a:defRPr sz="1800" b="1"/>
            </a:lvl3pPr>
            <a:lvl4pPr marL="1371545" indent="0">
              <a:buNone/>
              <a:defRPr sz="1600" b="1"/>
            </a:lvl4pPr>
            <a:lvl5pPr marL="1828727" indent="0">
              <a:buNone/>
              <a:defRPr sz="1600" b="1"/>
            </a:lvl5pPr>
            <a:lvl6pPr marL="2285909" indent="0">
              <a:buNone/>
              <a:defRPr sz="1600" b="1"/>
            </a:lvl6pPr>
            <a:lvl7pPr marL="2743091"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9"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A866A2-4A13-452A-BF39-D3C45AC49E0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4A0C0E-8BF0-4721-8DD7-E8BD3CE0AC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0AFAAF-5E43-4A48-94B3-8EA7C994412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8"/>
            <a:ext cx="3008313" cy="3518297"/>
          </a:xfrm>
        </p:spPr>
        <p:txBody>
          <a:bodyPr/>
          <a:lstStyle>
            <a:lvl1pPr marL="0" indent="0">
              <a:buNone/>
              <a:defRPr sz="1400"/>
            </a:lvl1pPr>
            <a:lvl2pPr marL="457182" indent="0">
              <a:buNone/>
              <a:defRPr sz="1200"/>
            </a:lvl2pPr>
            <a:lvl3pPr marL="914364" indent="0">
              <a:buNone/>
              <a:defRPr sz="1000"/>
            </a:lvl3pPr>
            <a:lvl4pPr marL="1371545" indent="0">
              <a:buNone/>
              <a:defRPr sz="900"/>
            </a:lvl4pPr>
            <a:lvl5pPr marL="1828727" indent="0">
              <a:buNone/>
              <a:defRPr sz="900"/>
            </a:lvl5pPr>
            <a:lvl6pPr marL="2285909" indent="0">
              <a:buNone/>
              <a:defRPr sz="900"/>
            </a:lvl6pPr>
            <a:lvl7pPr marL="2743091" indent="0">
              <a:buNone/>
              <a:defRPr sz="900"/>
            </a:lvl7pPr>
            <a:lvl8pPr marL="3200272" indent="0">
              <a:buNone/>
              <a:defRPr sz="900"/>
            </a:lvl8pPr>
            <a:lvl9pPr marL="3657454"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9619D-5089-4F3D-97DE-E3F82B8AA18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182" indent="0">
              <a:buNone/>
              <a:defRPr sz="2800"/>
            </a:lvl2pPr>
            <a:lvl3pPr marL="914364" indent="0">
              <a:buNone/>
              <a:defRPr sz="2400"/>
            </a:lvl3pPr>
            <a:lvl4pPr marL="1371545" indent="0">
              <a:buNone/>
              <a:defRPr sz="2000"/>
            </a:lvl4pPr>
            <a:lvl5pPr marL="1828727" indent="0">
              <a:buNone/>
              <a:defRPr sz="2000"/>
            </a:lvl5pPr>
            <a:lvl6pPr marL="2285909" indent="0">
              <a:buNone/>
              <a:defRPr sz="2000"/>
            </a:lvl6pPr>
            <a:lvl7pPr marL="2743091" indent="0">
              <a:buNone/>
              <a:defRPr sz="2000"/>
            </a:lvl7pPr>
            <a:lvl8pPr marL="3200272" indent="0">
              <a:buNone/>
              <a:defRPr sz="2000"/>
            </a:lvl8pPr>
            <a:lvl9pPr marL="3657454"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182" indent="0">
              <a:buNone/>
              <a:defRPr sz="1200"/>
            </a:lvl2pPr>
            <a:lvl3pPr marL="914364" indent="0">
              <a:buNone/>
              <a:defRPr sz="1000"/>
            </a:lvl3pPr>
            <a:lvl4pPr marL="1371545" indent="0">
              <a:buNone/>
              <a:defRPr sz="900"/>
            </a:lvl4pPr>
            <a:lvl5pPr marL="1828727" indent="0">
              <a:buNone/>
              <a:defRPr sz="900"/>
            </a:lvl5pPr>
            <a:lvl6pPr marL="2285909" indent="0">
              <a:buNone/>
              <a:defRPr sz="900"/>
            </a:lvl6pPr>
            <a:lvl7pPr marL="2743091" indent="0">
              <a:buNone/>
              <a:defRPr sz="900"/>
            </a:lvl7pPr>
            <a:lvl8pPr marL="3200272" indent="0">
              <a:buNone/>
              <a:defRPr sz="900"/>
            </a:lvl8pPr>
            <a:lvl9pPr marL="3657454"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6CD016-BBD3-4D5D-B93B-73EA93A3DC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20DF7C-E865-4281-945D-9857A56130D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CD48-F7F9-4128-AFA7-3B5B14F364D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2400"/>
          </a:p>
        </p:txBody>
      </p:sp>
      <p:sp>
        <p:nvSpPr>
          <p:cNvPr id="20" name="Google Shape;20;p4"/>
          <p:cNvSpPr txBox="1">
            <a:spLocks noGrp="1"/>
          </p:cNvSpPr>
          <p:nvPr>
            <p:ph type="title"/>
          </p:nvPr>
        </p:nvSpPr>
        <p:spPr>
          <a:xfrm>
            <a:off x="311700" y="445026"/>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6"/>
            <a:ext cx="8520600" cy="3416400"/>
          </a:xfrm>
          <a:prstGeom prst="rect">
            <a:avLst/>
          </a:prstGeom>
        </p:spPr>
        <p:txBody>
          <a:bodyPr spcFirstLastPara="1" wrap="square" lIns="91425" tIns="91425" rIns="91425" bIns="91425" anchor="t" anchorCtr="0">
            <a:noAutofit/>
          </a:bodyPr>
          <a:lstStyle>
            <a:lvl1pPr marL="457182" lvl="0" indent="-342887">
              <a:spcBef>
                <a:spcPts val="0"/>
              </a:spcBef>
              <a:spcAft>
                <a:spcPts val="0"/>
              </a:spcAft>
              <a:buSzPts val="1800"/>
              <a:buChar char="●"/>
              <a:defRPr/>
            </a:lvl1pPr>
            <a:lvl2pPr marL="914364" lvl="1" indent="-317488">
              <a:spcBef>
                <a:spcPts val="1600"/>
              </a:spcBef>
              <a:spcAft>
                <a:spcPts val="0"/>
              </a:spcAft>
              <a:buSzPts val="1400"/>
              <a:buChar char="○"/>
              <a:defRPr/>
            </a:lvl2pPr>
            <a:lvl3pPr marL="1371545" lvl="2" indent="-317488">
              <a:spcBef>
                <a:spcPts val="1600"/>
              </a:spcBef>
              <a:spcAft>
                <a:spcPts val="0"/>
              </a:spcAft>
              <a:buSzPts val="1400"/>
              <a:buChar char="■"/>
              <a:defRPr/>
            </a:lvl3pPr>
            <a:lvl4pPr marL="1828727" lvl="3" indent="-317488">
              <a:spcBef>
                <a:spcPts val="1600"/>
              </a:spcBef>
              <a:spcAft>
                <a:spcPts val="0"/>
              </a:spcAft>
              <a:buSzPts val="1400"/>
              <a:buChar char="●"/>
              <a:defRPr/>
            </a:lvl4pPr>
            <a:lvl5pPr marL="2285909" lvl="4" indent="-317488">
              <a:spcBef>
                <a:spcPts val="1600"/>
              </a:spcBef>
              <a:spcAft>
                <a:spcPts val="0"/>
              </a:spcAft>
              <a:buSzPts val="1400"/>
              <a:buChar char="○"/>
              <a:defRPr/>
            </a:lvl5pPr>
            <a:lvl6pPr marL="2743091" lvl="5" indent="-317488">
              <a:spcBef>
                <a:spcPts val="1600"/>
              </a:spcBef>
              <a:spcAft>
                <a:spcPts val="0"/>
              </a:spcAft>
              <a:buSzPts val="1400"/>
              <a:buChar char="■"/>
              <a:defRPr/>
            </a:lvl6pPr>
            <a:lvl7pPr marL="3200272" lvl="6" indent="-317488">
              <a:spcBef>
                <a:spcPts val="1600"/>
              </a:spcBef>
              <a:spcAft>
                <a:spcPts val="0"/>
              </a:spcAft>
              <a:buSzPts val="1400"/>
              <a:buChar char="●"/>
              <a:defRPr/>
            </a:lvl7pPr>
            <a:lvl8pPr marL="3657454" lvl="7" indent="-317488">
              <a:spcBef>
                <a:spcPts val="1600"/>
              </a:spcBef>
              <a:spcAft>
                <a:spcPts val="0"/>
              </a:spcAft>
              <a:buSzPts val="1400"/>
              <a:buChar char="○"/>
              <a:defRPr/>
            </a:lvl8pPr>
            <a:lvl9pPr marL="4114636" lvl="8" indent="-317488">
              <a:spcBef>
                <a:spcPts val="1600"/>
              </a:spcBef>
              <a:spcAft>
                <a:spcPts val="1600"/>
              </a:spcAft>
              <a:buSzPts val="1400"/>
              <a:buChar char="■"/>
              <a:defRPr/>
            </a:lvl9pPr>
          </a:lstStyle>
          <a:p>
            <a:endParaRPr/>
          </a:p>
        </p:txBody>
      </p:sp>
      <p:sp>
        <p:nvSpPr>
          <p:cNvPr id="22" name="Google Shape;22;p4"/>
          <p:cNvSpPr txBox="1">
            <a:spLocks noGrp="1"/>
          </p:cNvSpPr>
          <p:nvPr>
            <p:ph type="sldNum" idx="12"/>
          </p:nvPr>
        </p:nvSpPr>
        <p:spPr>
          <a:xfrm>
            <a:off x="8472458" y="4663218"/>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spcBef>
                <a:spcPts val="0"/>
              </a:spcBef>
              <a:spcAft>
                <a:spcPts val="0"/>
              </a:spcAft>
            </a:pPr>
            <a:fld id="{00000000-1234-1234-1234-123412341234}" type="slidenum">
              <a:rPr lang="en" smtClean="0"/>
              <a:pPr>
                <a:spcBef>
                  <a:spcPts val="0"/>
                </a:spcBef>
                <a:spcAft>
                  <a:spcPts val="0"/>
                </a:spcAft>
              </a:pPr>
              <a:t>‹#›</a:t>
            </a:fld>
            <a:endParaRPr lang="en"/>
          </a:p>
        </p:txBody>
      </p:sp>
    </p:spTree>
    <p:extLst>
      <p:ext uri="{BB962C8B-B14F-4D97-AF65-F5344CB8AC3E}">
        <p14:creationId xmlns:p14="http://schemas.microsoft.com/office/powerpoint/2010/main" val="1134548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alphaModFix amt="98000"/>
            <a:lum contrast="100000"/>
          </a:blip>
          <a:srcRect/>
          <a:stretch>
            <a:fillRect r="90000" b="85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2"/>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6"/>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4767266"/>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6"/>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107311-B00B-4602-9329-240EBA90A1D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defTabSz="914364" rtl="0" eaLnBrk="1" latinLnBrk="0" hangingPunct="1">
        <a:spcBef>
          <a:spcPct val="0"/>
        </a:spcBef>
        <a:buNone/>
        <a:defRPr sz="4400" kern="1200">
          <a:solidFill>
            <a:schemeClr val="tx1"/>
          </a:solidFill>
          <a:latin typeface="+mj-lt"/>
          <a:ea typeface="+mj-ea"/>
          <a:cs typeface="+mj-cs"/>
        </a:defRPr>
      </a:lvl1pPr>
    </p:titleStyle>
    <p:bodyStyle>
      <a:lvl1pPr marL="342887" indent="-342887" algn="l" defTabSz="914364"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20" indent="-285738" algn="l" defTabSz="914364"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54" indent="-228590" algn="l" defTabSz="914364"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36" indent="-228590" algn="l" defTabSz="914364"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17" indent="-228590" algn="l" defTabSz="914364"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499" indent="-228590" algn="l" defTabSz="91436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0" algn="l" defTabSz="91436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0" algn="l" defTabSz="91436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4" indent="-228590" algn="l" defTabSz="91436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4" rtl="0" eaLnBrk="1" latinLnBrk="0" hangingPunct="1">
        <a:defRPr sz="1800" kern="1200">
          <a:solidFill>
            <a:schemeClr val="tx1"/>
          </a:solidFill>
          <a:latin typeface="+mn-lt"/>
          <a:ea typeface="+mn-ea"/>
          <a:cs typeface="+mn-cs"/>
        </a:defRPr>
      </a:lvl1pPr>
      <a:lvl2pPr marL="457182" algn="l" defTabSz="914364" rtl="0" eaLnBrk="1" latinLnBrk="0" hangingPunct="1">
        <a:defRPr sz="1800" kern="1200">
          <a:solidFill>
            <a:schemeClr val="tx1"/>
          </a:solidFill>
          <a:latin typeface="+mn-lt"/>
          <a:ea typeface="+mn-ea"/>
          <a:cs typeface="+mn-cs"/>
        </a:defRPr>
      </a:lvl2pPr>
      <a:lvl3pPr marL="914364" algn="l" defTabSz="914364" rtl="0" eaLnBrk="1" latinLnBrk="0" hangingPunct="1">
        <a:defRPr sz="1800" kern="1200">
          <a:solidFill>
            <a:schemeClr val="tx1"/>
          </a:solidFill>
          <a:latin typeface="+mn-lt"/>
          <a:ea typeface="+mn-ea"/>
          <a:cs typeface="+mn-cs"/>
        </a:defRPr>
      </a:lvl3pPr>
      <a:lvl4pPr marL="1371545" algn="l" defTabSz="914364" rtl="0" eaLnBrk="1" latinLnBrk="0" hangingPunct="1">
        <a:defRPr sz="1800" kern="1200">
          <a:solidFill>
            <a:schemeClr val="tx1"/>
          </a:solidFill>
          <a:latin typeface="+mn-lt"/>
          <a:ea typeface="+mn-ea"/>
          <a:cs typeface="+mn-cs"/>
        </a:defRPr>
      </a:lvl4pPr>
      <a:lvl5pPr marL="1828727" algn="l" defTabSz="914364" rtl="0" eaLnBrk="1" latinLnBrk="0" hangingPunct="1">
        <a:defRPr sz="1800" kern="1200">
          <a:solidFill>
            <a:schemeClr val="tx1"/>
          </a:solidFill>
          <a:latin typeface="+mn-lt"/>
          <a:ea typeface="+mn-ea"/>
          <a:cs typeface="+mn-cs"/>
        </a:defRPr>
      </a:lvl5pPr>
      <a:lvl6pPr marL="2285909" algn="l" defTabSz="914364" rtl="0" eaLnBrk="1" latinLnBrk="0" hangingPunct="1">
        <a:defRPr sz="1800" kern="1200">
          <a:solidFill>
            <a:schemeClr val="tx1"/>
          </a:solidFill>
          <a:latin typeface="+mn-lt"/>
          <a:ea typeface="+mn-ea"/>
          <a:cs typeface="+mn-cs"/>
        </a:defRPr>
      </a:lvl6pPr>
      <a:lvl7pPr marL="2743091" algn="l" defTabSz="914364" rtl="0" eaLnBrk="1" latinLnBrk="0" hangingPunct="1">
        <a:defRPr sz="1800" kern="1200">
          <a:solidFill>
            <a:schemeClr val="tx1"/>
          </a:solidFill>
          <a:latin typeface="+mn-lt"/>
          <a:ea typeface="+mn-ea"/>
          <a:cs typeface="+mn-cs"/>
        </a:defRPr>
      </a:lvl7pPr>
      <a:lvl8pPr marL="3200272" algn="l" defTabSz="914364" rtl="0" eaLnBrk="1" latinLnBrk="0" hangingPunct="1">
        <a:defRPr sz="1800" kern="1200">
          <a:solidFill>
            <a:schemeClr val="tx1"/>
          </a:solidFill>
          <a:latin typeface="+mn-lt"/>
          <a:ea typeface="+mn-ea"/>
          <a:cs typeface="+mn-cs"/>
        </a:defRPr>
      </a:lvl8pPr>
      <a:lvl9pPr marL="3657454" algn="l" defTabSz="91436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bioconductor.org/packages/SingleCellMultiModal/" TargetMode="External"/><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hyperlink" Target="https://www.bioconductor.org/packages/SingleCellMultiModal/" TargetMode="External"/><Relationship Id="rId2" Type="http://schemas.openxmlformats.org/officeDocument/2006/relationships/image" Target="../media/image11.tif"/><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8.jpeg"/><Relationship Id="rId4" Type="http://schemas.openxmlformats.org/officeDocument/2006/relationships/hyperlink" Target="https://www.bioconductor.org/packages/SingleCellMultiModa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bioconductor.org/packages/GenomicSuperSignature/"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bioconductor.org/packages/GenomicSuperSignatur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bioconductor.org/packages/GenomicSuperSignatur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8.jpeg"/><Relationship Id="rId4" Type="http://schemas.openxmlformats.org/officeDocument/2006/relationships/hyperlink" Target="https://www.bioconductor.org/packages/GenomicSuperSignature/"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8.jpeg"/><Relationship Id="rId4" Type="http://schemas.openxmlformats.org/officeDocument/2006/relationships/hyperlink" Target="https://www.bioconductor.org/packages/GenomicSuperSignatur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hyperlink" Target="https://anvil.terra.bio/" TargetMode="External"/><Relationship Id="rId5" Type="http://schemas.openxmlformats.org/officeDocument/2006/relationships/hyperlink" Target="https://anvilproject.org/" TargetMode="Externa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hyperlink" Target="https://anvil.terra.bio/" TargetMode="External"/><Relationship Id="rId5" Type="http://schemas.openxmlformats.org/officeDocument/2006/relationships/hyperlink" Target="https://anvilproject.org/" TargetMode="Externa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hyperlink" Target="https://www.bioconductor.org/packages/AnVILWorkflow/"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png"/><Relationship Id="rId2" Type="http://schemas.openxmlformats.org/officeDocument/2006/relationships/image" Target="../media/image25.jpeg"/><Relationship Id="rId1" Type="http://schemas.openxmlformats.org/officeDocument/2006/relationships/slideLayout" Target="../slideLayouts/slideLayout3.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51744"/>
            <a:ext cx="7772400" cy="2507880"/>
          </a:xfrm>
        </p:spPr>
        <p:txBody>
          <a:bodyPr>
            <a:normAutofit/>
          </a:bodyPr>
          <a:lstStyle/>
          <a:p>
            <a:r>
              <a:rPr lang="en-US" sz="2800" dirty="0"/>
              <a:t>Databases and methods for efficient learning from published data in cancer genomics</a:t>
            </a:r>
            <a:br>
              <a:rPr lang="en-US" sz="2800" dirty="0"/>
            </a:br>
            <a:br>
              <a:rPr lang="en-US" sz="2800" dirty="0"/>
            </a:br>
            <a:r>
              <a:rPr lang="en-US" sz="2800" dirty="0" err="1"/>
              <a:t>BITS@Povo</a:t>
            </a:r>
            <a:br>
              <a:rPr lang="en-US" sz="2800" dirty="0"/>
            </a:br>
            <a:r>
              <a:rPr lang="en-US" sz="1400" dirty="0"/>
              <a:t>June 14, 2024</a:t>
            </a:r>
          </a:p>
        </p:txBody>
      </p:sp>
      <p:sp>
        <p:nvSpPr>
          <p:cNvPr id="3" name="Subtitle 2"/>
          <p:cNvSpPr>
            <a:spLocks noGrp="1"/>
          </p:cNvSpPr>
          <p:nvPr>
            <p:ph type="subTitle" idx="1"/>
          </p:nvPr>
        </p:nvSpPr>
        <p:spPr>
          <a:xfrm>
            <a:off x="1181100" y="2318470"/>
            <a:ext cx="7086600" cy="1116708"/>
          </a:xfrm>
        </p:spPr>
        <p:txBody>
          <a:bodyPr>
            <a:normAutofit lnSpcReduction="10000"/>
          </a:bodyPr>
          <a:lstStyle/>
          <a:p>
            <a:r>
              <a:rPr lang="en-US" sz="2000" dirty="0"/>
              <a:t>Levi Waldron</a:t>
            </a:r>
          </a:p>
          <a:p>
            <a:r>
              <a:rPr lang="en-US" sz="2000" dirty="0"/>
              <a:t>City University of New York</a:t>
            </a:r>
          </a:p>
          <a:p>
            <a:r>
              <a:rPr lang="en-US" sz="2000" dirty="0"/>
              <a:t>University of Trento, Department CIBIO</a:t>
            </a:r>
          </a:p>
        </p:txBody>
      </p:sp>
      <p:pic>
        <p:nvPicPr>
          <p:cNvPr id="10" name="Picture 9">
            <a:extLst>
              <a:ext uri="{FF2B5EF4-FFF2-40B4-BE49-F238E27FC236}">
                <a16:creationId xmlns:a16="http://schemas.microsoft.com/office/drawing/2014/main" id="{8798A49C-B0AD-7C45-ADBC-F33D37E0AF3B}"/>
              </a:ext>
            </a:extLst>
          </p:cNvPr>
          <p:cNvPicPr>
            <a:picLocks noChangeAspect="1"/>
          </p:cNvPicPr>
          <p:nvPr/>
        </p:nvPicPr>
        <p:blipFill>
          <a:blip r:embed="rId3"/>
          <a:stretch>
            <a:fillRect/>
          </a:stretch>
        </p:blipFill>
        <p:spPr>
          <a:xfrm>
            <a:off x="7985759" y="4474017"/>
            <a:ext cx="1158241" cy="673630"/>
          </a:xfrm>
          <a:prstGeom prst="rect">
            <a:avLst/>
          </a:prstGeom>
        </p:spPr>
      </p:pic>
      <p:pic>
        <p:nvPicPr>
          <p:cNvPr id="12" name="Picture 11">
            <a:extLst>
              <a:ext uri="{FF2B5EF4-FFF2-40B4-BE49-F238E27FC236}">
                <a16:creationId xmlns:a16="http://schemas.microsoft.com/office/drawing/2014/main" id="{6B0F47EC-ECE8-7C43-9E3F-54667EF9EB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637870"/>
            <a:ext cx="3084577" cy="491958"/>
          </a:xfrm>
          <a:prstGeom prst="rect">
            <a:avLst/>
          </a:prstGeom>
        </p:spPr>
      </p:pic>
      <p:sp>
        <p:nvSpPr>
          <p:cNvPr id="14" name="TextBox 13">
            <a:extLst>
              <a:ext uri="{FF2B5EF4-FFF2-40B4-BE49-F238E27FC236}">
                <a16:creationId xmlns:a16="http://schemas.microsoft.com/office/drawing/2014/main" id="{7EA8DBA2-7126-CF48-AEC0-669294A9F6A6}"/>
              </a:ext>
            </a:extLst>
          </p:cNvPr>
          <p:cNvSpPr txBox="1"/>
          <p:nvPr/>
        </p:nvSpPr>
        <p:spPr>
          <a:xfrm>
            <a:off x="300788" y="3558828"/>
            <a:ext cx="8847223" cy="954107"/>
          </a:xfrm>
          <a:prstGeom prst="rect">
            <a:avLst/>
          </a:prstGeom>
          <a:noFill/>
        </p:spPr>
        <p:txBody>
          <a:bodyPr wrap="square" rtlCol="0">
            <a:spAutoFit/>
          </a:bodyPr>
          <a:lstStyle/>
          <a:p>
            <a:r>
              <a:rPr lang="en-US" sz="1400" b="1" dirty="0"/>
              <a:t>NCI:	</a:t>
            </a:r>
            <a:r>
              <a:rPr lang="en-US" sz="1400" dirty="0"/>
              <a:t>R01 CA230551</a:t>
            </a:r>
            <a:r>
              <a:rPr lang="en-US" sz="1400" i="1" dirty="0"/>
              <a:t>   Exploiting public metagenomic data to uncover cancer-microbiome relationships</a:t>
            </a:r>
          </a:p>
          <a:p>
            <a:r>
              <a:rPr lang="en-US" sz="1400" b="1" dirty="0"/>
              <a:t>NCI</a:t>
            </a:r>
            <a:r>
              <a:rPr lang="en-US" sz="1400" b="1" i="1" dirty="0"/>
              <a:t>:	</a:t>
            </a:r>
            <a:r>
              <a:rPr lang="en-US" sz="1400" i="1" dirty="0"/>
              <a:t>U24 CA180996   Cancer Genomics: Integrative and Scalable Solutions in R/Bioconductor</a:t>
            </a:r>
          </a:p>
          <a:p>
            <a:r>
              <a:rPr lang="en-US" sz="1400" b="1" dirty="0"/>
              <a:t>NHGRI:</a:t>
            </a:r>
            <a:r>
              <a:rPr lang="en-US" sz="1400" i="1" dirty="0"/>
              <a:t>	U24 HG010263   Implementing the genomic data science analysis, visualization, and informatics</a:t>
            </a:r>
          </a:p>
          <a:p>
            <a:r>
              <a:rPr lang="en-US" sz="1400" i="1" dirty="0"/>
              <a:t>		           lab-space (ANVIL)</a:t>
            </a:r>
            <a:endParaRPr lang="en-US" sz="1400" dirty="0"/>
          </a:p>
        </p:txBody>
      </p:sp>
      <p:pic>
        <p:nvPicPr>
          <p:cNvPr id="12290" name="Picture 2" descr="University of Trento">
            <a:extLst>
              <a:ext uri="{FF2B5EF4-FFF2-40B4-BE49-F238E27FC236}">
                <a16:creationId xmlns:a16="http://schemas.microsoft.com/office/drawing/2014/main" id="{307B5F06-CDE5-476B-C0D2-CBB1D2BCC6F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71" t="17930" b="19713"/>
          <a:stretch/>
        </p:blipFill>
        <p:spPr bwMode="auto">
          <a:xfrm>
            <a:off x="4325914" y="4467832"/>
            <a:ext cx="1061632" cy="6619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11634"/>
    </mc:Choice>
    <mc:Fallback xmlns="">
      <p:transition spd="slow" advTm="116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54D5139-AA9D-A69B-D485-0D1BF28484E1}"/>
              </a:ext>
            </a:extLst>
          </p:cNvPr>
          <p:cNvSpPr>
            <a:spLocks noGrp="1"/>
          </p:cNvSpPr>
          <p:nvPr>
            <p:ph type="title"/>
          </p:nvPr>
        </p:nvSpPr>
        <p:spPr/>
        <p:txBody>
          <a:bodyPr>
            <a:noAutofit/>
          </a:bodyPr>
          <a:lstStyle/>
          <a:p>
            <a:r>
              <a:rPr lang="en-US" sz="3200" dirty="0"/>
              <a:t>Accelerating growth of public ‘omics data </a:t>
            </a:r>
          </a:p>
        </p:txBody>
      </p:sp>
      <p:sp>
        <p:nvSpPr>
          <p:cNvPr id="4" name="Slide Number Placeholder 3">
            <a:extLst>
              <a:ext uri="{FF2B5EF4-FFF2-40B4-BE49-F238E27FC236}">
                <a16:creationId xmlns:a16="http://schemas.microsoft.com/office/drawing/2014/main" id="{4652D50B-5772-18A5-E664-A17A9D6C7B5A}"/>
              </a:ext>
            </a:extLst>
          </p:cNvPr>
          <p:cNvSpPr>
            <a:spLocks noGrp="1"/>
          </p:cNvSpPr>
          <p:nvPr>
            <p:ph type="sldNum" sz="quarter" idx="12"/>
          </p:nvPr>
        </p:nvSpPr>
        <p:spPr/>
        <p:txBody>
          <a:bodyPr/>
          <a:lstStyle/>
          <a:p>
            <a:fld id="{7228DF25-4D78-4EE5-B83E-1582EE0F26BA}" type="slidenum">
              <a:rPr lang="en-US" smtClean="0"/>
              <a:pPr/>
              <a:t>2</a:t>
            </a:fld>
            <a:endParaRPr lang="en-US"/>
          </a:p>
        </p:txBody>
      </p:sp>
      <p:pic>
        <p:nvPicPr>
          <p:cNvPr id="1026" name="Picture 2" descr="GEO growth and data type trends over the last decade. The stacked bars display the percentage of each of four broad data type categories from 2013–2022, using the left y-axis. The thick black line shows growth of the total number of studies from 2013–2022 and uses the right y-axis.">
            <a:extLst>
              <a:ext uri="{FF2B5EF4-FFF2-40B4-BE49-F238E27FC236}">
                <a16:creationId xmlns:a16="http://schemas.microsoft.com/office/drawing/2014/main" id="{5CD2D985-7995-84C0-1633-C4887C1855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8225" y="1086396"/>
            <a:ext cx="5728207" cy="286410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7F778CD-0952-8B58-50EC-56857B975122}"/>
              </a:ext>
            </a:extLst>
          </p:cNvPr>
          <p:cNvSpPr txBox="1"/>
          <p:nvPr/>
        </p:nvSpPr>
        <p:spPr>
          <a:xfrm>
            <a:off x="560660" y="4017875"/>
            <a:ext cx="7683335" cy="954107"/>
          </a:xfrm>
          <a:prstGeom prst="rect">
            <a:avLst/>
          </a:prstGeom>
          <a:noFill/>
        </p:spPr>
        <p:txBody>
          <a:bodyPr wrap="square" rtlCol="0">
            <a:spAutoFit/>
          </a:bodyPr>
          <a:lstStyle/>
          <a:p>
            <a:endParaRPr lang="en-US" sz="1400" dirty="0"/>
          </a:p>
          <a:p>
            <a:r>
              <a:rPr lang="en-US" sz="1400" dirty="0"/>
              <a:t>Emily Clough </a:t>
            </a:r>
            <a:r>
              <a:rPr lang="en-US" sz="1400" i="1" dirty="0"/>
              <a:t>et al.</a:t>
            </a:r>
            <a:r>
              <a:rPr lang="en-US" sz="1400" dirty="0"/>
              <a:t> NCBI GEO: archive for gene expression and epigenomics data sets: 23-year update, Nucleic Acids Research, Volume 52, Issue D1, 5 January 2024, Pages D138–D144, https://</a:t>
            </a:r>
            <a:r>
              <a:rPr lang="en-US" sz="1400" dirty="0" err="1"/>
              <a:t>doi.org</a:t>
            </a:r>
            <a:r>
              <a:rPr lang="en-US" sz="1400" dirty="0"/>
              <a:t>/10.1093/</a:t>
            </a:r>
            <a:r>
              <a:rPr lang="en-US" sz="1400" dirty="0" err="1"/>
              <a:t>nar</a:t>
            </a:r>
            <a:r>
              <a:rPr lang="en-US" sz="1400" dirty="0"/>
              <a:t>/gkad965</a:t>
            </a:r>
          </a:p>
        </p:txBody>
      </p:sp>
      <p:sp>
        <p:nvSpPr>
          <p:cNvPr id="8" name="TextBox 7">
            <a:extLst>
              <a:ext uri="{FF2B5EF4-FFF2-40B4-BE49-F238E27FC236}">
                <a16:creationId xmlns:a16="http://schemas.microsoft.com/office/drawing/2014/main" id="{C82299AA-A52B-E58A-1161-F373F2E5AACD}"/>
              </a:ext>
            </a:extLst>
          </p:cNvPr>
          <p:cNvSpPr txBox="1"/>
          <p:nvPr/>
        </p:nvSpPr>
        <p:spPr>
          <a:xfrm>
            <a:off x="7407283" y="3153190"/>
            <a:ext cx="1279517" cy="830997"/>
          </a:xfrm>
          <a:prstGeom prst="rect">
            <a:avLst/>
          </a:prstGeom>
          <a:noFill/>
        </p:spPr>
        <p:txBody>
          <a:bodyPr wrap="none" rtlCol="0">
            <a:spAutoFit/>
          </a:bodyPr>
          <a:lstStyle/>
          <a:p>
            <a:pPr algn="ctr"/>
            <a:r>
              <a:rPr lang="en-US" dirty="0"/>
              <a:t>SRA</a:t>
            </a:r>
          </a:p>
          <a:p>
            <a:pPr algn="ctr"/>
            <a:r>
              <a:rPr lang="en-US" dirty="0"/>
              <a:t>57.5 PB</a:t>
            </a:r>
          </a:p>
        </p:txBody>
      </p:sp>
    </p:spTree>
    <p:extLst>
      <p:ext uri="{BB962C8B-B14F-4D97-AF65-F5344CB8AC3E}">
        <p14:creationId xmlns:p14="http://schemas.microsoft.com/office/powerpoint/2010/main" val="3113838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CC91-E6B9-48DF-1EF4-709FCF7D40A8}"/>
              </a:ext>
            </a:extLst>
          </p:cNvPr>
          <p:cNvSpPr>
            <a:spLocks noGrp="1"/>
          </p:cNvSpPr>
          <p:nvPr>
            <p:ph type="title"/>
          </p:nvPr>
        </p:nvSpPr>
        <p:spPr>
          <a:xfrm>
            <a:off x="457200" y="0"/>
            <a:ext cx="8229600" cy="1143000"/>
          </a:xfrm>
        </p:spPr>
        <p:txBody>
          <a:bodyPr anchor="ctr">
            <a:normAutofit/>
          </a:bodyPr>
          <a:lstStyle/>
          <a:p>
            <a:r>
              <a:rPr lang="en-US" dirty="0"/>
              <a:t>Barriers</a:t>
            </a:r>
          </a:p>
        </p:txBody>
      </p:sp>
      <p:sp>
        <p:nvSpPr>
          <p:cNvPr id="4" name="Text Placeholder 3">
            <a:extLst>
              <a:ext uri="{FF2B5EF4-FFF2-40B4-BE49-F238E27FC236}">
                <a16:creationId xmlns:a16="http://schemas.microsoft.com/office/drawing/2014/main" id="{114E5F72-5300-AE96-D4DF-5417B941B018}"/>
              </a:ext>
            </a:extLst>
          </p:cNvPr>
          <p:cNvSpPr>
            <a:spLocks noGrp="1"/>
          </p:cNvSpPr>
          <p:nvPr>
            <p:ph idx="1"/>
          </p:nvPr>
        </p:nvSpPr>
        <p:spPr>
          <a:xfrm>
            <a:off x="457200" y="1389129"/>
            <a:ext cx="8229600" cy="2743959"/>
          </a:xfrm>
        </p:spPr>
        <p:txBody>
          <a:bodyPr>
            <a:normAutofit lnSpcReduction="10000"/>
          </a:bodyPr>
          <a:lstStyle/>
          <a:p>
            <a:pPr marL="628625" indent="-514330">
              <a:buFont typeface="+mj-lt"/>
              <a:buAutoNum type="arabicPeriod"/>
            </a:pPr>
            <a:r>
              <a:rPr lang="en-US" dirty="0"/>
              <a:t>Finding the right data</a:t>
            </a:r>
          </a:p>
          <a:p>
            <a:pPr marL="628625" indent="-514330">
              <a:buFont typeface="+mj-lt"/>
              <a:buAutoNum type="arabicPeriod"/>
            </a:pPr>
            <a:r>
              <a:rPr lang="en-US" dirty="0"/>
              <a:t>Missing metadata</a:t>
            </a:r>
          </a:p>
          <a:p>
            <a:pPr marL="628625" indent="-514330">
              <a:buFont typeface="+mj-lt"/>
              <a:buAutoNum type="arabicPeriod"/>
            </a:pPr>
            <a:r>
              <a:rPr lang="en-US" dirty="0"/>
              <a:t>Inconsistent data and metadata</a:t>
            </a:r>
          </a:p>
          <a:p>
            <a:pPr marL="628625" indent="-514330">
              <a:buFont typeface="+mj-lt"/>
              <a:buAutoNum type="arabicPeriod"/>
            </a:pPr>
            <a:r>
              <a:rPr lang="en-US" dirty="0"/>
              <a:t>Computational cost</a:t>
            </a:r>
          </a:p>
          <a:p>
            <a:pPr marL="628625" indent="-514330">
              <a:buFont typeface="+mj-lt"/>
              <a:buAutoNum type="arabicPeriod"/>
            </a:pPr>
            <a:r>
              <a:rPr lang="en-US" dirty="0"/>
              <a:t>Complexity of data</a:t>
            </a:r>
          </a:p>
        </p:txBody>
      </p:sp>
      <p:sp>
        <p:nvSpPr>
          <p:cNvPr id="3" name="Slide Number Placeholder 2">
            <a:extLst>
              <a:ext uri="{FF2B5EF4-FFF2-40B4-BE49-F238E27FC236}">
                <a16:creationId xmlns:a16="http://schemas.microsoft.com/office/drawing/2014/main" id="{BA496318-303E-CBD1-628C-6B8D36BB37DA}"/>
              </a:ext>
            </a:extLst>
          </p:cNvPr>
          <p:cNvSpPr>
            <a:spLocks noGrp="1"/>
          </p:cNvSpPr>
          <p:nvPr>
            <p:ph type="sldNum" sz="quarter" idx="12"/>
          </p:nvPr>
        </p:nvSpPr>
        <p:spPr>
          <a:xfrm>
            <a:off x="6553200" y="5499105"/>
            <a:ext cx="2133600" cy="365125"/>
          </a:xfrm>
        </p:spPr>
        <p:txBody>
          <a:bodyPr anchor="ctr">
            <a:normAutofit/>
          </a:bodyPr>
          <a:lstStyle/>
          <a:p>
            <a:pPr>
              <a:spcAft>
                <a:spcPts val="600"/>
              </a:spcAft>
            </a:pPr>
            <a:fld id="{984A0C0E-8BF0-4721-8DD7-E8BD3CE0ACCE}" type="slidenum">
              <a:rPr lang="en-US" smtClean="0"/>
              <a:pPr>
                <a:spcAft>
                  <a:spcPts val="600"/>
                </a:spcAft>
              </a:pPr>
              <a:t>3</a:t>
            </a:fld>
            <a:endParaRPr lang="en-US"/>
          </a:p>
        </p:txBody>
      </p:sp>
    </p:spTree>
    <p:extLst>
      <p:ext uri="{BB962C8B-B14F-4D97-AF65-F5344CB8AC3E}">
        <p14:creationId xmlns:p14="http://schemas.microsoft.com/office/powerpoint/2010/main" val="2093015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8" name="Shape 56"/>
          <p:cNvSpPr txBox="1"/>
          <p:nvPr/>
        </p:nvSpPr>
        <p:spPr>
          <a:xfrm>
            <a:off x="16734" y="3088295"/>
            <a:ext cx="1860722" cy="585600"/>
          </a:xfrm>
          <a:prstGeom prst="rect">
            <a:avLst/>
          </a:prstGeom>
          <a:noFill/>
          <a:ln>
            <a:noFill/>
          </a:ln>
        </p:spPr>
        <p:txBody>
          <a:bodyPr lIns="91426" tIns="91426" rIns="91426" bIns="91426" anchor="t" anchorCtr="0">
            <a:noAutofit/>
          </a:bodyPr>
          <a:lstStyle/>
          <a:p>
            <a:pPr>
              <a:spcBef>
                <a:spcPts val="0"/>
              </a:spcBef>
            </a:pPr>
            <a:r>
              <a:rPr lang="en-US" sz="2000" dirty="0"/>
              <a:t>Marcel Ramos</a:t>
            </a:r>
            <a:endParaRPr lang="en" sz="2000" dirty="0"/>
          </a:p>
        </p:txBody>
      </p:sp>
      <p:grpSp>
        <p:nvGrpSpPr>
          <p:cNvPr id="6" name="Group 5"/>
          <p:cNvGrpSpPr/>
          <p:nvPr/>
        </p:nvGrpSpPr>
        <p:grpSpPr>
          <a:xfrm>
            <a:off x="4731753" y="0"/>
            <a:ext cx="4429801" cy="4718836"/>
            <a:chOff x="3514690" y="-368992"/>
            <a:chExt cx="6777263" cy="7219465"/>
          </a:xfrm>
        </p:grpSpPr>
        <p:grpSp>
          <p:nvGrpSpPr>
            <p:cNvPr id="4" name="Group 3"/>
            <p:cNvGrpSpPr/>
            <p:nvPr/>
          </p:nvGrpSpPr>
          <p:grpSpPr>
            <a:xfrm>
              <a:off x="3514690" y="-368992"/>
              <a:ext cx="6777263" cy="7219465"/>
              <a:chOff x="2778880" y="-361467"/>
              <a:chExt cx="6777263" cy="7219465"/>
            </a:xfrm>
          </p:grpSpPr>
          <p:pic>
            <p:nvPicPr>
              <p:cNvPr id="53" name="Shape 53"/>
              <p:cNvPicPr preferRelativeResize="0"/>
              <p:nvPr/>
            </p:nvPicPr>
            <p:blipFill>
              <a:blip r:embed="rId3">
                <a:alphaModFix/>
              </a:blip>
              <a:stretch>
                <a:fillRect/>
              </a:stretch>
            </p:blipFill>
            <p:spPr>
              <a:xfrm>
                <a:off x="4143676" y="377699"/>
                <a:ext cx="4201223" cy="6480299"/>
              </a:xfrm>
              <a:prstGeom prst="rect">
                <a:avLst/>
              </a:prstGeom>
              <a:noFill/>
              <a:ln>
                <a:noFill/>
              </a:ln>
            </p:spPr>
          </p:pic>
          <p:sp>
            <p:nvSpPr>
              <p:cNvPr id="55" name="Shape 55"/>
              <p:cNvSpPr txBox="1"/>
              <p:nvPr/>
            </p:nvSpPr>
            <p:spPr>
              <a:xfrm>
                <a:off x="3914780" y="1465355"/>
                <a:ext cx="2422436" cy="923767"/>
              </a:xfrm>
              <a:prstGeom prst="rect">
                <a:avLst/>
              </a:prstGeom>
              <a:noFill/>
              <a:ln>
                <a:noFill/>
              </a:ln>
            </p:spPr>
            <p:txBody>
              <a:bodyPr lIns="91426" tIns="91426" rIns="91426" bIns="91426" anchor="t" anchorCtr="0">
                <a:noAutofit/>
              </a:bodyPr>
              <a:lstStyle/>
              <a:p>
                <a:pPr>
                  <a:spcBef>
                    <a:spcPts val="0"/>
                  </a:spcBef>
                </a:pPr>
                <a:r>
                  <a:rPr lang="en" sz="1800" dirty="0"/>
                  <a:t>3</a:t>
                </a:r>
                <a:r>
                  <a:rPr lang="en-US" sz="1800" dirty="0"/>
                  <a:t>3</a:t>
                </a:r>
                <a:r>
                  <a:rPr lang="en" sz="1800" dirty="0"/>
                  <a:t> diseases</a:t>
                </a:r>
              </a:p>
            </p:txBody>
          </p:sp>
          <p:sp>
            <p:nvSpPr>
              <p:cNvPr id="56" name="Shape 56"/>
              <p:cNvSpPr txBox="1"/>
              <p:nvPr/>
            </p:nvSpPr>
            <p:spPr>
              <a:xfrm>
                <a:off x="6575554" y="-361467"/>
                <a:ext cx="2980589" cy="801944"/>
              </a:xfrm>
              <a:prstGeom prst="rect">
                <a:avLst/>
              </a:prstGeom>
              <a:solidFill>
                <a:schemeClr val="bg1"/>
              </a:solidFill>
              <a:ln>
                <a:noFill/>
              </a:ln>
            </p:spPr>
            <p:txBody>
              <a:bodyPr lIns="91426" tIns="91426" rIns="91426" bIns="91426" anchor="t" anchorCtr="0">
                <a:noAutofit/>
              </a:bodyPr>
              <a:lstStyle/>
              <a:p>
                <a:pPr>
                  <a:spcBef>
                    <a:spcPts val="0"/>
                  </a:spcBef>
                </a:pPr>
                <a:r>
                  <a:rPr lang="en-US" sz="1800" dirty="0"/>
                  <a:t>50 platforms</a:t>
                </a:r>
                <a:endParaRPr lang="en" sz="1800" dirty="0"/>
              </a:p>
            </p:txBody>
          </p:sp>
          <p:sp>
            <p:nvSpPr>
              <p:cNvPr id="7" name="Shape 56"/>
              <p:cNvSpPr txBox="1"/>
              <p:nvPr/>
            </p:nvSpPr>
            <p:spPr>
              <a:xfrm>
                <a:off x="2778880" y="3476778"/>
                <a:ext cx="2599188" cy="800489"/>
              </a:xfrm>
              <a:prstGeom prst="rect">
                <a:avLst/>
              </a:prstGeom>
              <a:noFill/>
              <a:ln>
                <a:noFill/>
              </a:ln>
            </p:spPr>
            <p:txBody>
              <a:bodyPr lIns="91426" tIns="91426" rIns="91426" bIns="91426" anchor="t" anchorCtr="0">
                <a:noAutofit/>
              </a:bodyPr>
              <a:lstStyle/>
              <a:p>
                <a:pPr>
                  <a:spcBef>
                    <a:spcPts val="0"/>
                  </a:spcBef>
                </a:pPr>
                <a:r>
                  <a:rPr lang="en-US" sz="1800" dirty="0"/>
                  <a:t>19 data types</a:t>
                </a:r>
                <a:endParaRPr lang="en" sz="1800" dirty="0"/>
              </a:p>
            </p:txBody>
          </p:sp>
        </p:grpSp>
        <p:sp>
          <p:nvSpPr>
            <p:cNvPr id="5" name="Rectangle 4"/>
            <p:cNvSpPr/>
            <p:nvPr/>
          </p:nvSpPr>
          <p:spPr>
            <a:xfrm>
              <a:off x="4879486" y="263011"/>
              <a:ext cx="1591018" cy="1194819"/>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2" name="TextBox 1">
            <a:extLst>
              <a:ext uri="{FF2B5EF4-FFF2-40B4-BE49-F238E27FC236}">
                <a16:creationId xmlns:a16="http://schemas.microsoft.com/office/drawing/2014/main" id="{E207F42D-BA4F-A649-92C8-B116F6D028A4}"/>
              </a:ext>
            </a:extLst>
          </p:cNvPr>
          <p:cNvSpPr txBox="1"/>
          <p:nvPr/>
        </p:nvSpPr>
        <p:spPr>
          <a:xfrm>
            <a:off x="168638" y="108673"/>
            <a:ext cx="4528558" cy="830997"/>
          </a:xfrm>
          <a:prstGeom prst="rect">
            <a:avLst/>
          </a:prstGeom>
          <a:noFill/>
        </p:spPr>
        <p:txBody>
          <a:bodyPr wrap="square" rtlCol="0">
            <a:spAutoFit/>
          </a:bodyPr>
          <a:lstStyle/>
          <a:p>
            <a:r>
              <a:rPr lang="en-US" dirty="0" err="1"/>
              <a:t>Multi’omic</a:t>
            </a:r>
            <a:r>
              <a:rPr lang="en-US" dirty="0"/>
              <a:t> integration with </a:t>
            </a:r>
            <a:r>
              <a:rPr lang="en-US" b="1" dirty="0"/>
              <a:t>MultiAssayExperiment</a:t>
            </a:r>
          </a:p>
        </p:txBody>
      </p:sp>
      <p:sp>
        <p:nvSpPr>
          <p:cNvPr id="16" name="TextBox 15">
            <a:extLst>
              <a:ext uri="{FF2B5EF4-FFF2-40B4-BE49-F238E27FC236}">
                <a16:creationId xmlns:a16="http://schemas.microsoft.com/office/drawing/2014/main" id="{CB5074DC-56EE-824E-A027-A08E139A0D74}"/>
              </a:ext>
            </a:extLst>
          </p:cNvPr>
          <p:cNvSpPr txBox="1"/>
          <p:nvPr/>
        </p:nvSpPr>
        <p:spPr>
          <a:xfrm>
            <a:off x="0" y="3673895"/>
            <a:ext cx="5219700" cy="523220"/>
          </a:xfrm>
          <a:prstGeom prst="rect">
            <a:avLst/>
          </a:prstGeom>
          <a:noFill/>
        </p:spPr>
        <p:txBody>
          <a:bodyPr wrap="square" rtlCol="0">
            <a:spAutoFit/>
          </a:bodyPr>
          <a:lstStyle/>
          <a:p>
            <a:r>
              <a:rPr lang="en-US" sz="1400" dirty="0"/>
              <a:t>Ramos M </a:t>
            </a:r>
            <a:r>
              <a:rPr lang="en-US" sz="1400" i="1" dirty="0"/>
              <a:t>et al.</a:t>
            </a:r>
            <a:r>
              <a:rPr lang="en-US" sz="1400" dirty="0"/>
              <a:t>: Software for the Integration of </a:t>
            </a:r>
            <a:r>
              <a:rPr lang="en-US" sz="1400" dirty="0" err="1"/>
              <a:t>Multiomics</a:t>
            </a:r>
            <a:r>
              <a:rPr lang="en-US" sz="1400" dirty="0"/>
              <a:t> Experiments in Bioconductor. Cancer Res. 2017, 77:e39–e42.</a:t>
            </a:r>
          </a:p>
        </p:txBody>
      </p:sp>
      <p:sp>
        <p:nvSpPr>
          <p:cNvPr id="9" name="TextBox 8">
            <a:extLst>
              <a:ext uri="{FF2B5EF4-FFF2-40B4-BE49-F238E27FC236}">
                <a16:creationId xmlns:a16="http://schemas.microsoft.com/office/drawing/2014/main" id="{A950E8A6-448B-0441-8C4A-092A815EDDB5}"/>
              </a:ext>
            </a:extLst>
          </p:cNvPr>
          <p:cNvSpPr txBox="1"/>
          <p:nvPr/>
        </p:nvSpPr>
        <p:spPr>
          <a:xfrm>
            <a:off x="16734" y="4298373"/>
            <a:ext cx="4832366" cy="954107"/>
          </a:xfrm>
          <a:prstGeom prst="rect">
            <a:avLst/>
          </a:prstGeom>
          <a:noFill/>
        </p:spPr>
        <p:txBody>
          <a:bodyPr wrap="square" rtlCol="0">
            <a:spAutoFit/>
          </a:bodyPr>
          <a:lstStyle/>
          <a:p>
            <a:r>
              <a:rPr lang="en-US" sz="1400" dirty="0"/>
              <a:t>Ramos M </a:t>
            </a:r>
            <a:r>
              <a:rPr lang="en-US" sz="1400" i="1" dirty="0"/>
              <a:t>et al.</a:t>
            </a:r>
            <a:r>
              <a:rPr lang="en-US" sz="1400" dirty="0"/>
              <a:t> </a:t>
            </a:r>
            <a:r>
              <a:rPr lang="en-US" sz="1400" dirty="0" err="1"/>
              <a:t>Multiomic</a:t>
            </a:r>
            <a:r>
              <a:rPr lang="en-US" sz="1400" dirty="0"/>
              <a:t> integration of public oncology databases in Bioconductor. </a:t>
            </a:r>
            <a:r>
              <a:rPr lang="en-US" sz="1400" i="1" dirty="0"/>
              <a:t>JCO Clinical Cancer Informatics 2020:4, 958-971</a:t>
            </a:r>
            <a:endParaRPr lang="en-US" sz="1400" dirty="0"/>
          </a:p>
          <a:p>
            <a:endParaRPr lang="en-US" sz="1400" dirty="0"/>
          </a:p>
        </p:txBody>
      </p:sp>
      <p:pic>
        <p:nvPicPr>
          <p:cNvPr id="3" name="Picture 2" descr="Bioconductor · GitHub">
            <a:extLst>
              <a:ext uri="{FF2B5EF4-FFF2-40B4-BE49-F238E27FC236}">
                <a16:creationId xmlns:a16="http://schemas.microsoft.com/office/drawing/2014/main" id="{7A464325-153C-E397-2600-7061CB0CF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0147" y="203244"/>
            <a:ext cx="641853" cy="641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450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ultiAssayExperiment object schematic shows the design of the infrastructure class. The colData provides data about the patients, cell lines, or other biological units, with one row per unit and one column per variable. The experiments are a list of assay datasets of arbitrary class, with one column per observation. The sampleMap links a single table of patient data (colData) to a list of experiments via a simple but powerful table of experiment:patient edges (relationships), that can be created automatically in simple cases or in a spreadsheet if assay-specific sample identifiers are used. sampleMap relates each column (observation) in the assays (experiments) to exactly one row (biological unit) in colData; however, one row of colData may map to zero, one, or more columns per assay, allowing for missing and replicate assays. Green stripes indicate a mapping of one subject to multiple observations across experiments.">
            <a:extLst>
              <a:ext uri="{FF2B5EF4-FFF2-40B4-BE49-F238E27FC236}">
                <a16:creationId xmlns:a16="http://schemas.microsoft.com/office/drawing/2014/main" id="{5DCC5B57-A905-8A0A-9DE1-3FF600699F5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85616" y="571500"/>
            <a:ext cx="4901184" cy="4518279"/>
          </a:xfrm>
          <a:prstGeom prst="rect">
            <a:avLst/>
          </a:prstGeom>
          <a:solidFill>
            <a:srgbClr val="FFFFFF"/>
          </a:solidFill>
        </p:spPr>
      </p:pic>
      <p:sp>
        <p:nvSpPr>
          <p:cNvPr id="4" name="Slide Number Placeholder 3">
            <a:extLst>
              <a:ext uri="{FF2B5EF4-FFF2-40B4-BE49-F238E27FC236}">
                <a16:creationId xmlns:a16="http://schemas.microsoft.com/office/drawing/2014/main" id="{8A15A162-6A25-8462-16FE-A04552701696}"/>
              </a:ext>
            </a:extLst>
          </p:cNvPr>
          <p:cNvSpPr>
            <a:spLocks noGrp="1"/>
          </p:cNvSpPr>
          <p:nvPr>
            <p:ph type="sldNum" sz="quarter" idx="12"/>
          </p:nvPr>
        </p:nvSpPr>
        <p:spPr>
          <a:xfrm>
            <a:off x="6821424" y="4669384"/>
            <a:ext cx="2133600" cy="365125"/>
          </a:xfrm>
        </p:spPr>
        <p:txBody>
          <a:bodyPr anchor="ctr">
            <a:normAutofit/>
          </a:bodyPr>
          <a:lstStyle/>
          <a:p>
            <a:pPr>
              <a:spcBef>
                <a:spcPts val="0"/>
              </a:spcBef>
              <a:spcAft>
                <a:spcPts val="600"/>
              </a:spcAft>
            </a:pPr>
            <a:fld id="{00000000-1234-1234-1234-123412341234}" type="slidenum">
              <a:rPr lang="en" smtClean="0"/>
              <a:pPr>
                <a:spcBef>
                  <a:spcPts val="0"/>
                </a:spcBef>
                <a:spcAft>
                  <a:spcPts val="600"/>
                </a:spcAft>
              </a:pPr>
              <a:t>5</a:t>
            </a:fld>
            <a:endParaRPr lang="en"/>
          </a:p>
        </p:txBody>
      </p:sp>
      <p:sp>
        <p:nvSpPr>
          <p:cNvPr id="2" name="Title 1">
            <a:extLst>
              <a:ext uri="{FF2B5EF4-FFF2-40B4-BE49-F238E27FC236}">
                <a16:creationId xmlns:a16="http://schemas.microsoft.com/office/drawing/2014/main" id="{AA74DA10-1472-FAA7-D8E2-DD8A384E8C30}"/>
              </a:ext>
            </a:extLst>
          </p:cNvPr>
          <p:cNvSpPr>
            <a:spLocks noGrp="1"/>
          </p:cNvSpPr>
          <p:nvPr>
            <p:ph type="title"/>
          </p:nvPr>
        </p:nvSpPr>
        <p:spPr>
          <a:xfrm>
            <a:off x="0" y="0"/>
            <a:ext cx="5724144" cy="1865376"/>
          </a:xfrm>
        </p:spPr>
        <p:txBody>
          <a:bodyPr anchor="ctr">
            <a:normAutofit/>
          </a:bodyPr>
          <a:lstStyle/>
          <a:p>
            <a:pPr>
              <a:lnSpc>
                <a:spcPct val="90000"/>
              </a:lnSpc>
            </a:pPr>
            <a:r>
              <a:rPr lang="en-US" sz="3700" dirty="0"/>
              <a:t>MultiAssayExperiment: the integrative Bioconductor container</a:t>
            </a:r>
          </a:p>
        </p:txBody>
      </p:sp>
    </p:spTree>
    <p:extLst>
      <p:ext uri="{BB962C8B-B14F-4D97-AF65-F5344CB8AC3E}">
        <p14:creationId xmlns:p14="http://schemas.microsoft.com/office/powerpoint/2010/main" val="100764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2692" y="0"/>
            <a:ext cx="9313768" cy="4616648"/>
          </a:xfrm>
          <a:prstGeom prst="rect">
            <a:avLst/>
          </a:prstGeom>
          <a:noFill/>
        </p:spPr>
        <p:txBody>
          <a:bodyPr wrap="none" rtlCol="0">
            <a:spAutoFit/>
          </a:bodyPr>
          <a:lstStyle/>
          <a:p>
            <a:r>
              <a:rPr lang="en-US" sz="1400" dirty="0">
                <a:latin typeface="Courier" pitchFamily="2" charset="0"/>
              </a:rPr>
              <a:t>&gt; </a:t>
            </a:r>
            <a:r>
              <a:rPr lang="en-US" sz="1400" b="1" dirty="0" err="1">
                <a:latin typeface="Courier" pitchFamily="2" charset="0"/>
              </a:rPr>
              <a:t>acc</a:t>
            </a:r>
            <a:r>
              <a:rPr lang="en-US" sz="1400" b="1" dirty="0">
                <a:latin typeface="Courier" pitchFamily="2" charset="0"/>
              </a:rPr>
              <a:t> &lt;- </a:t>
            </a:r>
            <a:r>
              <a:rPr lang="en-US" sz="1400" b="1" dirty="0" err="1">
                <a:latin typeface="Courier" pitchFamily="2" charset="0"/>
              </a:rPr>
              <a:t>curatedTCGAData</a:t>
            </a:r>
            <a:r>
              <a:rPr lang="en-US" sz="1400" b="1" dirty="0">
                <a:latin typeface="Courier" pitchFamily="2" charset="0"/>
              </a:rPr>
              <a:t>(</a:t>
            </a:r>
            <a:r>
              <a:rPr lang="en-US" sz="1400" b="1" dirty="0" err="1">
                <a:latin typeface="Courier" pitchFamily="2" charset="0"/>
              </a:rPr>
              <a:t>diseaseCode</a:t>
            </a:r>
            <a:r>
              <a:rPr lang="en-US" sz="1400" b="1" dirty="0">
                <a:latin typeface="Courier" pitchFamily="2" charset="0"/>
              </a:rPr>
              <a:t> = "ACC", assays="*", </a:t>
            </a:r>
            <a:r>
              <a:rPr lang="en-US" sz="1400" b="1" dirty="0" err="1">
                <a:latin typeface="Courier" pitchFamily="2" charset="0"/>
              </a:rPr>
              <a:t>dry.run</a:t>
            </a:r>
            <a:r>
              <a:rPr lang="en-US" sz="1400" b="1" dirty="0">
                <a:latin typeface="Courier" pitchFamily="2" charset="0"/>
              </a:rPr>
              <a:t> = FALSE)</a:t>
            </a:r>
          </a:p>
          <a:p>
            <a:r>
              <a:rPr lang="en-US" sz="1400" dirty="0">
                <a:latin typeface="Courier" pitchFamily="2" charset="0"/>
              </a:rPr>
              <a:t>&gt; </a:t>
            </a:r>
            <a:r>
              <a:rPr lang="en-US" sz="1400" b="1" dirty="0" err="1">
                <a:latin typeface="Courier" pitchFamily="2" charset="0"/>
              </a:rPr>
              <a:t>acc</a:t>
            </a:r>
            <a:endParaRPr lang="en-US" sz="1400" b="1" dirty="0">
              <a:latin typeface="Courier" pitchFamily="2" charset="0"/>
            </a:endParaRPr>
          </a:p>
          <a:p>
            <a:r>
              <a:rPr lang="en-US" sz="1400" dirty="0">
                <a:latin typeface="Courier" pitchFamily="2" charset="0"/>
              </a:rPr>
              <a:t>A </a:t>
            </a:r>
            <a:r>
              <a:rPr lang="en-US" sz="1400" dirty="0" err="1">
                <a:latin typeface="Courier" pitchFamily="2" charset="0"/>
              </a:rPr>
              <a:t>MultiAssayExperiment</a:t>
            </a:r>
            <a:r>
              <a:rPr lang="en-US" sz="1400" dirty="0">
                <a:latin typeface="Courier" pitchFamily="2" charset="0"/>
              </a:rPr>
              <a:t> object of 9 listed</a:t>
            </a:r>
          </a:p>
          <a:p>
            <a:r>
              <a:rPr lang="en-US" sz="1400" dirty="0">
                <a:latin typeface="Courier" pitchFamily="2" charset="0"/>
              </a:rPr>
              <a:t> experiments with user-defined names and respective classes. </a:t>
            </a:r>
          </a:p>
          <a:p>
            <a:r>
              <a:rPr lang="en-US" sz="1400" dirty="0">
                <a:latin typeface="Courier" pitchFamily="2" charset="0"/>
              </a:rPr>
              <a:t> Containing an </a:t>
            </a:r>
            <a:r>
              <a:rPr lang="en-US" sz="1400" dirty="0" err="1">
                <a:latin typeface="Courier" pitchFamily="2" charset="0"/>
              </a:rPr>
              <a:t>ExperimentList</a:t>
            </a:r>
            <a:r>
              <a:rPr lang="en-US" sz="1400" dirty="0">
                <a:latin typeface="Courier" pitchFamily="2" charset="0"/>
              </a:rPr>
              <a:t> class object of length 9: </a:t>
            </a:r>
          </a:p>
          <a:p>
            <a:r>
              <a:rPr lang="en-US" sz="1400" dirty="0">
                <a:latin typeface="Courier" pitchFamily="2" charset="0"/>
              </a:rPr>
              <a:t> [1] ACC_CNASNP-20160128: </a:t>
            </a:r>
            <a:r>
              <a:rPr lang="en-US" sz="1400" dirty="0" err="1">
                <a:latin typeface="Courier" pitchFamily="2" charset="0"/>
              </a:rPr>
              <a:t>RaggedExperiment</a:t>
            </a:r>
            <a:r>
              <a:rPr lang="en-US" sz="1400" dirty="0">
                <a:latin typeface="Courier" pitchFamily="2" charset="0"/>
              </a:rPr>
              <a:t> with 79861 rows and 180 columns </a:t>
            </a:r>
          </a:p>
          <a:p>
            <a:r>
              <a:rPr lang="en-US" sz="1400" dirty="0">
                <a:latin typeface="Courier" pitchFamily="2" charset="0"/>
              </a:rPr>
              <a:t> [2] ACC_CNVSNP-20160128: </a:t>
            </a:r>
            <a:r>
              <a:rPr lang="en-US" sz="1400" dirty="0" err="1">
                <a:latin typeface="Courier" pitchFamily="2" charset="0"/>
              </a:rPr>
              <a:t>RaggedExperiment</a:t>
            </a:r>
            <a:r>
              <a:rPr lang="en-US" sz="1400" dirty="0">
                <a:latin typeface="Courier" pitchFamily="2" charset="0"/>
              </a:rPr>
              <a:t> with 21052 rows and 180 columns </a:t>
            </a:r>
          </a:p>
          <a:p>
            <a:r>
              <a:rPr lang="en-US" sz="1400" dirty="0">
                <a:latin typeface="Courier" pitchFamily="2" charset="0"/>
              </a:rPr>
              <a:t> [3] ACC_GISTIC_AllByGene-20160128: </a:t>
            </a:r>
            <a:r>
              <a:rPr lang="en-US" sz="1400" dirty="0" err="1">
                <a:latin typeface="Courier" pitchFamily="2" charset="0"/>
              </a:rPr>
              <a:t>SummarizedExperiment</a:t>
            </a:r>
            <a:r>
              <a:rPr lang="en-US" sz="1400" dirty="0">
                <a:latin typeface="Courier" pitchFamily="2" charset="0"/>
              </a:rPr>
              <a:t> with 24776 rows and 90 col$</a:t>
            </a:r>
          </a:p>
          <a:p>
            <a:r>
              <a:rPr lang="en-US" sz="1400" dirty="0">
                <a:latin typeface="Courier" pitchFamily="2" charset="0"/>
              </a:rPr>
              <a:t> [4] ACC_GISTIC_ThresholdedByGene-20160128: </a:t>
            </a:r>
            <a:r>
              <a:rPr lang="en-US" sz="1400" dirty="0" err="1">
                <a:latin typeface="Courier" pitchFamily="2" charset="0"/>
              </a:rPr>
              <a:t>SummarizedExperiment</a:t>
            </a:r>
            <a:r>
              <a:rPr lang="en-US" sz="1400" dirty="0">
                <a:latin typeface="Courier" pitchFamily="2" charset="0"/>
              </a:rPr>
              <a:t> with 24776 rows an$</a:t>
            </a:r>
          </a:p>
          <a:p>
            <a:r>
              <a:rPr lang="en-US" sz="1400" dirty="0">
                <a:latin typeface="Courier" pitchFamily="2" charset="0"/>
              </a:rPr>
              <a:t> [5] ACC_Methylation-20160128: </a:t>
            </a:r>
            <a:r>
              <a:rPr lang="en-US" sz="1400" dirty="0" err="1">
                <a:latin typeface="Courier" pitchFamily="2" charset="0"/>
              </a:rPr>
              <a:t>SummarizedExperiment</a:t>
            </a:r>
            <a:r>
              <a:rPr lang="en-US" sz="1400" dirty="0">
                <a:latin typeface="Courier" pitchFamily="2" charset="0"/>
              </a:rPr>
              <a:t> with 485577 rows and 80 columns </a:t>
            </a:r>
          </a:p>
          <a:p>
            <a:r>
              <a:rPr lang="en-US" sz="1400" dirty="0">
                <a:latin typeface="Courier" pitchFamily="2" charset="0"/>
              </a:rPr>
              <a:t> [6] ACC_miRNASeqGene-20160128: </a:t>
            </a:r>
            <a:r>
              <a:rPr lang="en-US" sz="1400" dirty="0" err="1">
                <a:latin typeface="Courier" pitchFamily="2" charset="0"/>
              </a:rPr>
              <a:t>SummarizedExperiment</a:t>
            </a:r>
            <a:r>
              <a:rPr lang="en-US" sz="1400" dirty="0">
                <a:latin typeface="Courier" pitchFamily="2" charset="0"/>
              </a:rPr>
              <a:t> with 1046 rows and 80 columns </a:t>
            </a:r>
          </a:p>
          <a:p>
            <a:r>
              <a:rPr lang="en-US" sz="1400" dirty="0">
                <a:latin typeface="Courier" pitchFamily="2" charset="0"/>
              </a:rPr>
              <a:t> [7] ACC_Mutation-20160128: </a:t>
            </a:r>
            <a:r>
              <a:rPr lang="en-US" sz="1400" dirty="0" err="1">
                <a:latin typeface="Courier" pitchFamily="2" charset="0"/>
              </a:rPr>
              <a:t>RaggedExperiment</a:t>
            </a:r>
            <a:r>
              <a:rPr lang="en-US" sz="1400" dirty="0">
                <a:latin typeface="Courier" pitchFamily="2" charset="0"/>
              </a:rPr>
              <a:t> with 20166 rows and 90 columns </a:t>
            </a:r>
          </a:p>
          <a:p>
            <a:r>
              <a:rPr lang="en-US" sz="1400" dirty="0">
                <a:latin typeface="Courier" pitchFamily="2" charset="0"/>
              </a:rPr>
              <a:t> [8] ACC_RNASeq2GeneNorm-20160128: </a:t>
            </a:r>
            <a:r>
              <a:rPr lang="en-US" sz="1400" dirty="0" err="1">
                <a:latin typeface="Courier" pitchFamily="2" charset="0"/>
              </a:rPr>
              <a:t>SummarizedExperiment</a:t>
            </a:r>
            <a:r>
              <a:rPr lang="en-US" sz="1400" dirty="0">
                <a:latin typeface="Courier" pitchFamily="2" charset="0"/>
              </a:rPr>
              <a:t> with 20501 rows and 79 </a:t>
            </a:r>
            <a:r>
              <a:rPr lang="en-US" sz="1400" dirty="0" err="1">
                <a:latin typeface="Courier" pitchFamily="2" charset="0"/>
              </a:rPr>
              <a:t>colu</a:t>
            </a:r>
            <a:r>
              <a:rPr lang="en-US" sz="1400" dirty="0">
                <a:latin typeface="Courier" pitchFamily="2" charset="0"/>
              </a:rPr>
              <a:t>$ </a:t>
            </a:r>
          </a:p>
          <a:p>
            <a:r>
              <a:rPr lang="en-US" sz="1400" dirty="0">
                <a:latin typeface="Courier" pitchFamily="2" charset="0"/>
              </a:rPr>
              <a:t> [9] ACC_RPPAArray-20160128: </a:t>
            </a:r>
            <a:r>
              <a:rPr lang="en-US" sz="1400" dirty="0" err="1">
                <a:latin typeface="Courier" pitchFamily="2" charset="0"/>
              </a:rPr>
              <a:t>SummarizedExperiment</a:t>
            </a:r>
            <a:r>
              <a:rPr lang="en-US" sz="1400" dirty="0">
                <a:latin typeface="Courier" pitchFamily="2" charset="0"/>
              </a:rPr>
              <a:t> with 192 rows and 46 columns </a:t>
            </a:r>
          </a:p>
          <a:p>
            <a:r>
              <a:rPr lang="en-US" sz="1400" dirty="0">
                <a:latin typeface="Courier" pitchFamily="2" charset="0"/>
              </a:rPr>
              <a:t>Features: </a:t>
            </a:r>
          </a:p>
          <a:p>
            <a:r>
              <a:rPr lang="en-US" sz="1400" dirty="0">
                <a:latin typeface="Courier" pitchFamily="2" charset="0"/>
              </a:rPr>
              <a:t> experiments() - obtain the </a:t>
            </a:r>
            <a:r>
              <a:rPr lang="en-US" sz="1400" dirty="0" err="1">
                <a:latin typeface="Courier" pitchFamily="2" charset="0"/>
              </a:rPr>
              <a:t>ExperimentList</a:t>
            </a:r>
            <a:r>
              <a:rPr lang="en-US" sz="1400" dirty="0">
                <a:latin typeface="Courier" pitchFamily="2" charset="0"/>
              </a:rPr>
              <a:t> instance </a:t>
            </a:r>
          </a:p>
          <a:p>
            <a:r>
              <a:rPr lang="en-US" sz="1400" dirty="0">
                <a:latin typeface="Courier" pitchFamily="2" charset="0"/>
              </a:rPr>
              <a:t> </a:t>
            </a:r>
            <a:r>
              <a:rPr lang="en-US" sz="1400" dirty="0" err="1">
                <a:latin typeface="Courier" pitchFamily="2" charset="0"/>
              </a:rPr>
              <a:t>colData</a:t>
            </a:r>
            <a:r>
              <a:rPr lang="en-US" sz="1400" dirty="0">
                <a:latin typeface="Courier" pitchFamily="2" charset="0"/>
              </a:rPr>
              <a:t>() - the primary/phenotype </a:t>
            </a:r>
            <a:r>
              <a:rPr lang="en-US" sz="1400" dirty="0" err="1">
                <a:latin typeface="Courier" pitchFamily="2" charset="0"/>
              </a:rPr>
              <a:t>DataFrame</a:t>
            </a:r>
            <a:r>
              <a:rPr lang="en-US" sz="1400" dirty="0">
                <a:latin typeface="Courier" pitchFamily="2" charset="0"/>
              </a:rPr>
              <a:t> </a:t>
            </a:r>
          </a:p>
          <a:p>
            <a:r>
              <a:rPr lang="en-US" sz="1400" dirty="0">
                <a:latin typeface="Courier" pitchFamily="2" charset="0"/>
              </a:rPr>
              <a:t> </a:t>
            </a:r>
            <a:r>
              <a:rPr lang="en-US" sz="1400" dirty="0" err="1">
                <a:latin typeface="Courier" pitchFamily="2" charset="0"/>
              </a:rPr>
              <a:t>sampleMap</a:t>
            </a:r>
            <a:r>
              <a:rPr lang="en-US" sz="1400" dirty="0">
                <a:latin typeface="Courier" pitchFamily="2" charset="0"/>
              </a:rPr>
              <a:t>() - the sample availability </a:t>
            </a:r>
            <a:r>
              <a:rPr lang="en-US" sz="1400" dirty="0" err="1">
                <a:latin typeface="Courier" pitchFamily="2" charset="0"/>
              </a:rPr>
              <a:t>DataFrame</a:t>
            </a:r>
            <a:r>
              <a:rPr lang="en-US" sz="1400" dirty="0">
                <a:latin typeface="Courier" pitchFamily="2" charset="0"/>
              </a:rPr>
              <a:t> </a:t>
            </a:r>
          </a:p>
          <a:p>
            <a:r>
              <a:rPr lang="en-US" sz="1400" dirty="0">
                <a:latin typeface="Courier" pitchFamily="2" charset="0"/>
              </a:rPr>
              <a:t> `$`, `[`, `[[` - extract </a:t>
            </a:r>
            <a:r>
              <a:rPr lang="en-US" sz="1400" dirty="0" err="1">
                <a:latin typeface="Courier" pitchFamily="2" charset="0"/>
              </a:rPr>
              <a:t>colData</a:t>
            </a:r>
            <a:r>
              <a:rPr lang="en-US" sz="1400" dirty="0">
                <a:latin typeface="Courier" pitchFamily="2" charset="0"/>
              </a:rPr>
              <a:t> columns, subset, or experiment </a:t>
            </a:r>
          </a:p>
          <a:p>
            <a:r>
              <a:rPr lang="en-US" sz="1400" dirty="0">
                <a:latin typeface="Courier" pitchFamily="2" charset="0"/>
              </a:rPr>
              <a:t> *Format() - convert into a long or wide </a:t>
            </a:r>
            <a:r>
              <a:rPr lang="en-US" sz="1400" dirty="0" err="1">
                <a:latin typeface="Courier" pitchFamily="2" charset="0"/>
              </a:rPr>
              <a:t>DataFrame</a:t>
            </a:r>
            <a:r>
              <a:rPr lang="en-US" sz="1400" dirty="0">
                <a:latin typeface="Courier" pitchFamily="2" charset="0"/>
              </a:rPr>
              <a:t> </a:t>
            </a:r>
          </a:p>
          <a:p>
            <a:r>
              <a:rPr lang="en-US" sz="1400" dirty="0">
                <a:latin typeface="Courier" pitchFamily="2" charset="0"/>
              </a:rPr>
              <a:t> assays() - convert </a:t>
            </a:r>
            <a:r>
              <a:rPr lang="en-US" sz="1400" dirty="0" err="1">
                <a:latin typeface="Courier" pitchFamily="2" charset="0"/>
              </a:rPr>
              <a:t>ExperimentList</a:t>
            </a:r>
            <a:r>
              <a:rPr lang="en-US" sz="1400" dirty="0">
                <a:latin typeface="Courier" pitchFamily="2" charset="0"/>
              </a:rPr>
              <a:t> to a </a:t>
            </a:r>
            <a:r>
              <a:rPr lang="en-US" sz="1400" dirty="0" err="1">
                <a:latin typeface="Courier" pitchFamily="2" charset="0"/>
              </a:rPr>
              <a:t>SimpleList</a:t>
            </a:r>
            <a:r>
              <a:rPr lang="en-US" sz="1400" dirty="0">
                <a:latin typeface="Courier" pitchFamily="2" charset="0"/>
              </a:rPr>
              <a:t> of matrices</a:t>
            </a:r>
          </a:p>
        </p:txBody>
      </p:sp>
      <p:sp>
        <p:nvSpPr>
          <p:cNvPr id="5" name="Slide Number Placeholder 4"/>
          <p:cNvSpPr>
            <a:spLocks noGrp="1"/>
          </p:cNvSpPr>
          <p:nvPr>
            <p:ph type="sldNum" sz="quarter" idx="12"/>
          </p:nvPr>
        </p:nvSpPr>
        <p:spPr/>
        <p:txBody>
          <a:bodyPr/>
          <a:lstStyle/>
          <a:p>
            <a:fld id="{221F14C6-C6E7-9F41-BE3F-C5DEE757CDB8}" type="slidenum">
              <a:rPr lang="en-US" smtClean="0"/>
              <a:pPr/>
              <a:t>6</a:t>
            </a:fld>
            <a:endParaRPr lang="en-US" dirty="0"/>
          </a:p>
        </p:txBody>
      </p:sp>
      <p:sp>
        <p:nvSpPr>
          <p:cNvPr id="8" name="TextBox 7">
            <a:extLst>
              <a:ext uri="{FF2B5EF4-FFF2-40B4-BE49-F238E27FC236}">
                <a16:creationId xmlns:a16="http://schemas.microsoft.com/office/drawing/2014/main" id="{D7F0F4E3-8E69-B64F-A8C4-16B9A4E5F5D0}"/>
              </a:ext>
            </a:extLst>
          </p:cNvPr>
          <p:cNvSpPr txBox="1"/>
          <p:nvPr/>
        </p:nvSpPr>
        <p:spPr>
          <a:xfrm>
            <a:off x="178036" y="4616648"/>
            <a:ext cx="8229600" cy="738664"/>
          </a:xfrm>
          <a:prstGeom prst="rect">
            <a:avLst/>
          </a:prstGeom>
          <a:noFill/>
        </p:spPr>
        <p:txBody>
          <a:bodyPr wrap="square" rtlCol="0">
            <a:spAutoFit/>
          </a:bodyPr>
          <a:lstStyle/>
          <a:p>
            <a:r>
              <a:rPr lang="en-US" sz="1400" dirty="0"/>
              <a:t>Ramos M </a:t>
            </a:r>
            <a:r>
              <a:rPr lang="en-US" sz="1400" i="1" dirty="0"/>
              <a:t>et al.</a:t>
            </a:r>
            <a:r>
              <a:rPr lang="en-US" sz="1400" dirty="0"/>
              <a:t> </a:t>
            </a:r>
            <a:r>
              <a:rPr lang="en-US" sz="1400" dirty="0" err="1"/>
              <a:t>Multiomic</a:t>
            </a:r>
            <a:r>
              <a:rPr lang="en-US" sz="1400" dirty="0"/>
              <a:t> integration of public oncology databases in Bioconductor. </a:t>
            </a:r>
            <a:r>
              <a:rPr lang="en-US" sz="1400" i="1" dirty="0"/>
              <a:t>JCO Clinical Cancer Informatics 2020:4, 958-971</a:t>
            </a:r>
            <a:endParaRPr lang="en-US" sz="1400" dirty="0"/>
          </a:p>
          <a:p>
            <a:endParaRPr lang="en-US" sz="1400" dirty="0"/>
          </a:p>
        </p:txBody>
      </p:sp>
    </p:spTree>
    <p:extLst>
      <p:ext uri="{BB962C8B-B14F-4D97-AF65-F5344CB8AC3E}">
        <p14:creationId xmlns:p14="http://schemas.microsoft.com/office/powerpoint/2010/main" val="35800463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xmlns:p14="http://schemas.microsoft.com/office/powerpoint/2010/mai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1E2F7-C40A-294A-8AAC-4C7D3892BC51}"/>
              </a:ext>
            </a:extLst>
          </p:cNvPr>
          <p:cNvSpPr>
            <a:spLocks noGrp="1"/>
          </p:cNvSpPr>
          <p:nvPr>
            <p:ph type="title"/>
          </p:nvPr>
        </p:nvSpPr>
        <p:spPr/>
        <p:txBody>
          <a:bodyPr>
            <a:noAutofit/>
          </a:bodyPr>
          <a:lstStyle/>
          <a:p>
            <a:r>
              <a:rPr lang="en-US" sz="3600" dirty="0"/>
              <a:t>Analyst-friendly data in Bioconductor</a:t>
            </a:r>
          </a:p>
        </p:txBody>
      </p:sp>
      <p:sp>
        <p:nvSpPr>
          <p:cNvPr id="4" name="Slide Number Placeholder 3">
            <a:extLst>
              <a:ext uri="{FF2B5EF4-FFF2-40B4-BE49-F238E27FC236}">
                <a16:creationId xmlns:a16="http://schemas.microsoft.com/office/drawing/2014/main" id="{541370FE-760B-8A49-86AB-414E6EC3A031}"/>
              </a:ext>
            </a:extLst>
          </p:cNvPr>
          <p:cNvSpPr>
            <a:spLocks noGrp="1"/>
          </p:cNvSpPr>
          <p:nvPr>
            <p:ph type="sldNum" sz="quarter" idx="12"/>
          </p:nvPr>
        </p:nvSpPr>
        <p:spPr/>
        <p:txBody>
          <a:bodyPr/>
          <a:lstStyle/>
          <a:p>
            <a:fld id="{C71C242F-20BE-4F6C-ABA6-9DCC8641EF60}" type="slidenum">
              <a:rPr lang="en-US" smtClean="0"/>
              <a:pPr/>
              <a:t>7</a:t>
            </a:fld>
            <a:endParaRPr lang="en-US"/>
          </a:p>
        </p:txBody>
      </p:sp>
      <p:sp>
        <p:nvSpPr>
          <p:cNvPr id="5" name="Content Placeholder 2">
            <a:extLst>
              <a:ext uri="{FF2B5EF4-FFF2-40B4-BE49-F238E27FC236}">
                <a16:creationId xmlns:a16="http://schemas.microsoft.com/office/drawing/2014/main" id="{C972D4D9-ED46-0347-B721-EF390221A685}"/>
              </a:ext>
            </a:extLst>
          </p:cNvPr>
          <p:cNvSpPr>
            <a:spLocks noGrp="1"/>
          </p:cNvSpPr>
          <p:nvPr>
            <p:ph idx="1"/>
          </p:nvPr>
        </p:nvSpPr>
        <p:spPr>
          <a:xfrm>
            <a:off x="457200" y="1063229"/>
            <a:ext cx="8585200" cy="3977881"/>
          </a:xfrm>
        </p:spPr>
        <p:txBody>
          <a:bodyPr>
            <a:noAutofit/>
          </a:bodyPr>
          <a:lstStyle/>
          <a:p>
            <a:r>
              <a:rPr lang="en-US" sz="1200" dirty="0" err="1">
                <a:latin typeface="Courier" pitchFamily="2" charset="0"/>
              </a:rPr>
              <a:t>curatedOvarianData</a:t>
            </a:r>
            <a:endParaRPr lang="en-US" sz="1200" dirty="0">
              <a:latin typeface="Courier" pitchFamily="2" charset="0"/>
            </a:endParaRPr>
          </a:p>
          <a:p>
            <a:pPr lvl="1"/>
            <a:r>
              <a:rPr lang="en-US" sz="1200" dirty="0"/>
              <a:t>30 datasets, most annotated for OS, surgical debulking, histology</a:t>
            </a:r>
          </a:p>
          <a:p>
            <a:r>
              <a:rPr lang="en-US" sz="1200" dirty="0" err="1">
                <a:latin typeface="Courier" pitchFamily="2" charset="0"/>
              </a:rPr>
              <a:t>curatedCRCData</a:t>
            </a:r>
            <a:endParaRPr lang="en-US" sz="1200" dirty="0">
              <a:latin typeface="Courier" pitchFamily="2" charset="0"/>
            </a:endParaRPr>
          </a:p>
          <a:p>
            <a:pPr lvl="1"/>
            <a:r>
              <a:rPr lang="en-US" sz="1200" dirty="0"/>
              <a:t>34 datasets, many annotated for MSS, gender, stage, age, N, M</a:t>
            </a:r>
          </a:p>
          <a:p>
            <a:r>
              <a:rPr lang="en-US" sz="1200" dirty="0" err="1">
                <a:latin typeface="Courier" pitchFamily="2" charset="0"/>
              </a:rPr>
              <a:t>curatedBladderData</a:t>
            </a:r>
            <a:endParaRPr lang="en-US" sz="1200" dirty="0">
              <a:latin typeface="Courier" pitchFamily="2" charset="0"/>
            </a:endParaRPr>
          </a:p>
          <a:p>
            <a:pPr lvl="1"/>
            <a:r>
              <a:rPr lang="en-US" sz="1200" dirty="0"/>
              <a:t>12 datasets, many annotated for stage, grade, OS</a:t>
            </a:r>
          </a:p>
          <a:p>
            <a:r>
              <a:rPr lang="en-US" sz="1200" dirty="0" err="1">
                <a:latin typeface="Courier" pitchFamily="2" charset="0"/>
              </a:rPr>
              <a:t>curatedTCGAData</a:t>
            </a:r>
            <a:r>
              <a:rPr lang="en-US" sz="1200" dirty="0">
                <a:latin typeface="Courier" pitchFamily="2" charset="0"/>
              </a:rPr>
              <a:t> + </a:t>
            </a:r>
            <a:r>
              <a:rPr lang="en-US" sz="1200" dirty="0" err="1">
                <a:latin typeface="Courier" pitchFamily="2" charset="0"/>
              </a:rPr>
              <a:t>TCGAutils</a:t>
            </a:r>
            <a:endParaRPr lang="en-US" sz="1200" dirty="0">
              <a:latin typeface="Courier" pitchFamily="2" charset="0"/>
            </a:endParaRPr>
          </a:p>
          <a:p>
            <a:pPr lvl="1"/>
            <a:r>
              <a:rPr lang="en-US" sz="1200" dirty="0"/>
              <a:t>The Cancer Genome Atlas as </a:t>
            </a:r>
            <a:r>
              <a:rPr lang="en-US" sz="1200" dirty="0" err="1"/>
              <a:t>MultiAssayExperiment</a:t>
            </a:r>
            <a:endParaRPr lang="en-US" sz="1200" dirty="0"/>
          </a:p>
          <a:p>
            <a:r>
              <a:rPr lang="en-US" sz="1200" dirty="0" err="1">
                <a:latin typeface="Courier" pitchFamily="2" charset="0"/>
              </a:rPr>
              <a:t>cBioPortalData</a:t>
            </a:r>
            <a:endParaRPr lang="en-US" sz="1200" dirty="0"/>
          </a:p>
          <a:p>
            <a:pPr lvl="1"/>
            <a:r>
              <a:rPr lang="en-US" sz="1200" dirty="0"/>
              <a:t>150+ </a:t>
            </a:r>
            <a:r>
              <a:rPr lang="en-US" sz="1200" dirty="0" err="1"/>
              <a:t>multi’omics</a:t>
            </a:r>
            <a:r>
              <a:rPr lang="en-US" sz="1200" dirty="0"/>
              <a:t> cancer datasets as </a:t>
            </a:r>
            <a:r>
              <a:rPr lang="en-US" sz="1200" i="1" dirty="0" err="1"/>
              <a:t>MultiAssayExperiment</a:t>
            </a:r>
            <a:endParaRPr lang="en-US" sz="1200" i="1" dirty="0"/>
          </a:p>
          <a:p>
            <a:r>
              <a:rPr lang="en-US" sz="1200" dirty="0">
                <a:latin typeface="Courier" pitchFamily="2" charset="0"/>
              </a:rPr>
              <a:t>HMP16SData</a:t>
            </a:r>
          </a:p>
          <a:p>
            <a:pPr lvl="1"/>
            <a:r>
              <a:rPr lang="en-US" sz="1200" dirty="0"/>
              <a:t>Simple access to The Human Microbiome Project</a:t>
            </a:r>
          </a:p>
          <a:p>
            <a:r>
              <a:rPr lang="en-US" sz="1200" dirty="0">
                <a:latin typeface="Courier" pitchFamily="2" charset="0"/>
              </a:rPr>
              <a:t>curatedMetagenomicData</a:t>
            </a:r>
          </a:p>
          <a:p>
            <a:pPr lvl="1"/>
            <a:r>
              <a:rPr lang="en-US" sz="1200" dirty="0"/>
              <a:t>~20K samples processed through </a:t>
            </a:r>
            <a:r>
              <a:rPr lang="en-US" sz="1200" dirty="0" err="1"/>
              <a:t>bioBakery</a:t>
            </a:r>
            <a:r>
              <a:rPr lang="en-US" sz="1200" dirty="0"/>
              <a:t> 3 with curated metadata</a:t>
            </a:r>
          </a:p>
          <a:p>
            <a:r>
              <a:rPr lang="en-US" sz="1200" dirty="0" err="1">
                <a:latin typeface="Courier" pitchFamily="2" charset="0"/>
              </a:rPr>
              <a:t>MicrobiomeBenchmarkData</a:t>
            </a:r>
            <a:endParaRPr lang="en-US" sz="1200" dirty="0">
              <a:latin typeface="Courier" pitchFamily="2" charset="0"/>
            </a:endParaRPr>
          </a:p>
          <a:p>
            <a:pPr lvl="1"/>
            <a:r>
              <a:rPr lang="en-US" sz="1200" dirty="0">
                <a:latin typeface="Calibri" panose="020F0502020204030204" pitchFamily="34" charset="0"/>
                <a:cs typeface="Calibri" panose="020F0502020204030204" pitchFamily="34" charset="0"/>
              </a:rPr>
              <a:t>Microbiome benchmarking with experimental ground truth</a:t>
            </a:r>
          </a:p>
          <a:p>
            <a:r>
              <a:rPr lang="en-US" sz="1200" dirty="0">
                <a:latin typeface="Courier" pitchFamily="2" charset="0"/>
              </a:rPr>
              <a:t>SingleCellMultiModal</a:t>
            </a:r>
          </a:p>
          <a:p>
            <a:pPr lvl="1"/>
            <a:r>
              <a:rPr lang="en-US" sz="1200" dirty="0">
                <a:latin typeface="Calibri" panose="020F0502020204030204" pitchFamily="34" charset="0"/>
                <a:cs typeface="Calibri" panose="020F0502020204030204" pitchFamily="34" charset="0"/>
              </a:rPr>
              <a:t>Landmark datasets from new single-cell multimodal technologies</a:t>
            </a:r>
          </a:p>
        </p:txBody>
      </p:sp>
      <p:sp>
        <p:nvSpPr>
          <p:cNvPr id="6" name="TextBox 5">
            <a:extLst>
              <a:ext uri="{FF2B5EF4-FFF2-40B4-BE49-F238E27FC236}">
                <a16:creationId xmlns:a16="http://schemas.microsoft.com/office/drawing/2014/main" id="{F5D68C28-CEE5-28F2-81DA-CF29AA5A7236}"/>
              </a:ext>
            </a:extLst>
          </p:cNvPr>
          <p:cNvSpPr txBox="1"/>
          <p:nvPr/>
        </p:nvSpPr>
        <p:spPr>
          <a:xfrm>
            <a:off x="2286000" y="2343098"/>
            <a:ext cx="4572000" cy="461665"/>
          </a:xfrm>
          <a:prstGeom prst="rect">
            <a:avLst/>
          </a:prstGeom>
          <a:noFill/>
        </p:spPr>
        <p:txBody>
          <a:bodyPr wrap="square">
            <a:spAutoFit/>
          </a:bodyPr>
          <a:lstStyle/>
          <a:p>
            <a:r>
              <a:rPr lang="en-US" dirty="0"/>
              <a:t> </a:t>
            </a:r>
          </a:p>
        </p:txBody>
      </p:sp>
      <p:pic>
        <p:nvPicPr>
          <p:cNvPr id="3" name="Picture 2" descr="Bioconductor · GitHub">
            <a:extLst>
              <a:ext uri="{FF2B5EF4-FFF2-40B4-BE49-F238E27FC236}">
                <a16:creationId xmlns:a16="http://schemas.microsoft.com/office/drawing/2014/main" id="{072C82B4-40B9-4C77-C7C2-0419AA183C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5873" y="205979"/>
            <a:ext cx="641853" cy="641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23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0C56-C571-7C7B-C7BE-FE23BC65A2E6}"/>
              </a:ext>
            </a:extLst>
          </p:cNvPr>
          <p:cNvSpPr>
            <a:spLocks noGrp="1"/>
          </p:cNvSpPr>
          <p:nvPr>
            <p:ph type="title"/>
          </p:nvPr>
        </p:nvSpPr>
        <p:spPr/>
        <p:txBody>
          <a:bodyPr>
            <a:normAutofit fontScale="90000"/>
          </a:bodyPr>
          <a:lstStyle/>
          <a:p>
            <a:r>
              <a:rPr lang="en-US" dirty="0" err="1"/>
              <a:t>SingleCellMultiModal</a:t>
            </a:r>
            <a:br>
              <a:rPr lang="en-US" dirty="0"/>
            </a:br>
            <a:r>
              <a:rPr lang="en-US" sz="2200" dirty="0"/>
              <a:t>landmark datasets on select single-cell multimodal technologies for benchmarking and methods development</a:t>
            </a:r>
          </a:p>
        </p:txBody>
      </p:sp>
      <p:sp>
        <p:nvSpPr>
          <p:cNvPr id="4" name="Slide Number Placeholder 3">
            <a:extLst>
              <a:ext uri="{FF2B5EF4-FFF2-40B4-BE49-F238E27FC236}">
                <a16:creationId xmlns:a16="http://schemas.microsoft.com/office/drawing/2014/main" id="{CEA66765-0F19-D813-5FFF-365AAAC76257}"/>
              </a:ext>
            </a:extLst>
          </p:cNvPr>
          <p:cNvSpPr>
            <a:spLocks noGrp="1"/>
          </p:cNvSpPr>
          <p:nvPr>
            <p:ph type="sldNum" sz="quarter" idx="12"/>
          </p:nvPr>
        </p:nvSpPr>
        <p:spPr/>
        <p:txBody>
          <a:bodyPr/>
          <a:lstStyle/>
          <a:p>
            <a:fld id="{C71C242F-20BE-4F6C-ABA6-9DCC8641EF60}" type="slidenum">
              <a:rPr lang="en-US" smtClean="0"/>
              <a:pPr/>
              <a:t>8</a:t>
            </a:fld>
            <a:endParaRPr lang="en-US"/>
          </a:p>
        </p:txBody>
      </p:sp>
      <p:graphicFrame>
        <p:nvGraphicFramePr>
          <p:cNvPr id="7" name="Table 6">
            <a:extLst>
              <a:ext uri="{FF2B5EF4-FFF2-40B4-BE49-F238E27FC236}">
                <a16:creationId xmlns:a16="http://schemas.microsoft.com/office/drawing/2014/main" id="{BC21E5E9-9469-1D11-D17A-AAE6D97C783A}"/>
              </a:ext>
            </a:extLst>
          </p:cNvPr>
          <p:cNvGraphicFramePr>
            <a:graphicFrameLocks noGrp="1"/>
          </p:cNvGraphicFramePr>
          <p:nvPr/>
        </p:nvGraphicFramePr>
        <p:xfrm>
          <a:off x="783336" y="1574931"/>
          <a:ext cx="7577328" cy="3466179"/>
        </p:xfrm>
        <a:graphic>
          <a:graphicData uri="http://schemas.openxmlformats.org/drawingml/2006/table">
            <a:tbl>
              <a:tblPr/>
              <a:tblGrid>
                <a:gridCol w="2629903">
                  <a:extLst>
                    <a:ext uri="{9D8B030D-6E8A-4147-A177-3AD203B41FA5}">
                      <a16:colId xmlns:a16="http://schemas.microsoft.com/office/drawing/2014/main" val="1402621136"/>
                    </a:ext>
                  </a:extLst>
                </a:gridCol>
                <a:gridCol w="1363497">
                  <a:extLst>
                    <a:ext uri="{9D8B030D-6E8A-4147-A177-3AD203B41FA5}">
                      <a16:colId xmlns:a16="http://schemas.microsoft.com/office/drawing/2014/main" val="939328683"/>
                    </a:ext>
                  </a:extLst>
                </a:gridCol>
                <a:gridCol w="3583928">
                  <a:extLst>
                    <a:ext uri="{9D8B030D-6E8A-4147-A177-3AD203B41FA5}">
                      <a16:colId xmlns:a16="http://schemas.microsoft.com/office/drawing/2014/main" val="1222705868"/>
                    </a:ext>
                  </a:extLst>
                </a:gridCol>
              </a:tblGrid>
              <a:tr h="327577">
                <a:tc>
                  <a:txBody>
                    <a:bodyPr/>
                    <a:lstStyle/>
                    <a:p>
                      <a:pPr rtl="0" fontAlgn="t">
                        <a:spcBef>
                          <a:spcPts val="0"/>
                        </a:spcBef>
                        <a:spcAft>
                          <a:spcPts val="0"/>
                        </a:spcAft>
                      </a:pPr>
                      <a:r>
                        <a:rPr lang="en-US" sz="1600" b="0" i="0" u="none" strike="noStrike">
                          <a:solidFill>
                            <a:srgbClr val="000000"/>
                          </a:solidFill>
                          <a:effectLst/>
                          <a:highlight>
                            <a:srgbClr val="D9D2E9"/>
                          </a:highlight>
                          <a:latin typeface="Arial" panose="020B0604020202020204" pitchFamily="34" charset="0"/>
                        </a:rPr>
                        <a:t>DataType</a:t>
                      </a:r>
                      <a:endParaRPr lang="en-US" sz="900">
                        <a:effectLst/>
                        <a:highlight>
                          <a:srgbClr val="D9D2E9"/>
                        </a:highligh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D9D2E9"/>
                    </a:solidFill>
                  </a:tcPr>
                </a:tc>
                <a:tc>
                  <a:txBody>
                    <a:bodyPr/>
                    <a:lstStyle/>
                    <a:p>
                      <a:pPr rtl="0" fontAlgn="t">
                        <a:spcBef>
                          <a:spcPts val="0"/>
                        </a:spcBef>
                        <a:spcAft>
                          <a:spcPts val="0"/>
                        </a:spcAft>
                      </a:pPr>
                      <a:r>
                        <a:rPr lang="en-US" sz="1600" b="0" i="0" u="none" strike="noStrike">
                          <a:solidFill>
                            <a:srgbClr val="000000"/>
                          </a:solidFill>
                          <a:effectLst/>
                          <a:highlight>
                            <a:srgbClr val="D9D2E9"/>
                          </a:highlight>
                          <a:latin typeface="Arial" panose="020B0604020202020204" pitchFamily="34" charset="0"/>
                        </a:rPr>
                        <a:t>Technology</a:t>
                      </a:r>
                      <a:endParaRPr lang="en-US" sz="900">
                        <a:effectLst/>
                        <a:highlight>
                          <a:srgbClr val="D9D2E9"/>
                        </a:highligh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D9D2E9"/>
                    </a:solidFill>
                  </a:tcPr>
                </a:tc>
                <a:tc>
                  <a:txBody>
                    <a:bodyPr/>
                    <a:lstStyle/>
                    <a:p>
                      <a:pPr rtl="0" fontAlgn="t">
                        <a:spcBef>
                          <a:spcPts val="0"/>
                        </a:spcBef>
                        <a:spcAft>
                          <a:spcPts val="0"/>
                        </a:spcAft>
                      </a:pPr>
                      <a:r>
                        <a:rPr lang="en-US" sz="1600" b="0" i="0" u="none" strike="noStrike">
                          <a:solidFill>
                            <a:srgbClr val="000000"/>
                          </a:solidFill>
                          <a:effectLst/>
                          <a:highlight>
                            <a:srgbClr val="D9D2E9"/>
                          </a:highlight>
                          <a:latin typeface="Arial" panose="020B0604020202020204" pitchFamily="34" charset="0"/>
                        </a:rPr>
                        <a:t>Modalities (Ref.No.)</a:t>
                      </a:r>
                      <a:endParaRPr lang="en-US" sz="900">
                        <a:effectLst/>
                        <a:highlight>
                          <a:srgbClr val="D9D2E9"/>
                        </a:highligh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D9D2E9"/>
                    </a:solidFill>
                  </a:tcPr>
                </a:tc>
                <a:extLst>
                  <a:ext uri="{0D108BD9-81ED-4DB2-BD59-A6C34878D82A}">
                    <a16:rowId xmlns:a16="http://schemas.microsoft.com/office/drawing/2014/main" val="3159104068"/>
                  </a:ext>
                </a:extLst>
              </a:tr>
              <a:tr h="346151">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cord_blood</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CITE-seq</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Cell surface marker + mRNA (1)</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867546744"/>
                  </a:ext>
                </a:extLst>
              </a:tr>
              <a:tr h="662752">
                <a:tc>
                  <a:txBody>
                    <a:bodyPr/>
                    <a:lstStyle/>
                    <a:p>
                      <a:pPr rtl="0" fontAlgn="t">
                        <a:spcBef>
                          <a:spcPts val="0"/>
                        </a:spcBef>
                        <a:spcAft>
                          <a:spcPts val="0"/>
                        </a:spcAft>
                      </a:pPr>
                      <a:r>
                        <a:rPr lang="en-US" sz="1600" b="0" i="0" u="none" strike="noStrike" dirty="0" err="1">
                          <a:solidFill>
                            <a:srgbClr val="000000"/>
                          </a:solidFill>
                          <a:effectLst/>
                          <a:latin typeface="Arial" panose="020B0604020202020204" pitchFamily="34" charset="0"/>
                        </a:rPr>
                        <a:t>peripheral_blood</a:t>
                      </a:r>
                      <a:endParaRPr lang="en-US" sz="900" dirty="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ECCITE-seq</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Cell surface marker + mRNA + CRISPR perturbations (2)</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082172764"/>
                  </a:ext>
                </a:extLst>
              </a:tr>
              <a:tr h="570727">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mouse_gastrulation</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scNMT</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Epigenetic markers (chromatin accessibility, methylation) + mRNA (3)</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916441936"/>
                  </a:ext>
                </a:extLst>
              </a:tr>
              <a:tr h="327577">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mouse_visual_cortex</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seqFISH</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mRNA in spatial context,</a:t>
                      </a:r>
                      <a:r>
                        <a:rPr lang="en-US" sz="1600" b="0" i="1" u="none" strike="noStrike">
                          <a:solidFill>
                            <a:srgbClr val="000000"/>
                          </a:solidFill>
                          <a:effectLst/>
                          <a:latin typeface="Arial" panose="020B0604020202020204" pitchFamily="34" charset="0"/>
                        </a:rPr>
                        <a:t> in situ  </a:t>
                      </a:r>
                      <a:r>
                        <a:rPr lang="en-US" sz="1600" b="0" i="0" u="none" strike="noStrike">
                          <a:solidFill>
                            <a:srgbClr val="000000"/>
                          </a:solidFill>
                          <a:effectLst/>
                          <a:latin typeface="Arial" panose="020B0604020202020204" pitchFamily="34" charset="0"/>
                        </a:rPr>
                        <a:t>(4, 5)</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547434937"/>
                  </a:ext>
                </a:extLst>
              </a:tr>
              <a:tr h="327577">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macrophage_differentiation</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SCoPE2</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Peptides + mRNA (6)</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057131486"/>
                  </a:ext>
                </a:extLst>
              </a:tr>
              <a:tr h="327577">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mouse_embryo_8_cell</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G&amp;T-seq</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Genome + mRNA (7)</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9825154"/>
                  </a:ext>
                </a:extLst>
              </a:tr>
              <a:tr h="570727">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pbmc_10x</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a:solidFill>
                            <a:srgbClr val="000000"/>
                          </a:solidFill>
                          <a:effectLst/>
                          <a:latin typeface="Arial" panose="020B0604020202020204" pitchFamily="34" charset="0"/>
                        </a:rPr>
                        <a:t>10X Multiome ATAC-seq</a:t>
                      </a:r>
                      <a:endParaRPr lang="en-US" sz="90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600" b="0" i="0" u="none" strike="noStrike" dirty="0">
                          <a:solidFill>
                            <a:srgbClr val="000000"/>
                          </a:solidFill>
                          <a:effectLst/>
                          <a:latin typeface="Arial" panose="020B0604020202020204" pitchFamily="34" charset="0"/>
                        </a:rPr>
                        <a:t>Chromatin accessibility + mRNA (8)</a:t>
                      </a:r>
                      <a:endParaRPr lang="en-US" sz="900" dirty="0">
                        <a:effectLst/>
                      </a:endParaRPr>
                    </a:p>
                  </a:txBody>
                  <a:tcPr marL="42213" marR="42213" marT="42213" marB="42213">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824208577"/>
                  </a:ext>
                </a:extLst>
              </a:tr>
            </a:tbl>
          </a:graphicData>
        </a:graphic>
      </p:graphicFrame>
      <p:sp>
        <p:nvSpPr>
          <p:cNvPr id="8" name="Rectangle 1">
            <a:extLst>
              <a:ext uri="{FF2B5EF4-FFF2-40B4-BE49-F238E27FC236}">
                <a16:creationId xmlns:a16="http://schemas.microsoft.com/office/drawing/2014/main" id="{7206AC24-1D84-542E-46AD-8E8CC8C42425}"/>
              </a:ext>
            </a:extLst>
          </p:cNvPr>
          <p:cNvSpPr>
            <a:spLocks noChangeArrowheads="1"/>
          </p:cNvSpPr>
          <p:nvPr/>
        </p:nvSpPr>
        <p:spPr bwMode="auto">
          <a:xfrm>
            <a:off x="457203" y="1124896"/>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89274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0147E-D642-AA26-876C-44FC0CC1EA9D}"/>
              </a:ext>
            </a:extLst>
          </p:cNvPr>
          <p:cNvSpPr>
            <a:spLocks noGrp="1"/>
          </p:cNvSpPr>
          <p:nvPr>
            <p:ph type="title"/>
          </p:nvPr>
        </p:nvSpPr>
        <p:spPr>
          <a:xfrm>
            <a:off x="2236206" y="102390"/>
            <a:ext cx="4671588" cy="687055"/>
          </a:xfrm>
        </p:spPr>
        <p:txBody>
          <a:bodyPr>
            <a:normAutofit/>
          </a:bodyPr>
          <a:lstStyle/>
          <a:p>
            <a:r>
              <a:rPr lang="en-US" sz="2800" dirty="0"/>
              <a:t>SingleCellMultiModal usage</a:t>
            </a:r>
          </a:p>
        </p:txBody>
      </p:sp>
      <p:sp>
        <p:nvSpPr>
          <p:cNvPr id="3" name="Slide Number Placeholder 2">
            <a:extLst>
              <a:ext uri="{FF2B5EF4-FFF2-40B4-BE49-F238E27FC236}">
                <a16:creationId xmlns:a16="http://schemas.microsoft.com/office/drawing/2014/main" id="{2F2AA200-7476-E387-FAFC-5C50D84405FD}"/>
              </a:ext>
            </a:extLst>
          </p:cNvPr>
          <p:cNvSpPr>
            <a:spLocks noGrp="1"/>
          </p:cNvSpPr>
          <p:nvPr>
            <p:ph type="sldNum" sz="quarter" idx="12"/>
          </p:nvPr>
        </p:nvSpPr>
        <p:spPr/>
        <p:txBody>
          <a:bodyPr/>
          <a:lstStyle/>
          <a:p>
            <a:fld id="{984A0C0E-8BF0-4721-8DD7-E8BD3CE0ACCE}" type="slidenum">
              <a:rPr lang="en-US" smtClean="0"/>
              <a:pPr/>
              <a:t>9</a:t>
            </a:fld>
            <a:endParaRPr lang="en-US"/>
          </a:p>
        </p:txBody>
      </p:sp>
      <p:pic>
        <p:nvPicPr>
          <p:cNvPr id="3074" name="Picture 2">
            <a:extLst>
              <a:ext uri="{FF2B5EF4-FFF2-40B4-BE49-F238E27FC236}">
                <a16:creationId xmlns:a16="http://schemas.microsoft.com/office/drawing/2014/main" id="{10DC02C3-5E5D-0088-2844-060B48F051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2602"/>
          <a:stretch/>
        </p:blipFill>
        <p:spPr bwMode="auto">
          <a:xfrm>
            <a:off x="1645657" y="1747714"/>
            <a:ext cx="5852686" cy="21203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1B0278C-45EE-DB49-A93F-CCEA08173801}"/>
              </a:ext>
            </a:extLst>
          </p:cNvPr>
          <p:cNvSpPr txBox="1"/>
          <p:nvPr/>
        </p:nvSpPr>
        <p:spPr>
          <a:xfrm>
            <a:off x="304817" y="4536433"/>
            <a:ext cx="8839183" cy="461665"/>
          </a:xfrm>
          <a:prstGeom prst="rect">
            <a:avLst/>
          </a:prstGeom>
          <a:noFill/>
        </p:spPr>
        <p:txBody>
          <a:bodyPr wrap="square">
            <a:spAutoFit/>
          </a:bodyPr>
          <a:lstStyle/>
          <a:p>
            <a:r>
              <a:rPr lang="en-US" sz="1200" dirty="0" err="1"/>
              <a:t>Eckenrode</a:t>
            </a:r>
            <a:r>
              <a:rPr lang="en-US" sz="1200" dirty="0"/>
              <a:t> </a:t>
            </a:r>
            <a:r>
              <a:rPr lang="en-US" sz="1200" i="1" dirty="0"/>
              <a:t>et al.</a:t>
            </a:r>
            <a:r>
              <a:rPr lang="en-US" sz="1200" dirty="0"/>
              <a:t> Curated single cell multimodal landmark datasets for R/Bioconductor. </a:t>
            </a:r>
            <a:r>
              <a:rPr lang="en-US" sz="1200" i="1" dirty="0" err="1"/>
              <a:t>PLoS</a:t>
            </a:r>
            <a:r>
              <a:rPr lang="en-US" sz="1200" i="1" dirty="0"/>
              <a:t> </a:t>
            </a:r>
            <a:r>
              <a:rPr lang="en-US" sz="1200" i="1" dirty="0" err="1"/>
              <a:t>Comput</a:t>
            </a:r>
            <a:r>
              <a:rPr lang="en-US" sz="1200" i="1" dirty="0"/>
              <a:t>. Biol.</a:t>
            </a:r>
            <a:r>
              <a:rPr lang="en-US" sz="1200" dirty="0"/>
              <a:t> </a:t>
            </a:r>
            <a:r>
              <a:rPr lang="en-US" sz="1200" b="1" dirty="0"/>
              <a:t>19</a:t>
            </a:r>
            <a:r>
              <a:rPr lang="en-US" sz="1200" dirty="0"/>
              <a:t>, e1011324 (2023)</a:t>
            </a:r>
          </a:p>
          <a:p>
            <a:r>
              <a:rPr lang="en-US" sz="1200" dirty="0">
                <a:hlinkClick r:id="rId3"/>
              </a:rPr>
              <a:t>https://www.bioconductor.org/packages/SingleCellMultiModal/</a:t>
            </a:r>
            <a:r>
              <a:rPr lang="en-US" sz="1200" dirty="0"/>
              <a:t> </a:t>
            </a:r>
          </a:p>
        </p:txBody>
      </p:sp>
      <p:pic>
        <p:nvPicPr>
          <p:cNvPr id="7" name="Picture 6" descr="Bioconductor · GitHub">
            <a:extLst>
              <a:ext uri="{FF2B5EF4-FFF2-40B4-BE49-F238E27FC236}">
                <a16:creationId xmlns:a16="http://schemas.microsoft.com/office/drawing/2014/main" id="{88D435CD-C88A-DD8C-3E26-9183BE066F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 y="4633037"/>
            <a:ext cx="392670" cy="392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803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2AA200-7476-E387-FAFC-5C50D84405FD}"/>
              </a:ext>
            </a:extLst>
          </p:cNvPr>
          <p:cNvSpPr>
            <a:spLocks noGrp="1"/>
          </p:cNvSpPr>
          <p:nvPr>
            <p:ph type="sldNum" sz="quarter" idx="12"/>
          </p:nvPr>
        </p:nvSpPr>
        <p:spPr/>
        <p:txBody>
          <a:bodyPr/>
          <a:lstStyle/>
          <a:p>
            <a:fld id="{984A0C0E-8BF0-4721-8DD7-E8BD3CE0ACCE}" type="slidenum">
              <a:rPr lang="en-US" smtClean="0"/>
              <a:pPr/>
              <a:t>10</a:t>
            </a:fld>
            <a:endParaRPr lang="en-US"/>
          </a:p>
        </p:txBody>
      </p:sp>
      <p:sp>
        <p:nvSpPr>
          <p:cNvPr id="6" name="Title 1">
            <a:extLst>
              <a:ext uri="{FF2B5EF4-FFF2-40B4-BE49-F238E27FC236}">
                <a16:creationId xmlns:a16="http://schemas.microsoft.com/office/drawing/2014/main" id="{D0DCE1BE-BA90-4489-FD94-9D5774A90785}"/>
              </a:ext>
            </a:extLst>
          </p:cNvPr>
          <p:cNvSpPr>
            <a:spLocks noGrp="1"/>
          </p:cNvSpPr>
          <p:nvPr>
            <p:ph type="title"/>
          </p:nvPr>
        </p:nvSpPr>
        <p:spPr>
          <a:xfrm>
            <a:off x="2236206" y="102390"/>
            <a:ext cx="4671588" cy="687055"/>
          </a:xfrm>
        </p:spPr>
        <p:txBody>
          <a:bodyPr>
            <a:normAutofit/>
          </a:bodyPr>
          <a:lstStyle/>
          <a:p>
            <a:r>
              <a:rPr lang="en-US" sz="2800" dirty="0"/>
              <a:t>SingleCellMultiModal usage</a:t>
            </a:r>
          </a:p>
        </p:txBody>
      </p:sp>
      <p:pic>
        <p:nvPicPr>
          <p:cNvPr id="10" name="Picture 9" descr="A screenshot of a computer&#10;&#10;Description automatically generated">
            <a:extLst>
              <a:ext uri="{FF2B5EF4-FFF2-40B4-BE49-F238E27FC236}">
                <a16:creationId xmlns:a16="http://schemas.microsoft.com/office/drawing/2014/main" id="{1255557F-2DD3-3B03-BF89-918B8A32E956}"/>
              </a:ext>
            </a:extLst>
          </p:cNvPr>
          <p:cNvPicPr>
            <a:picLocks noChangeAspect="1"/>
          </p:cNvPicPr>
          <p:nvPr/>
        </p:nvPicPr>
        <p:blipFill rotWithShape="1">
          <a:blip r:embed="rId2">
            <a:extLst>
              <a:ext uri="{28A0092B-C50C-407E-A947-70E740481C1C}">
                <a14:useLocalDpi xmlns:a14="http://schemas.microsoft.com/office/drawing/2010/main" val="0"/>
              </a:ext>
            </a:extLst>
          </a:blip>
          <a:srcRect t="27776" b="42274"/>
          <a:stretch/>
        </p:blipFill>
        <p:spPr>
          <a:xfrm>
            <a:off x="487899" y="1052417"/>
            <a:ext cx="8168202" cy="3233381"/>
          </a:xfrm>
          <a:prstGeom prst="rect">
            <a:avLst/>
          </a:prstGeom>
        </p:spPr>
      </p:pic>
      <p:sp>
        <p:nvSpPr>
          <p:cNvPr id="12" name="TextBox 11">
            <a:extLst>
              <a:ext uri="{FF2B5EF4-FFF2-40B4-BE49-F238E27FC236}">
                <a16:creationId xmlns:a16="http://schemas.microsoft.com/office/drawing/2014/main" id="{31726918-BCA1-C4C8-651E-2DE5161B2E24}"/>
              </a:ext>
            </a:extLst>
          </p:cNvPr>
          <p:cNvSpPr txBox="1"/>
          <p:nvPr/>
        </p:nvSpPr>
        <p:spPr>
          <a:xfrm>
            <a:off x="304817" y="4536433"/>
            <a:ext cx="8839183" cy="461665"/>
          </a:xfrm>
          <a:prstGeom prst="rect">
            <a:avLst/>
          </a:prstGeom>
          <a:noFill/>
        </p:spPr>
        <p:txBody>
          <a:bodyPr wrap="square">
            <a:spAutoFit/>
          </a:bodyPr>
          <a:lstStyle/>
          <a:p>
            <a:r>
              <a:rPr lang="en-US" sz="1200" dirty="0" err="1"/>
              <a:t>Eckenrode</a:t>
            </a:r>
            <a:r>
              <a:rPr lang="en-US" sz="1200" dirty="0"/>
              <a:t> </a:t>
            </a:r>
            <a:r>
              <a:rPr lang="en-US" sz="1200" i="1" dirty="0"/>
              <a:t>et al.</a:t>
            </a:r>
            <a:r>
              <a:rPr lang="en-US" sz="1200" dirty="0"/>
              <a:t> Curated single cell multimodal landmark datasets for R/Bioconductor. </a:t>
            </a:r>
            <a:r>
              <a:rPr lang="en-US" sz="1200" i="1" dirty="0" err="1"/>
              <a:t>PLoS</a:t>
            </a:r>
            <a:r>
              <a:rPr lang="en-US" sz="1200" i="1" dirty="0"/>
              <a:t> </a:t>
            </a:r>
            <a:r>
              <a:rPr lang="en-US" sz="1200" i="1" dirty="0" err="1"/>
              <a:t>Comput</a:t>
            </a:r>
            <a:r>
              <a:rPr lang="en-US" sz="1200" i="1" dirty="0"/>
              <a:t>. Biol.</a:t>
            </a:r>
            <a:r>
              <a:rPr lang="en-US" sz="1200" dirty="0"/>
              <a:t> </a:t>
            </a:r>
            <a:r>
              <a:rPr lang="en-US" sz="1200" b="1" dirty="0"/>
              <a:t>19</a:t>
            </a:r>
            <a:r>
              <a:rPr lang="en-US" sz="1200" dirty="0"/>
              <a:t>, e1011324 (2023)</a:t>
            </a:r>
          </a:p>
          <a:p>
            <a:r>
              <a:rPr lang="en-US" sz="1200" dirty="0">
                <a:hlinkClick r:id="rId3"/>
              </a:rPr>
              <a:t>https://www.bioconductor.org/packages/SingleCellMultiModal/</a:t>
            </a:r>
            <a:r>
              <a:rPr lang="en-US" sz="1200" dirty="0"/>
              <a:t> </a:t>
            </a:r>
          </a:p>
        </p:txBody>
      </p:sp>
      <p:pic>
        <p:nvPicPr>
          <p:cNvPr id="13" name="Picture 12" descr="Bioconductor · GitHub">
            <a:extLst>
              <a:ext uri="{FF2B5EF4-FFF2-40B4-BE49-F238E27FC236}">
                <a16:creationId xmlns:a16="http://schemas.microsoft.com/office/drawing/2014/main" id="{E5DE40B1-4ED9-A8D9-0A77-5F3DA43732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 y="4633037"/>
            <a:ext cx="392670" cy="392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562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2AA200-7476-E387-FAFC-5C50D84405FD}"/>
              </a:ext>
            </a:extLst>
          </p:cNvPr>
          <p:cNvSpPr>
            <a:spLocks noGrp="1"/>
          </p:cNvSpPr>
          <p:nvPr>
            <p:ph type="sldNum" sz="quarter" idx="12"/>
          </p:nvPr>
        </p:nvSpPr>
        <p:spPr/>
        <p:txBody>
          <a:bodyPr/>
          <a:lstStyle/>
          <a:p>
            <a:fld id="{984A0C0E-8BF0-4721-8DD7-E8BD3CE0ACCE}" type="slidenum">
              <a:rPr lang="en-US" smtClean="0"/>
              <a:pPr/>
              <a:t>11</a:t>
            </a:fld>
            <a:endParaRPr lang="en-US"/>
          </a:p>
        </p:txBody>
      </p:sp>
      <p:pic>
        <p:nvPicPr>
          <p:cNvPr id="3074" name="Picture 2">
            <a:extLst>
              <a:ext uri="{FF2B5EF4-FFF2-40B4-BE49-F238E27FC236}">
                <a16:creationId xmlns:a16="http://schemas.microsoft.com/office/drawing/2014/main" id="{10DC02C3-5E5D-0088-2844-060B48F051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8735"/>
          <a:stretch/>
        </p:blipFill>
        <p:spPr bwMode="auto">
          <a:xfrm>
            <a:off x="3667594" y="1276538"/>
            <a:ext cx="5176702" cy="282468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43B14AFD-689F-6578-433A-1CF47C1BBCEB}"/>
              </a:ext>
            </a:extLst>
          </p:cNvPr>
          <p:cNvSpPr>
            <a:spLocks noGrp="1"/>
          </p:cNvSpPr>
          <p:nvPr>
            <p:ph type="title"/>
          </p:nvPr>
        </p:nvSpPr>
        <p:spPr>
          <a:xfrm>
            <a:off x="2236206" y="102390"/>
            <a:ext cx="4671588" cy="687055"/>
          </a:xfrm>
        </p:spPr>
        <p:txBody>
          <a:bodyPr>
            <a:normAutofit/>
          </a:bodyPr>
          <a:lstStyle/>
          <a:p>
            <a:r>
              <a:rPr lang="en-US" sz="2800" dirty="0"/>
              <a:t>SingleCellMultiModal usage</a:t>
            </a:r>
          </a:p>
        </p:txBody>
      </p:sp>
      <p:pic>
        <p:nvPicPr>
          <p:cNvPr id="7" name="Picture 2">
            <a:extLst>
              <a:ext uri="{FF2B5EF4-FFF2-40B4-BE49-F238E27FC236}">
                <a16:creationId xmlns:a16="http://schemas.microsoft.com/office/drawing/2014/main" id="{1CD0B520-F932-822E-E2DF-D00BCED52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44110" y="1042280"/>
            <a:ext cx="3074556" cy="305053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826D5F8-CF57-128D-AE44-FEB5177C6CB1}"/>
              </a:ext>
            </a:extLst>
          </p:cNvPr>
          <p:cNvSpPr txBox="1"/>
          <p:nvPr/>
        </p:nvSpPr>
        <p:spPr>
          <a:xfrm>
            <a:off x="304817" y="4194454"/>
            <a:ext cx="3362777" cy="338554"/>
          </a:xfrm>
          <a:prstGeom prst="rect">
            <a:avLst/>
          </a:prstGeom>
          <a:noFill/>
        </p:spPr>
        <p:txBody>
          <a:bodyPr wrap="square" rtlCol="0">
            <a:spAutoFit/>
          </a:bodyPr>
          <a:lstStyle/>
          <a:p>
            <a:r>
              <a:rPr lang="en-US" sz="1600" dirty="0" err="1">
                <a:latin typeface="Courier New" panose="02070309020205020404" pitchFamily="49" charset="0"/>
                <a:cs typeface="Courier New" panose="02070309020205020404" pitchFamily="49" charset="0"/>
              </a:rPr>
              <a:t>upsetSamples</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ECCITEseq</a:t>
            </a:r>
            <a:r>
              <a:rPr lang="en-US" sz="1600" dirty="0">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AEFC6B91-45FF-9B0F-CFC6-1E1CAA166F14}"/>
              </a:ext>
            </a:extLst>
          </p:cNvPr>
          <p:cNvSpPr txBox="1"/>
          <p:nvPr/>
        </p:nvSpPr>
        <p:spPr>
          <a:xfrm>
            <a:off x="304817" y="4536433"/>
            <a:ext cx="8839183" cy="461665"/>
          </a:xfrm>
          <a:prstGeom prst="rect">
            <a:avLst/>
          </a:prstGeom>
          <a:noFill/>
        </p:spPr>
        <p:txBody>
          <a:bodyPr wrap="square">
            <a:spAutoFit/>
          </a:bodyPr>
          <a:lstStyle/>
          <a:p>
            <a:r>
              <a:rPr lang="en-US" sz="1200" dirty="0" err="1"/>
              <a:t>Eckenrode</a:t>
            </a:r>
            <a:r>
              <a:rPr lang="en-US" sz="1200" dirty="0"/>
              <a:t> </a:t>
            </a:r>
            <a:r>
              <a:rPr lang="en-US" sz="1200" i="1" dirty="0"/>
              <a:t>et al.</a:t>
            </a:r>
            <a:r>
              <a:rPr lang="en-US" sz="1200" dirty="0"/>
              <a:t> Curated single cell multimodal landmark datasets for R/Bioconductor. </a:t>
            </a:r>
            <a:r>
              <a:rPr lang="en-US" sz="1200" i="1" dirty="0" err="1"/>
              <a:t>PLoS</a:t>
            </a:r>
            <a:r>
              <a:rPr lang="en-US" sz="1200" i="1" dirty="0"/>
              <a:t> </a:t>
            </a:r>
            <a:r>
              <a:rPr lang="en-US" sz="1200" i="1" dirty="0" err="1"/>
              <a:t>Comput</a:t>
            </a:r>
            <a:r>
              <a:rPr lang="en-US" sz="1200" i="1" dirty="0"/>
              <a:t>. Biol.</a:t>
            </a:r>
            <a:r>
              <a:rPr lang="en-US" sz="1200" dirty="0"/>
              <a:t> </a:t>
            </a:r>
            <a:r>
              <a:rPr lang="en-US" sz="1200" b="1" dirty="0"/>
              <a:t>19</a:t>
            </a:r>
            <a:r>
              <a:rPr lang="en-US" sz="1200" dirty="0"/>
              <a:t>, e1011324 (2023)</a:t>
            </a:r>
          </a:p>
          <a:p>
            <a:r>
              <a:rPr lang="en-US" sz="1200" dirty="0">
                <a:hlinkClick r:id="rId4"/>
              </a:rPr>
              <a:t>https://www.bioconductor.org/packages/SingleCellMultiModal/</a:t>
            </a:r>
            <a:r>
              <a:rPr lang="en-US" sz="1200" dirty="0"/>
              <a:t> </a:t>
            </a:r>
          </a:p>
        </p:txBody>
      </p:sp>
      <p:pic>
        <p:nvPicPr>
          <p:cNvPr id="10" name="Picture 9" descr="Bioconductor · GitHub">
            <a:extLst>
              <a:ext uri="{FF2B5EF4-FFF2-40B4-BE49-F238E27FC236}">
                <a16:creationId xmlns:a16="http://schemas.microsoft.com/office/drawing/2014/main" id="{8940B90A-59FC-23D8-B9FF-C2DAEE2CD2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5" y="4633037"/>
            <a:ext cx="392670" cy="392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48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EEC19-8E3A-E340-A797-705880CC743E}"/>
              </a:ext>
            </a:extLst>
          </p:cNvPr>
          <p:cNvSpPr>
            <a:spLocks noGrp="1"/>
          </p:cNvSpPr>
          <p:nvPr>
            <p:ph type="title"/>
          </p:nvPr>
        </p:nvSpPr>
        <p:spPr>
          <a:xfrm>
            <a:off x="1258432" y="149441"/>
            <a:ext cx="6433821" cy="573379"/>
          </a:xfrm>
        </p:spPr>
        <p:txBody>
          <a:bodyPr vert="horz" lIns="91440" tIns="45720" rIns="91440" bIns="45720" rtlCol="0" anchor="b">
            <a:noAutofit/>
          </a:bodyPr>
          <a:lstStyle/>
          <a:p>
            <a:pPr algn="l" defTabSz="914400">
              <a:lnSpc>
                <a:spcPct val="90000"/>
              </a:lnSpc>
            </a:pPr>
            <a:r>
              <a:rPr lang="en-US" kern="1200" dirty="0" err="1">
                <a:solidFill>
                  <a:schemeClr val="tx1"/>
                </a:solidFill>
                <a:latin typeface="+mj-lt"/>
                <a:ea typeface="+mj-ea"/>
                <a:cs typeface="+mj-cs"/>
              </a:rPr>
              <a:t>GenomicSuperSignature</a:t>
            </a:r>
            <a:endParaRPr lang="en-US" kern="1200" dirty="0">
              <a:solidFill>
                <a:schemeClr val="tx1"/>
              </a:solidFill>
              <a:latin typeface="+mj-lt"/>
              <a:ea typeface="+mj-ea"/>
              <a:cs typeface="+mj-cs"/>
            </a:endParaRPr>
          </a:p>
        </p:txBody>
      </p:sp>
      <p:pic>
        <p:nvPicPr>
          <p:cNvPr id="3" name="Google Shape;152;p23">
            <a:extLst>
              <a:ext uri="{FF2B5EF4-FFF2-40B4-BE49-F238E27FC236}">
                <a16:creationId xmlns:a16="http://schemas.microsoft.com/office/drawing/2014/main" id="{954465A2-930E-BC24-5BAF-AFB2F32315E9}"/>
              </a:ext>
            </a:extLst>
          </p:cNvPr>
          <p:cNvPicPr preferRelativeResize="0"/>
          <p:nvPr/>
        </p:nvPicPr>
        <p:blipFill rotWithShape="1">
          <a:blip r:embed="rId2"/>
          <a:srcRect l="4399" t="5526" r="4092" b="6126"/>
          <a:stretch/>
        </p:blipFill>
        <p:spPr>
          <a:xfrm>
            <a:off x="1451747" y="995881"/>
            <a:ext cx="6034903" cy="3277355"/>
          </a:xfrm>
          <a:prstGeom prst="rect">
            <a:avLst/>
          </a:prstGeom>
          <a:noFill/>
        </p:spPr>
      </p:pic>
      <p:sp>
        <p:nvSpPr>
          <p:cNvPr id="4" name="Slide Number Placeholder 3">
            <a:extLst>
              <a:ext uri="{FF2B5EF4-FFF2-40B4-BE49-F238E27FC236}">
                <a16:creationId xmlns:a16="http://schemas.microsoft.com/office/drawing/2014/main" id="{45F9196E-235A-9E4F-902B-0C583FAB1C37}"/>
              </a:ext>
            </a:extLst>
          </p:cNvPr>
          <p:cNvSpPr>
            <a:spLocks noGrp="1"/>
          </p:cNvSpPr>
          <p:nvPr>
            <p:ph type="sldNum" sz="quarter" idx="12"/>
          </p:nvPr>
        </p:nvSpPr>
        <p:spPr>
          <a:xfrm>
            <a:off x="6457950" y="5499105"/>
            <a:ext cx="2057400" cy="365125"/>
          </a:xfrm>
        </p:spPr>
        <p:txBody>
          <a:bodyPr vert="horz" lIns="91440" tIns="45720" rIns="91440" bIns="45720" rtlCol="0" anchor="ctr">
            <a:normAutofit/>
          </a:bodyPr>
          <a:lstStyle/>
          <a:p>
            <a:pPr eaLnBrk="1" hangingPunct="1">
              <a:spcAft>
                <a:spcPts val="600"/>
              </a:spcAft>
            </a:pPr>
            <a:fld id="{C71C242F-20BE-4F6C-ABA6-9DCC8641EF60}" type="slidenum">
              <a:rPr lang="en-US" smtClean="0">
                <a:latin typeface="+mn-lt"/>
                <a:ea typeface="+mn-ea"/>
              </a:rPr>
              <a:pPr eaLnBrk="1" hangingPunct="1">
                <a:spcAft>
                  <a:spcPts val="600"/>
                </a:spcAft>
              </a:pPr>
              <a:t>12</a:t>
            </a:fld>
            <a:endParaRPr lang="en-US">
              <a:latin typeface="+mn-lt"/>
              <a:ea typeface="+mn-ea"/>
            </a:endParaRPr>
          </a:p>
        </p:txBody>
      </p:sp>
      <p:sp>
        <p:nvSpPr>
          <p:cNvPr id="6" name="TextBox 5">
            <a:extLst>
              <a:ext uri="{FF2B5EF4-FFF2-40B4-BE49-F238E27FC236}">
                <a16:creationId xmlns:a16="http://schemas.microsoft.com/office/drawing/2014/main" id="{EA9BABBB-D14E-30E0-E318-98C853923863}"/>
              </a:ext>
            </a:extLst>
          </p:cNvPr>
          <p:cNvSpPr txBox="1"/>
          <p:nvPr/>
        </p:nvSpPr>
        <p:spPr>
          <a:xfrm>
            <a:off x="605481" y="4500454"/>
            <a:ext cx="8355638" cy="643046"/>
          </a:xfrm>
          <a:prstGeom prst="rect">
            <a:avLst/>
          </a:prstGeom>
        </p:spPr>
        <p:txBody>
          <a:bodyPr vert="horz" lIns="91440" tIns="45720" rIns="91440" bIns="45720" rtlCol="0" anchor="t">
            <a:normAutofit lnSpcReduction="10000"/>
          </a:bodyPr>
          <a:lstStyle/>
          <a:p>
            <a:pPr eaLnBrk="1" hangingPunct="1">
              <a:lnSpc>
                <a:spcPct val="90000"/>
              </a:lnSpc>
              <a:spcAft>
                <a:spcPts val="600"/>
              </a:spcAft>
            </a:pPr>
            <a:r>
              <a:rPr lang="en-US" sz="1200" dirty="0">
                <a:latin typeface="+mn-lt"/>
                <a:ea typeface="+mn-ea"/>
              </a:rPr>
              <a:t>Oh, S. </a:t>
            </a:r>
            <a:r>
              <a:rPr lang="en-US" sz="1200" i="1" dirty="0">
                <a:latin typeface="+mn-lt"/>
                <a:ea typeface="+mn-ea"/>
              </a:rPr>
              <a:t>et al.</a:t>
            </a:r>
            <a:r>
              <a:rPr lang="en-US" sz="1200" dirty="0">
                <a:latin typeface="+mn-lt"/>
                <a:ea typeface="+mn-ea"/>
              </a:rPr>
              <a:t> </a:t>
            </a:r>
            <a:r>
              <a:rPr lang="en-US" sz="1200" dirty="0" err="1">
                <a:latin typeface="+mn-lt"/>
                <a:ea typeface="+mn-ea"/>
              </a:rPr>
              <a:t>GenomicSuperSignature</a:t>
            </a:r>
            <a:r>
              <a:rPr lang="en-US" sz="1200" dirty="0">
                <a:latin typeface="+mn-lt"/>
                <a:ea typeface="+mn-ea"/>
              </a:rPr>
              <a:t> facilitates interpretation of RNA-seq experiments through robust, efficient comparison to public databases. </a:t>
            </a:r>
            <a:r>
              <a:rPr lang="en-US" sz="1200" i="1" dirty="0">
                <a:latin typeface="+mn-lt"/>
                <a:ea typeface="+mn-ea"/>
              </a:rPr>
              <a:t>Nat. </a:t>
            </a:r>
            <a:r>
              <a:rPr lang="en-US" sz="1200" i="1" dirty="0" err="1">
                <a:latin typeface="+mn-lt"/>
                <a:ea typeface="+mn-ea"/>
              </a:rPr>
              <a:t>Commun</a:t>
            </a:r>
            <a:r>
              <a:rPr lang="en-US" sz="1200" i="1" dirty="0">
                <a:latin typeface="+mn-lt"/>
                <a:ea typeface="+mn-ea"/>
              </a:rPr>
              <a:t>.</a:t>
            </a:r>
            <a:r>
              <a:rPr lang="en-US" sz="1200" dirty="0">
                <a:latin typeface="+mn-lt"/>
                <a:ea typeface="+mn-ea"/>
              </a:rPr>
              <a:t> </a:t>
            </a:r>
            <a:r>
              <a:rPr lang="en-US" sz="1200" b="1" dirty="0">
                <a:latin typeface="+mn-lt"/>
                <a:ea typeface="+mn-ea"/>
              </a:rPr>
              <a:t>13</a:t>
            </a:r>
            <a:r>
              <a:rPr lang="en-US" sz="1200" dirty="0">
                <a:latin typeface="+mn-lt"/>
                <a:ea typeface="+mn-ea"/>
              </a:rPr>
              <a:t>, 3695 (2022)</a:t>
            </a:r>
          </a:p>
          <a:p>
            <a:pPr eaLnBrk="1" hangingPunct="1">
              <a:lnSpc>
                <a:spcPct val="90000"/>
              </a:lnSpc>
              <a:spcAft>
                <a:spcPts val="600"/>
              </a:spcAft>
            </a:pPr>
            <a:r>
              <a:rPr lang="en-US" sz="1200" dirty="0">
                <a:latin typeface="+mn-lt"/>
                <a:ea typeface="+mn-ea"/>
                <a:hlinkClick r:id="rId3"/>
              </a:rPr>
              <a:t>https://www.bioconductor.org/packages/GenomicSuperSignature/</a:t>
            </a:r>
            <a:r>
              <a:rPr lang="en-US" sz="1200" dirty="0">
                <a:latin typeface="+mn-lt"/>
                <a:ea typeface="+mn-ea"/>
              </a:rPr>
              <a:t> </a:t>
            </a:r>
          </a:p>
        </p:txBody>
      </p:sp>
      <p:pic>
        <p:nvPicPr>
          <p:cNvPr id="7" name="Picture 6" descr="Bioconductor · GitHub">
            <a:extLst>
              <a:ext uri="{FF2B5EF4-FFF2-40B4-BE49-F238E27FC236}">
                <a16:creationId xmlns:a16="http://schemas.microsoft.com/office/drawing/2014/main" id="{2F523BC2-4629-56D0-73F9-2A26F0B66F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0" y="4633037"/>
            <a:ext cx="392670" cy="392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791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8599CA-5847-9566-B238-8FD790E82701}"/>
              </a:ext>
            </a:extLst>
          </p:cNvPr>
          <p:cNvSpPr>
            <a:spLocks noGrp="1"/>
          </p:cNvSpPr>
          <p:nvPr>
            <p:ph idx="1"/>
          </p:nvPr>
        </p:nvSpPr>
        <p:spPr>
          <a:xfrm>
            <a:off x="457199" y="1516941"/>
            <a:ext cx="8229600" cy="3394472"/>
          </a:xfrm>
        </p:spPr>
        <p:txBody>
          <a:bodyPr>
            <a:normAutofit fontScale="70000" lnSpcReduction="20000"/>
          </a:bodyPr>
          <a:lstStyle/>
          <a:p>
            <a:r>
              <a:rPr lang="en-US" b="1" dirty="0"/>
              <a:t>Source Data</a:t>
            </a:r>
            <a:r>
              <a:rPr lang="en-US" dirty="0"/>
              <a:t>: RNA-seq Sample Compendium from </a:t>
            </a:r>
            <a:r>
              <a:rPr lang="en-US" dirty="0" err="1"/>
              <a:t>refine.bio</a:t>
            </a:r>
            <a:r>
              <a:rPr lang="en-US" dirty="0"/>
              <a:t> (https://</a:t>
            </a:r>
            <a:r>
              <a:rPr lang="en-US" dirty="0" err="1"/>
              <a:t>www.refine.bio</a:t>
            </a:r>
            <a:r>
              <a:rPr lang="en-US" dirty="0"/>
              <a:t>/)</a:t>
            </a:r>
          </a:p>
          <a:p>
            <a:r>
              <a:rPr lang="en-US" dirty="0"/>
              <a:t>536 studies (44,890 samples) for model building:</a:t>
            </a:r>
          </a:p>
          <a:p>
            <a:pPr lvl="1"/>
            <a:r>
              <a:rPr lang="en-US" dirty="0"/>
              <a:t>50 – 1000 samples per study</a:t>
            </a:r>
          </a:p>
          <a:p>
            <a:pPr lvl="1"/>
            <a:r>
              <a:rPr lang="en-US" dirty="0"/>
              <a:t>Intersection of top 90% varying genes from each study</a:t>
            </a:r>
          </a:p>
          <a:p>
            <a:r>
              <a:rPr lang="en-US" dirty="0"/>
              <a:t>Top 20 PCs from each study</a:t>
            </a:r>
          </a:p>
          <a:p>
            <a:r>
              <a:rPr lang="en-US" dirty="0"/>
              <a:t>Hierarchical clustering of 10,720 PCs (= 20 PCs x 536 studies) into 4,764 clusters including singletons</a:t>
            </a:r>
          </a:p>
          <a:p>
            <a:r>
              <a:rPr lang="en-US" dirty="0"/>
              <a:t>Average PCs in each cluster → RAV (Replicable Axes of Variation)</a:t>
            </a:r>
          </a:p>
          <a:p>
            <a:endParaRPr lang="en-US" dirty="0"/>
          </a:p>
          <a:p>
            <a:endParaRPr lang="en-US" dirty="0"/>
          </a:p>
        </p:txBody>
      </p:sp>
      <p:sp>
        <p:nvSpPr>
          <p:cNvPr id="4" name="Slide Number Placeholder 3">
            <a:extLst>
              <a:ext uri="{FF2B5EF4-FFF2-40B4-BE49-F238E27FC236}">
                <a16:creationId xmlns:a16="http://schemas.microsoft.com/office/drawing/2014/main" id="{7BFA35FA-9CE9-824B-BCDF-700395BF922D}"/>
              </a:ext>
            </a:extLst>
          </p:cNvPr>
          <p:cNvSpPr>
            <a:spLocks noGrp="1"/>
          </p:cNvSpPr>
          <p:nvPr>
            <p:ph type="sldNum" sz="quarter" idx="12"/>
          </p:nvPr>
        </p:nvSpPr>
        <p:spPr/>
        <p:txBody>
          <a:bodyPr/>
          <a:lstStyle/>
          <a:p>
            <a:fld id="{C71C242F-20BE-4F6C-ABA6-9DCC8641EF60}" type="slidenum">
              <a:rPr lang="en-US" smtClean="0"/>
              <a:pPr/>
              <a:t>13</a:t>
            </a:fld>
            <a:endParaRPr lang="en-US"/>
          </a:p>
        </p:txBody>
      </p:sp>
      <p:sp>
        <p:nvSpPr>
          <p:cNvPr id="8" name="Title 1">
            <a:extLst>
              <a:ext uri="{FF2B5EF4-FFF2-40B4-BE49-F238E27FC236}">
                <a16:creationId xmlns:a16="http://schemas.microsoft.com/office/drawing/2014/main" id="{977B6FDA-1A9A-7F01-7B10-CC8D3C9F1799}"/>
              </a:ext>
            </a:extLst>
          </p:cNvPr>
          <p:cNvSpPr>
            <a:spLocks noGrp="1"/>
          </p:cNvSpPr>
          <p:nvPr>
            <p:ph type="title"/>
          </p:nvPr>
        </p:nvSpPr>
        <p:spPr>
          <a:xfrm>
            <a:off x="756138" y="102390"/>
            <a:ext cx="7631723" cy="1111843"/>
          </a:xfrm>
        </p:spPr>
        <p:txBody>
          <a:bodyPr vert="horz" lIns="91440" tIns="45720" rIns="91440" bIns="45720" rtlCol="0" anchor="ctr">
            <a:normAutofit fontScale="90000"/>
          </a:bodyPr>
          <a:lstStyle/>
          <a:p>
            <a:pPr>
              <a:lnSpc>
                <a:spcPct val="90000"/>
              </a:lnSpc>
            </a:pPr>
            <a:r>
              <a:rPr lang="en-US" kern="1200" dirty="0" err="1">
                <a:solidFill>
                  <a:schemeClr val="tx1"/>
                </a:solidFill>
                <a:latin typeface="+mj-lt"/>
                <a:ea typeface="+mj-ea"/>
                <a:cs typeface="+mj-cs"/>
              </a:rPr>
              <a:t>GenomicSuperSignature</a:t>
            </a:r>
            <a:br>
              <a:rPr lang="en-US" sz="4000" dirty="0"/>
            </a:br>
            <a:r>
              <a:rPr lang="en-US" sz="2200" dirty="0"/>
              <a:t>Interpretation of RNA-seq experiments through robust, efficient comparison to public databases</a:t>
            </a:r>
          </a:p>
        </p:txBody>
      </p:sp>
      <p:sp>
        <p:nvSpPr>
          <p:cNvPr id="5" name="TextBox 4">
            <a:extLst>
              <a:ext uri="{FF2B5EF4-FFF2-40B4-BE49-F238E27FC236}">
                <a16:creationId xmlns:a16="http://schemas.microsoft.com/office/drawing/2014/main" id="{9E039EB7-7EA9-D305-159F-3EE54640BB8E}"/>
              </a:ext>
            </a:extLst>
          </p:cNvPr>
          <p:cNvSpPr txBox="1"/>
          <p:nvPr/>
        </p:nvSpPr>
        <p:spPr>
          <a:xfrm>
            <a:off x="605481" y="4500454"/>
            <a:ext cx="8355638" cy="643046"/>
          </a:xfrm>
          <a:prstGeom prst="rect">
            <a:avLst/>
          </a:prstGeom>
        </p:spPr>
        <p:txBody>
          <a:bodyPr vert="horz" lIns="91440" tIns="45720" rIns="91440" bIns="45720" rtlCol="0" anchor="t">
            <a:normAutofit lnSpcReduction="10000"/>
          </a:bodyPr>
          <a:lstStyle/>
          <a:p>
            <a:pPr eaLnBrk="1" hangingPunct="1">
              <a:lnSpc>
                <a:spcPct val="90000"/>
              </a:lnSpc>
              <a:spcAft>
                <a:spcPts val="600"/>
              </a:spcAft>
            </a:pPr>
            <a:r>
              <a:rPr lang="en-US" sz="1200" dirty="0">
                <a:latin typeface="+mn-lt"/>
                <a:ea typeface="+mn-ea"/>
              </a:rPr>
              <a:t>Oh, S. </a:t>
            </a:r>
            <a:r>
              <a:rPr lang="en-US" sz="1200" i="1" dirty="0">
                <a:latin typeface="+mn-lt"/>
                <a:ea typeface="+mn-ea"/>
              </a:rPr>
              <a:t>et al.</a:t>
            </a:r>
            <a:r>
              <a:rPr lang="en-US" sz="1200" dirty="0">
                <a:latin typeface="+mn-lt"/>
                <a:ea typeface="+mn-ea"/>
              </a:rPr>
              <a:t> </a:t>
            </a:r>
            <a:r>
              <a:rPr lang="en-US" sz="1200" dirty="0" err="1">
                <a:latin typeface="+mn-lt"/>
                <a:ea typeface="+mn-ea"/>
              </a:rPr>
              <a:t>GenomicSuperSignature</a:t>
            </a:r>
            <a:r>
              <a:rPr lang="en-US" sz="1200" dirty="0">
                <a:latin typeface="+mn-lt"/>
                <a:ea typeface="+mn-ea"/>
              </a:rPr>
              <a:t> facilitates interpretation of RNA-seq experiments through robust, efficient comparison to public databases. </a:t>
            </a:r>
            <a:r>
              <a:rPr lang="en-US" sz="1200" i="1" dirty="0">
                <a:latin typeface="+mn-lt"/>
                <a:ea typeface="+mn-ea"/>
              </a:rPr>
              <a:t>Nat. </a:t>
            </a:r>
            <a:r>
              <a:rPr lang="en-US" sz="1200" i="1" dirty="0" err="1">
                <a:latin typeface="+mn-lt"/>
                <a:ea typeface="+mn-ea"/>
              </a:rPr>
              <a:t>Commun</a:t>
            </a:r>
            <a:r>
              <a:rPr lang="en-US" sz="1200" i="1" dirty="0">
                <a:latin typeface="+mn-lt"/>
                <a:ea typeface="+mn-ea"/>
              </a:rPr>
              <a:t>.</a:t>
            </a:r>
            <a:r>
              <a:rPr lang="en-US" sz="1200" dirty="0">
                <a:latin typeface="+mn-lt"/>
                <a:ea typeface="+mn-ea"/>
              </a:rPr>
              <a:t> </a:t>
            </a:r>
            <a:r>
              <a:rPr lang="en-US" sz="1200" b="1" dirty="0">
                <a:latin typeface="+mn-lt"/>
                <a:ea typeface="+mn-ea"/>
              </a:rPr>
              <a:t>13</a:t>
            </a:r>
            <a:r>
              <a:rPr lang="en-US" sz="1200" dirty="0">
                <a:latin typeface="+mn-lt"/>
                <a:ea typeface="+mn-ea"/>
              </a:rPr>
              <a:t>, 3695 (2022)</a:t>
            </a:r>
          </a:p>
          <a:p>
            <a:pPr eaLnBrk="1" hangingPunct="1">
              <a:lnSpc>
                <a:spcPct val="90000"/>
              </a:lnSpc>
              <a:spcAft>
                <a:spcPts val="600"/>
              </a:spcAft>
            </a:pPr>
            <a:r>
              <a:rPr lang="en-US" sz="1200" dirty="0">
                <a:latin typeface="+mn-lt"/>
                <a:ea typeface="+mn-ea"/>
                <a:hlinkClick r:id="rId2"/>
              </a:rPr>
              <a:t>https://www.bioconductor.org/packages/GenomicSuperSignature/</a:t>
            </a:r>
            <a:r>
              <a:rPr lang="en-US" sz="1200" dirty="0">
                <a:latin typeface="+mn-lt"/>
                <a:ea typeface="+mn-ea"/>
              </a:rPr>
              <a:t> </a:t>
            </a:r>
          </a:p>
        </p:txBody>
      </p:sp>
      <p:pic>
        <p:nvPicPr>
          <p:cNvPr id="6" name="Picture 5" descr="Bioconductor · GitHub">
            <a:extLst>
              <a:ext uri="{FF2B5EF4-FFF2-40B4-BE49-F238E27FC236}">
                <a16:creationId xmlns:a16="http://schemas.microsoft.com/office/drawing/2014/main" id="{630388DF-5164-653B-51CA-6067642C5B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80" y="4633037"/>
            <a:ext cx="392670" cy="392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426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7"/>
          <p:cNvSpPr txBox="1">
            <a:spLocks noGrp="1"/>
          </p:cNvSpPr>
          <p:nvPr>
            <p:ph type="title"/>
          </p:nvPr>
        </p:nvSpPr>
        <p:spPr>
          <a:xfrm>
            <a:off x="457200" y="-216852"/>
            <a:ext cx="8229600" cy="1143000"/>
          </a:xfrm>
        </p:spPr>
        <p:txBody>
          <a:bodyPr spcFirstLastPara="1" vert="horz" lIns="91426" tIns="91426" rIns="91426" bIns="91426" rtlCol="0" anchor="ctr" anchorCtr="0">
            <a:normAutofit/>
          </a:bodyPr>
          <a:lstStyle/>
          <a:p>
            <a:r>
              <a:rPr lang="en-US" b="1" dirty="0"/>
              <a:t>Annotation - </a:t>
            </a:r>
            <a:r>
              <a:rPr lang="en-US" b="1" dirty="0" err="1"/>
              <a:t>MeSH</a:t>
            </a:r>
            <a:r>
              <a:rPr lang="en-US" b="1" dirty="0"/>
              <a:t> Terms</a:t>
            </a:r>
          </a:p>
        </p:txBody>
      </p:sp>
      <p:sp>
        <p:nvSpPr>
          <p:cNvPr id="177" name="Google Shape;177;p27"/>
          <p:cNvSpPr txBox="1">
            <a:spLocks noGrp="1"/>
          </p:cNvSpPr>
          <p:nvPr>
            <p:ph idx="1"/>
          </p:nvPr>
        </p:nvSpPr>
        <p:spPr>
          <a:xfrm>
            <a:off x="457200" y="926148"/>
            <a:ext cx="8229600" cy="3463287"/>
          </a:xfrm>
        </p:spPr>
        <p:txBody>
          <a:bodyPr spcFirstLastPara="1" vert="horz" lIns="91426" tIns="91426" rIns="91426" bIns="91426" rtlCol="0" anchorCtr="0">
            <a:normAutofit/>
          </a:bodyPr>
          <a:lstStyle/>
          <a:p>
            <a:pPr marL="368285">
              <a:lnSpc>
                <a:spcPct val="90000"/>
              </a:lnSpc>
              <a:buClr>
                <a:srgbClr val="000000"/>
              </a:buClr>
              <a:buSzPts val="1400"/>
            </a:pPr>
            <a:r>
              <a:rPr lang="en-US" sz="2200" dirty="0"/>
              <a:t>What are </a:t>
            </a:r>
            <a:r>
              <a:rPr lang="en-US" sz="2200" dirty="0" err="1"/>
              <a:t>MeSH</a:t>
            </a:r>
            <a:r>
              <a:rPr lang="en-US" sz="2200" dirty="0"/>
              <a:t> terms?</a:t>
            </a:r>
          </a:p>
          <a:p>
            <a:pPr lvl="1" indent="0">
              <a:lnSpc>
                <a:spcPct val="90000"/>
              </a:lnSpc>
              <a:spcBef>
                <a:spcPts val="1600"/>
              </a:spcBef>
              <a:buNone/>
            </a:pPr>
            <a:r>
              <a:rPr lang="en-US" sz="1800" dirty="0" err="1">
                <a:highlight>
                  <a:srgbClr val="FFFFFF"/>
                </a:highlight>
              </a:rPr>
              <a:t>MeSH</a:t>
            </a:r>
            <a:r>
              <a:rPr lang="en-US" sz="1800" dirty="0">
                <a:highlight>
                  <a:srgbClr val="FFFFFF"/>
                </a:highlight>
              </a:rPr>
              <a:t> (</a:t>
            </a:r>
            <a:r>
              <a:rPr lang="en-US" sz="1800" b="1" i="1" dirty="0">
                <a:highlight>
                  <a:srgbClr val="FFFFFF"/>
                </a:highlight>
              </a:rPr>
              <a:t>Me</a:t>
            </a:r>
            <a:r>
              <a:rPr lang="en-US" sz="1800" dirty="0">
                <a:highlight>
                  <a:srgbClr val="FFFFFF"/>
                </a:highlight>
              </a:rPr>
              <a:t>dical </a:t>
            </a:r>
            <a:r>
              <a:rPr lang="en-US" sz="1800" b="1" i="1" dirty="0">
                <a:highlight>
                  <a:srgbClr val="FFFFFF"/>
                </a:highlight>
              </a:rPr>
              <a:t>S</a:t>
            </a:r>
            <a:r>
              <a:rPr lang="en-US" sz="1800" dirty="0">
                <a:highlight>
                  <a:srgbClr val="FFFFFF"/>
                </a:highlight>
              </a:rPr>
              <a:t>ubject </a:t>
            </a:r>
            <a:r>
              <a:rPr lang="en-US" sz="1800" b="1" i="1" dirty="0">
                <a:highlight>
                  <a:srgbClr val="FFFFFF"/>
                </a:highlight>
              </a:rPr>
              <a:t>H</a:t>
            </a:r>
            <a:r>
              <a:rPr lang="en-US" sz="1800" dirty="0">
                <a:highlight>
                  <a:srgbClr val="FFFFFF"/>
                </a:highlight>
              </a:rPr>
              <a:t>eadings) terms are labels assigned to each article in Medline in order to describe what the article is about. The National Library of Medicine employees with training as ‘indexers’ look at each new article added to Medline and assign to it about 10–12 labels. (N. Baumann, IJCP 2016)</a:t>
            </a:r>
          </a:p>
          <a:p>
            <a:pPr indent="-317488">
              <a:lnSpc>
                <a:spcPct val="90000"/>
              </a:lnSpc>
              <a:spcBef>
                <a:spcPts val="1600"/>
              </a:spcBef>
              <a:buClr>
                <a:srgbClr val="000000"/>
              </a:buClr>
              <a:buSzPts val="1400"/>
            </a:pPr>
            <a:r>
              <a:rPr lang="en-US" sz="2200" dirty="0">
                <a:highlight>
                  <a:srgbClr val="FFFFFF"/>
                </a:highlight>
              </a:rPr>
              <a:t>Collect </a:t>
            </a:r>
            <a:r>
              <a:rPr lang="en-US" sz="2200" dirty="0" err="1">
                <a:highlight>
                  <a:srgbClr val="FFFFFF"/>
                </a:highlight>
              </a:rPr>
              <a:t>MeSH</a:t>
            </a:r>
            <a:r>
              <a:rPr lang="en-US" sz="2200" dirty="0">
                <a:highlight>
                  <a:srgbClr val="FFFFFF"/>
                </a:highlight>
              </a:rPr>
              <a:t> terms assigned to the studies for model building</a:t>
            </a:r>
          </a:p>
          <a:p>
            <a:pPr indent="-317488">
              <a:lnSpc>
                <a:spcPct val="90000"/>
              </a:lnSpc>
              <a:buClr>
                <a:srgbClr val="000000"/>
              </a:buClr>
              <a:buSzPts val="1400"/>
            </a:pPr>
            <a:r>
              <a:rPr lang="en-US" sz="2200" dirty="0">
                <a:highlight>
                  <a:srgbClr val="FFFFFF"/>
                </a:highlight>
              </a:rPr>
              <a:t>Each term is weighted by </a:t>
            </a:r>
          </a:p>
          <a:p>
            <a:pPr marL="914364" indent="-317488">
              <a:lnSpc>
                <a:spcPct val="90000"/>
              </a:lnSpc>
              <a:buClr>
                <a:srgbClr val="000000"/>
              </a:buClr>
              <a:buSzPts val="1400"/>
              <a:buAutoNum type="arabicParenR"/>
            </a:pPr>
            <a:r>
              <a:rPr lang="en-US" sz="2200" dirty="0">
                <a:highlight>
                  <a:srgbClr val="FFFFFF"/>
                </a:highlight>
              </a:rPr>
              <a:t>Frequency of the term </a:t>
            </a:r>
          </a:p>
          <a:p>
            <a:pPr marL="914364" indent="-317488">
              <a:lnSpc>
                <a:spcPct val="90000"/>
              </a:lnSpc>
              <a:buClr>
                <a:srgbClr val="000000"/>
              </a:buClr>
              <a:buSzPts val="1400"/>
              <a:buAutoNum type="arabicParenR"/>
            </a:pPr>
            <a:r>
              <a:rPr lang="en-US" sz="2200" dirty="0">
                <a:highlight>
                  <a:srgbClr val="FFFFFF"/>
                </a:highlight>
              </a:rPr>
              <a:t>Variance explained by PC</a:t>
            </a:r>
          </a:p>
        </p:txBody>
      </p:sp>
      <p:sp>
        <p:nvSpPr>
          <p:cNvPr id="182" name="Slide Number Placeholder 3">
            <a:extLst>
              <a:ext uri="{FF2B5EF4-FFF2-40B4-BE49-F238E27FC236}">
                <a16:creationId xmlns:a16="http://schemas.microsoft.com/office/drawing/2014/main" id="{32633A7B-560C-8BEE-C6EB-C28BD167AE1F}"/>
              </a:ext>
            </a:extLst>
          </p:cNvPr>
          <p:cNvSpPr>
            <a:spLocks noGrp="1"/>
          </p:cNvSpPr>
          <p:nvPr>
            <p:ph type="sldNum" sz="quarter" idx="12"/>
          </p:nvPr>
        </p:nvSpPr>
        <p:spPr>
          <a:xfrm>
            <a:off x="6553200" y="5499105"/>
            <a:ext cx="2133600" cy="365125"/>
          </a:xfrm>
        </p:spPr>
        <p:txBody>
          <a:bodyPr/>
          <a:lstStyle/>
          <a:p>
            <a:pPr>
              <a:spcAft>
                <a:spcPts val="600"/>
              </a:spcAft>
            </a:pPr>
            <a:fld id="{C71C242F-20BE-4F6C-ABA6-9DCC8641EF60}" type="slidenum">
              <a:rPr lang="en-US" smtClean="0"/>
              <a:pPr>
                <a:spcAft>
                  <a:spcPts val="600"/>
                </a:spcAft>
              </a:pPr>
              <a:t>14</a:t>
            </a:fld>
            <a:endParaRPr lang="en-US"/>
          </a:p>
        </p:txBody>
      </p:sp>
      <p:sp>
        <p:nvSpPr>
          <p:cNvPr id="2" name="TextBox 1">
            <a:extLst>
              <a:ext uri="{FF2B5EF4-FFF2-40B4-BE49-F238E27FC236}">
                <a16:creationId xmlns:a16="http://schemas.microsoft.com/office/drawing/2014/main" id="{8540117E-BB17-CE4C-B9C5-8818A3A2021A}"/>
              </a:ext>
            </a:extLst>
          </p:cNvPr>
          <p:cNvSpPr txBox="1"/>
          <p:nvPr/>
        </p:nvSpPr>
        <p:spPr>
          <a:xfrm>
            <a:off x="605481" y="4500454"/>
            <a:ext cx="8355638" cy="643046"/>
          </a:xfrm>
          <a:prstGeom prst="rect">
            <a:avLst/>
          </a:prstGeom>
        </p:spPr>
        <p:txBody>
          <a:bodyPr vert="horz" lIns="91440" tIns="45720" rIns="91440" bIns="45720" rtlCol="0" anchor="t">
            <a:normAutofit lnSpcReduction="10000"/>
          </a:bodyPr>
          <a:lstStyle/>
          <a:p>
            <a:pPr eaLnBrk="1" hangingPunct="1">
              <a:lnSpc>
                <a:spcPct val="90000"/>
              </a:lnSpc>
              <a:spcAft>
                <a:spcPts val="600"/>
              </a:spcAft>
            </a:pPr>
            <a:r>
              <a:rPr lang="en-US" sz="1200" dirty="0">
                <a:latin typeface="+mn-lt"/>
                <a:ea typeface="+mn-ea"/>
              </a:rPr>
              <a:t>Oh, S. </a:t>
            </a:r>
            <a:r>
              <a:rPr lang="en-US" sz="1200" i="1" dirty="0">
                <a:latin typeface="+mn-lt"/>
                <a:ea typeface="+mn-ea"/>
              </a:rPr>
              <a:t>et al.</a:t>
            </a:r>
            <a:r>
              <a:rPr lang="en-US" sz="1200" dirty="0">
                <a:latin typeface="+mn-lt"/>
                <a:ea typeface="+mn-ea"/>
              </a:rPr>
              <a:t> </a:t>
            </a:r>
            <a:r>
              <a:rPr lang="en-US" sz="1200" dirty="0" err="1">
                <a:latin typeface="+mn-lt"/>
                <a:ea typeface="+mn-ea"/>
              </a:rPr>
              <a:t>GenomicSuperSignature</a:t>
            </a:r>
            <a:r>
              <a:rPr lang="en-US" sz="1200" dirty="0">
                <a:latin typeface="+mn-lt"/>
                <a:ea typeface="+mn-ea"/>
              </a:rPr>
              <a:t> facilitates interpretation of RNA-seq experiments through robust, efficient comparison to public databases. </a:t>
            </a:r>
            <a:r>
              <a:rPr lang="en-US" sz="1200" i="1" dirty="0">
                <a:latin typeface="+mn-lt"/>
                <a:ea typeface="+mn-ea"/>
              </a:rPr>
              <a:t>Nat. </a:t>
            </a:r>
            <a:r>
              <a:rPr lang="en-US" sz="1200" i="1" dirty="0" err="1">
                <a:latin typeface="+mn-lt"/>
                <a:ea typeface="+mn-ea"/>
              </a:rPr>
              <a:t>Commun</a:t>
            </a:r>
            <a:r>
              <a:rPr lang="en-US" sz="1200" i="1" dirty="0">
                <a:latin typeface="+mn-lt"/>
                <a:ea typeface="+mn-ea"/>
              </a:rPr>
              <a:t>.</a:t>
            </a:r>
            <a:r>
              <a:rPr lang="en-US" sz="1200" dirty="0">
                <a:latin typeface="+mn-lt"/>
                <a:ea typeface="+mn-ea"/>
              </a:rPr>
              <a:t> </a:t>
            </a:r>
            <a:r>
              <a:rPr lang="en-US" sz="1200" b="1" dirty="0">
                <a:latin typeface="+mn-lt"/>
                <a:ea typeface="+mn-ea"/>
              </a:rPr>
              <a:t>13</a:t>
            </a:r>
            <a:r>
              <a:rPr lang="en-US" sz="1200" dirty="0">
                <a:latin typeface="+mn-lt"/>
                <a:ea typeface="+mn-ea"/>
              </a:rPr>
              <a:t>, 3695 (2022)</a:t>
            </a:r>
          </a:p>
          <a:p>
            <a:pPr eaLnBrk="1" hangingPunct="1">
              <a:lnSpc>
                <a:spcPct val="90000"/>
              </a:lnSpc>
              <a:spcAft>
                <a:spcPts val="600"/>
              </a:spcAft>
            </a:pPr>
            <a:r>
              <a:rPr lang="en-US" sz="1200" dirty="0">
                <a:latin typeface="+mn-lt"/>
                <a:ea typeface="+mn-ea"/>
                <a:hlinkClick r:id="rId3"/>
              </a:rPr>
              <a:t>https://www.bioconductor.org/packages/GenomicSuperSignature/</a:t>
            </a:r>
            <a:r>
              <a:rPr lang="en-US" sz="1200" dirty="0">
                <a:latin typeface="+mn-lt"/>
                <a:ea typeface="+mn-ea"/>
              </a:rPr>
              <a:t> </a:t>
            </a:r>
          </a:p>
        </p:txBody>
      </p:sp>
      <p:pic>
        <p:nvPicPr>
          <p:cNvPr id="3" name="Picture 2" descr="Bioconductor · GitHub">
            <a:extLst>
              <a:ext uri="{FF2B5EF4-FFF2-40B4-BE49-F238E27FC236}">
                <a16:creationId xmlns:a16="http://schemas.microsoft.com/office/drawing/2014/main" id="{D3EA4D1A-8546-D400-A09A-4986F7E195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0" y="4633037"/>
            <a:ext cx="392670" cy="3926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8"/>
          <p:cNvSpPr txBox="1">
            <a:spLocks noGrp="1"/>
          </p:cNvSpPr>
          <p:nvPr>
            <p:ph type="title"/>
          </p:nvPr>
        </p:nvSpPr>
        <p:spPr>
          <a:xfrm>
            <a:off x="457200" y="-58736"/>
            <a:ext cx="8229600" cy="1143000"/>
          </a:xfrm>
        </p:spPr>
        <p:txBody>
          <a:bodyPr spcFirstLastPara="1" vert="horz" lIns="91426" tIns="91426" rIns="91426" bIns="91426" rtlCol="0" anchor="ctr" anchorCtr="0">
            <a:normAutofit/>
          </a:bodyPr>
          <a:lstStyle/>
          <a:p>
            <a:r>
              <a:rPr lang="en-US" b="1" dirty="0"/>
              <a:t>Annotation - GSEA</a:t>
            </a:r>
          </a:p>
        </p:txBody>
      </p:sp>
      <p:sp>
        <p:nvSpPr>
          <p:cNvPr id="183" name="Google Shape;183;p28"/>
          <p:cNvSpPr txBox="1">
            <a:spLocks noGrp="1"/>
          </p:cNvSpPr>
          <p:nvPr>
            <p:ph idx="1"/>
          </p:nvPr>
        </p:nvSpPr>
        <p:spPr>
          <a:xfrm>
            <a:off x="457200" y="962409"/>
            <a:ext cx="8229600" cy="3890007"/>
          </a:xfrm>
        </p:spPr>
        <p:txBody>
          <a:bodyPr spcFirstLastPara="1" vert="horz" lIns="91426" tIns="91426" rIns="91426" bIns="91426" rtlCol="0" anchorCtr="0">
            <a:normAutofit/>
          </a:bodyPr>
          <a:lstStyle/>
          <a:p>
            <a:pPr marL="482581" indent="-457182">
              <a:lnSpc>
                <a:spcPct val="90000"/>
              </a:lnSpc>
              <a:buClr>
                <a:srgbClr val="000000"/>
              </a:buClr>
              <a:buSzPts val="1400"/>
              <a:buFont typeface="+mj-lt"/>
              <a:buAutoNum type="arabicPeriod"/>
            </a:pPr>
            <a:r>
              <a:rPr lang="en-US" sz="2400" dirty="0"/>
              <a:t>Create a pre-ranked gene list from each RAV (based on the average loading)</a:t>
            </a:r>
          </a:p>
          <a:p>
            <a:pPr marL="482581" indent="-457182">
              <a:lnSpc>
                <a:spcPct val="90000"/>
              </a:lnSpc>
              <a:spcBef>
                <a:spcPts val="1000"/>
              </a:spcBef>
              <a:buClr>
                <a:srgbClr val="000000"/>
              </a:buClr>
              <a:buSzPts val="1400"/>
              <a:buFont typeface="+mj-lt"/>
              <a:buAutoNum type="arabicPeriod"/>
            </a:pPr>
            <a:r>
              <a:rPr lang="en-US" sz="2400" dirty="0"/>
              <a:t>GSEA on pre-ranked gene list </a:t>
            </a:r>
          </a:p>
          <a:p>
            <a:pPr marL="1054058" indent="-457182">
              <a:lnSpc>
                <a:spcPct val="90000"/>
              </a:lnSpc>
              <a:buClr>
                <a:srgbClr val="000000"/>
              </a:buClr>
              <a:buSzPts val="1400"/>
            </a:pPr>
            <a:r>
              <a:rPr lang="en-US" sz="2400" i="1" dirty="0" err="1"/>
              <a:t>multiPLIER</a:t>
            </a:r>
            <a:r>
              <a:rPr lang="en-US" sz="2400" i="1" dirty="0"/>
              <a:t> gene sets</a:t>
            </a:r>
          </a:p>
          <a:p>
            <a:pPr marL="1054058" indent="-457182">
              <a:lnSpc>
                <a:spcPct val="90000"/>
              </a:lnSpc>
              <a:buClr>
                <a:srgbClr val="000000"/>
              </a:buClr>
              <a:buSzPts val="1400"/>
            </a:pPr>
            <a:r>
              <a:rPr lang="en-US" sz="2400" i="1" dirty="0" err="1"/>
              <a:t>mSigDB</a:t>
            </a:r>
            <a:r>
              <a:rPr lang="en-US" sz="2400" i="1" dirty="0"/>
              <a:t> C2 gene sets</a:t>
            </a:r>
          </a:p>
          <a:p>
            <a:pPr marL="1054058" indent="-457182">
              <a:lnSpc>
                <a:spcPct val="90000"/>
              </a:lnSpc>
              <a:buClr>
                <a:srgbClr val="000000"/>
              </a:buClr>
              <a:buSzPts val="1400"/>
            </a:pPr>
            <a:r>
              <a:rPr lang="en-US" sz="2400" i="1" dirty="0"/>
              <a:t>any user-defined gene set on gene symbols</a:t>
            </a:r>
          </a:p>
          <a:p>
            <a:pPr marL="482581" indent="-457182">
              <a:lnSpc>
                <a:spcPct val="90000"/>
              </a:lnSpc>
              <a:buClr>
                <a:srgbClr val="000000"/>
              </a:buClr>
              <a:buSzPts val="1400"/>
              <a:buFont typeface="+mj-lt"/>
              <a:buAutoNum type="arabicPeriod"/>
            </a:pPr>
            <a:r>
              <a:rPr lang="en-US" sz="2400" dirty="0"/>
              <a:t>Model contains enriched pathways with minimum q-value</a:t>
            </a:r>
          </a:p>
          <a:p>
            <a:pPr marL="482581" indent="-457182">
              <a:lnSpc>
                <a:spcPct val="90000"/>
              </a:lnSpc>
              <a:spcBef>
                <a:spcPts val="1000"/>
              </a:spcBef>
              <a:buClr>
                <a:srgbClr val="000000"/>
              </a:buClr>
              <a:buSzPts val="1400"/>
              <a:buFont typeface="+mj-lt"/>
              <a:buAutoNum type="arabicPeriod"/>
            </a:pPr>
            <a:r>
              <a:rPr lang="en-US" sz="2400" dirty="0"/>
              <a:t>Association strength of the enriched pathways ranked by normalized enrichment score (NES)</a:t>
            </a:r>
          </a:p>
        </p:txBody>
      </p:sp>
      <p:sp>
        <p:nvSpPr>
          <p:cNvPr id="188" name="Slide Number Placeholder 3">
            <a:extLst>
              <a:ext uri="{FF2B5EF4-FFF2-40B4-BE49-F238E27FC236}">
                <a16:creationId xmlns:a16="http://schemas.microsoft.com/office/drawing/2014/main" id="{EF409C92-E3D2-3640-18FF-E9EC41FDD539}"/>
              </a:ext>
            </a:extLst>
          </p:cNvPr>
          <p:cNvSpPr>
            <a:spLocks noGrp="1"/>
          </p:cNvSpPr>
          <p:nvPr>
            <p:ph type="sldNum" sz="quarter" idx="12"/>
          </p:nvPr>
        </p:nvSpPr>
        <p:spPr>
          <a:xfrm>
            <a:off x="6553200" y="5499105"/>
            <a:ext cx="2133600" cy="365125"/>
          </a:xfrm>
        </p:spPr>
        <p:txBody>
          <a:bodyPr/>
          <a:lstStyle/>
          <a:p>
            <a:pPr>
              <a:spcAft>
                <a:spcPts val="600"/>
              </a:spcAft>
            </a:pPr>
            <a:fld id="{C71C242F-20BE-4F6C-ABA6-9DCC8641EF60}" type="slidenum">
              <a:rPr lang="en-US" smtClean="0"/>
              <a:pPr>
                <a:spcAft>
                  <a:spcPts val="600"/>
                </a:spcAft>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1"/>
          <p:cNvSpPr txBox="1">
            <a:spLocks noGrp="1"/>
          </p:cNvSpPr>
          <p:nvPr>
            <p:ph type="title"/>
          </p:nvPr>
        </p:nvSpPr>
        <p:spPr>
          <a:xfrm>
            <a:off x="311700" y="379373"/>
            <a:ext cx="8520600" cy="572700"/>
          </a:xfrm>
          <a:prstGeom prst="rect">
            <a:avLst/>
          </a:prstGeom>
        </p:spPr>
        <p:txBody>
          <a:bodyPr spcFirstLastPara="1" vert="horz" wrap="square" lIns="91426" tIns="91426" rIns="91426" bIns="91426" rtlCol="0" anchor="t" anchorCtr="0">
            <a:noAutofit/>
          </a:bodyPr>
          <a:lstStyle/>
          <a:p>
            <a:pPr algn="l"/>
            <a:r>
              <a:rPr lang="en" sz="2400" b="1" dirty="0"/>
              <a:t>1. Find the major signal of your data</a:t>
            </a:r>
            <a:endParaRPr sz="2400" b="1" dirty="0"/>
          </a:p>
        </p:txBody>
      </p:sp>
      <p:sp>
        <p:nvSpPr>
          <p:cNvPr id="202" name="Google Shape;202;p31"/>
          <p:cNvSpPr txBox="1">
            <a:spLocks noGrp="1"/>
          </p:cNvSpPr>
          <p:nvPr>
            <p:ph type="body" idx="1"/>
          </p:nvPr>
        </p:nvSpPr>
        <p:spPr>
          <a:xfrm>
            <a:off x="311700" y="1152475"/>
            <a:ext cx="8520600" cy="3416400"/>
          </a:xfrm>
          <a:prstGeom prst="rect">
            <a:avLst/>
          </a:prstGeom>
        </p:spPr>
        <p:txBody>
          <a:bodyPr spcFirstLastPara="1" vert="horz" wrap="square" lIns="91426" tIns="91426" rIns="91426" bIns="91426" rtlCol="0" anchor="t" anchorCtr="0">
            <a:noAutofit/>
          </a:bodyPr>
          <a:lstStyle/>
          <a:p>
            <a:pPr marL="152394" indent="0">
              <a:buClr>
                <a:srgbClr val="000000"/>
              </a:buClr>
              <a:buSzPts val="1200"/>
              <a:buNone/>
            </a:pPr>
            <a:r>
              <a:rPr lang="en" sz="1200" dirty="0">
                <a:solidFill>
                  <a:srgbClr val="000000"/>
                </a:solidFill>
                <a:latin typeface="Arial"/>
                <a:ea typeface="Arial"/>
                <a:cs typeface="Arial"/>
                <a:sym typeface="Arial"/>
              </a:rPr>
              <a:t>E- MTAB-2452 (McKinney et al., 2015), a dataset comprised of isolated immune subsets (CD4+ T cells, CD14+ monocytes, and CD16+ neutrophils) from patients with autoimmune diseases. </a:t>
            </a:r>
            <a:endParaRPr sz="1200" dirty="0">
              <a:solidFill>
                <a:srgbClr val="000000"/>
              </a:solidFill>
            </a:endParaRPr>
          </a:p>
        </p:txBody>
      </p:sp>
      <p:grpSp>
        <p:nvGrpSpPr>
          <p:cNvPr id="203" name="Google Shape;203;p31"/>
          <p:cNvGrpSpPr/>
          <p:nvPr/>
        </p:nvGrpSpPr>
        <p:grpSpPr>
          <a:xfrm>
            <a:off x="3442391" y="2125979"/>
            <a:ext cx="2208850" cy="2234446"/>
            <a:chOff x="4108925" y="2565895"/>
            <a:chExt cx="2208850" cy="2234446"/>
          </a:xfrm>
        </p:grpSpPr>
        <p:pic>
          <p:nvPicPr>
            <p:cNvPr id="204" name="Google Shape;204;p31"/>
            <p:cNvPicPr preferRelativeResize="0"/>
            <p:nvPr/>
          </p:nvPicPr>
          <p:blipFill rotWithShape="1">
            <a:blip r:embed="rId3">
              <a:alphaModFix/>
            </a:blip>
            <a:srcRect l="22672" t="25550" r="19856" b="26817"/>
            <a:stretch/>
          </p:blipFill>
          <p:spPr>
            <a:xfrm>
              <a:off x="4108925" y="2980339"/>
              <a:ext cx="2195899" cy="1820001"/>
            </a:xfrm>
            <a:prstGeom prst="rect">
              <a:avLst/>
            </a:prstGeom>
            <a:noFill/>
            <a:ln>
              <a:noFill/>
            </a:ln>
          </p:spPr>
        </p:pic>
        <p:sp>
          <p:nvSpPr>
            <p:cNvPr id="205" name="Google Shape;205;p31"/>
            <p:cNvSpPr txBox="1"/>
            <p:nvPr/>
          </p:nvSpPr>
          <p:spPr>
            <a:xfrm>
              <a:off x="4121775" y="2565895"/>
              <a:ext cx="2196000" cy="316500"/>
            </a:xfrm>
            <a:prstGeom prst="rect">
              <a:avLst/>
            </a:prstGeom>
            <a:noFill/>
            <a:ln>
              <a:noFill/>
            </a:ln>
          </p:spPr>
          <p:txBody>
            <a:bodyPr spcFirstLastPara="1" wrap="square" lIns="91426" tIns="91426" rIns="91426" bIns="91426" anchor="ctr" anchorCtr="0">
              <a:noAutofit/>
            </a:bodyPr>
            <a:lstStyle/>
            <a:p>
              <a:pPr>
                <a:spcBef>
                  <a:spcPts val="0"/>
                </a:spcBef>
                <a:spcAft>
                  <a:spcPts val="0"/>
                </a:spcAft>
              </a:pPr>
              <a:r>
                <a:rPr lang="en" sz="1100">
                  <a:latin typeface="Helvetica Neue"/>
                  <a:ea typeface="Helvetica Neue"/>
                  <a:cs typeface="Helvetica Neue"/>
                  <a:sym typeface="Helvetica Neue"/>
                </a:rPr>
                <a:t>MeSH term of RAV1551</a:t>
              </a:r>
              <a:endParaRPr sz="1100">
                <a:latin typeface="Helvetica Neue"/>
                <a:ea typeface="Helvetica Neue"/>
                <a:cs typeface="Helvetica Neue"/>
                <a:sym typeface="Helvetica Neue"/>
              </a:endParaRPr>
            </a:p>
            <a:p>
              <a:pPr>
                <a:spcBef>
                  <a:spcPts val="0"/>
                </a:spcBef>
                <a:spcAft>
                  <a:spcPts val="0"/>
                </a:spcAft>
              </a:pPr>
              <a:r>
                <a:rPr lang="en" sz="900">
                  <a:solidFill>
                    <a:srgbClr val="0000FF"/>
                  </a:solidFill>
                  <a:latin typeface="Consolas"/>
                  <a:ea typeface="Consolas"/>
                  <a:cs typeface="Consolas"/>
                  <a:sym typeface="Consolas"/>
                </a:rPr>
                <a:t>&gt; drawWordcloud(RAVmodel, 1551)</a:t>
              </a:r>
              <a:endParaRPr sz="1100">
                <a:solidFill>
                  <a:srgbClr val="0000FF"/>
                </a:solidFill>
                <a:latin typeface="Helvetica Neue"/>
                <a:ea typeface="Helvetica Neue"/>
                <a:cs typeface="Helvetica Neue"/>
                <a:sym typeface="Helvetica Neue"/>
              </a:endParaRPr>
            </a:p>
          </p:txBody>
        </p:sp>
      </p:grpSp>
      <p:sp>
        <p:nvSpPr>
          <p:cNvPr id="206" name="Google Shape;206;p31"/>
          <p:cNvSpPr txBox="1"/>
          <p:nvPr/>
        </p:nvSpPr>
        <p:spPr>
          <a:xfrm>
            <a:off x="5885675" y="2108150"/>
            <a:ext cx="2827800" cy="463500"/>
          </a:xfrm>
          <a:prstGeom prst="rect">
            <a:avLst/>
          </a:prstGeom>
          <a:noFill/>
          <a:ln>
            <a:noFill/>
          </a:ln>
        </p:spPr>
        <p:txBody>
          <a:bodyPr spcFirstLastPara="1" wrap="square" lIns="91426" tIns="91426" rIns="91426" bIns="91426" anchor="ctr" anchorCtr="0">
            <a:noAutofit/>
          </a:bodyPr>
          <a:lstStyle/>
          <a:p>
            <a:pPr>
              <a:spcBef>
                <a:spcPts val="0"/>
              </a:spcBef>
              <a:spcAft>
                <a:spcPts val="0"/>
              </a:spcAft>
            </a:pPr>
            <a:r>
              <a:rPr lang="en" sz="1100">
                <a:latin typeface="Helvetica Neue"/>
                <a:ea typeface="Helvetica Neue"/>
                <a:cs typeface="Helvetica Neue"/>
                <a:sym typeface="Helvetica Neue"/>
              </a:rPr>
              <a:t>Interactive plot for RAVs </a:t>
            </a:r>
            <a:endParaRPr sz="1100">
              <a:latin typeface="Helvetica Neue"/>
              <a:ea typeface="Helvetica Neue"/>
              <a:cs typeface="Helvetica Neue"/>
              <a:sym typeface="Helvetica Neue"/>
            </a:endParaRPr>
          </a:p>
          <a:p>
            <a:pPr>
              <a:spcBef>
                <a:spcPts val="0"/>
              </a:spcBef>
              <a:spcAft>
                <a:spcPts val="0"/>
              </a:spcAft>
            </a:pPr>
            <a:r>
              <a:rPr lang="en" sz="900">
                <a:solidFill>
                  <a:srgbClr val="0000FF"/>
                </a:solidFill>
                <a:latin typeface="Consolas"/>
                <a:ea typeface="Consolas"/>
                <a:cs typeface="Consolas"/>
                <a:sym typeface="Consolas"/>
              </a:rPr>
              <a:t>&gt; val_all &lt;- validate(dataset, RAVmodel)</a:t>
            </a:r>
            <a:endParaRPr sz="900">
              <a:solidFill>
                <a:srgbClr val="0000FF"/>
              </a:solidFill>
              <a:latin typeface="Consolas"/>
              <a:ea typeface="Consolas"/>
              <a:cs typeface="Consolas"/>
              <a:sym typeface="Consolas"/>
            </a:endParaRPr>
          </a:p>
          <a:p>
            <a:pPr>
              <a:spcBef>
                <a:spcPts val="0"/>
              </a:spcBef>
              <a:spcAft>
                <a:spcPts val="0"/>
              </a:spcAft>
            </a:pPr>
            <a:r>
              <a:rPr lang="en" sz="900">
                <a:solidFill>
                  <a:srgbClr val="0000FF"/>
                </a:solidFill>
                <a:latin typeface="Consolas"/>
                <a:ea typeface="Consolas"/>
                <a:cs typeface="Consolas"/>
                <a:sym typeface="Consolas"/>
              </a:rPr>
              <a:t>&gt; plotValidate(val_all)</a:t>
            </a:r>
            <a:endParaRPr sz="1100">
              <a:solidFill>
                <a:srgbClr val="0000FF"/>
              </a:solidFill>
              <a:latin typeface="Helvetica Neue"/>
              <a:ea typeface="Helvetica Neue"/>
              <a:cs typeface="Helvetica Neue"/>
              <a:sym typeface="Helvetica Neue"/>
            </a:endParaRPr>
          </a:p>
        </p:txBody>
      </p:sp>
      <p:sp>
        <p:nvSpPr>
          <p:cNvPr id="207" name="Google Shape;207;p31"/>
          <p:cNvSpPr txBox="1"/>
          <p:nvPr/>
        </p:nvSpPr>
        <p:spPr>
          <a:xfrm>
            <a:off x="446425" y="2108150"/>
            <a:ext cx="2827800" cy="463500"/>
          </a:xfrm>
          <a:prstGeom prst="rect">
            <a:avLst/>
          </a:prstGeom>
          <a:noFill/>
          <a:ln>
            <a:noFill/>
          </a:ln>
        </p:spPr>
        <p:txBody>
          <a:bodyPr spcFirstLastPara="1" wrap="square" lIns="91426" tIns="91426" rIns="91426" bIns="91426" anchor="ctr" anchorCtr="0">
            <a:noAutofit/>
          </a:bodyPr>
          <a:lstStyle/>
          <a:p>
            <a:pPr>
              <a:spcBef>
                <a:spcPts val="0"/>
              </a:spcBef>
              <a:spcAft>
                <a:spcPts val="0"/>
              </a:spcAft>
            </a:pPr>
            <a:r>
              <a:rPr lang="en" sz="1100">
                <a:latin typeface="Helvetica Neue"/>
                <a:ea typeface="Helvetica Neue"/>
                <a:cs typeface="Helvetica Neue"/>
                <a:sym typeface="Helvetica Neue"/>
              </a:rPr>
              <a:t>Find validating RAVs</a:t>
            </a:r>
            <a:endParaRPr sz="1100">
              <a:latin typeface="Helvetica Neue"/>
              <a:ea typeface="Helvetica Neue"/>
              <a:cs typeface="Helvetica Neue"/>
              <a:sym typeface="Helvetica Neue"/>
            </a:endParaRPr>
          </a:p>
          <a:p>
            <a:pPr>
              <a:spcBef>
                <a:spcPts val="0"/>
              </a:spcBef>
              <a:spcAft>
                <a:spcPts val="0"/>
              </a:spcAft>
            </a:pPr>
            <a:r>
              <a:rPr lang="en" sz="900">
                <a:solidFill>
                  <a:srgbClr val="0000FF"/>
                </a:solidFill>
                <a:latin typeface="Consolas"/>
                <a:ea typeface="Consolas"/>
                <a:cs typeface="Consolas"/>
                <a:sym typeface="Consolas"/>
              </a:rPr>
              <a:t>&gt; val_all &lt;- validate(dataset, RAVmodel)</a:t>
            </a:r>
            <a:endParaRPr sz="900">
              <a:solidFill>
                <a:srgbClr val="0000FF"/>
              </a:solidFill>
              <a:latin typeface="Consolas"/>
              <a:ea typeface="Consolas"/>
              <a:cs typeface="Consolas"/>
              <a:sym typeface="Consolas"/>
            </a:endParaRPr>
          </a:p>
          <a:p>
            <a:pPr>
              <a:spcBef>
                <a:spcPts val="0"/>
              </a:spcBef>
              <a:spcAft>
                <a:spcPts val="0"/>
              </a:spcAft>
            </a:pPr>
            <a:r>
              <a:rPr lang="en" sz="900">
                <a:solidFill>
                  <a:srgbClr val="0000FF"/>
                </a:solidFill>
                <a:latin typeface="Consolas"/>
                <a:ea typeface="Consolas"/>
                <a:cs typeface="Consolas"/>
                <a:sym typeface="Consolas"/>
              </a:rPr>
              <a:t>&gt; heatmapTable(val_all, swCutoff=0)</a:t>
            </a:r>
            <a:endParaRPr sz="1100">
              <a:solidFill>
                <a:srgbClr val="0000FF"/>
              </a:solidFill>
              <a:latin typeface="Helvetica Neue"/>
              <a:ea typeface="Helvetica Neue"/>
              <a:cs typeface="Helvetica Neue"/>
              <a:sym typeface="Helvetica Neue"/>
            </a:endParaRPr>
          </a:p>
        </p:txBody>
      </p:sp>
      <p:pic>
        <p:nvPicPr>
          <p:cNvPr id="208" name="Google Shape;208;p31"/>
          <p:cNvPicPr preferRelativeResize="0"/>
          <p:nvPr/>
        </p:nvPicPr>
        <p:blipFill>
          <a:blip r:embed="rId4">
            <a:alphaModFix/>
          </a:blip>
          <a:stretch>
            <a:fillRect/>
          </a:stretch>
        </p:blipFill>
        <p:spPr>
          <a:xfrm>
            <a:off x="5900876" y="2604580"/>
            <a:ext cx="2722350" cy="2049125"/>
          </a:xfrm>
          <a:prstGeom prst="rect">
            <a:avLst/>
          </a:prstGeom>
          <a:noFill/>
          <a:ln>
            <a:noFill/>
          </a:ln>
        </p:spPr>
      </p:pic>
      <p:pic>
        <p:nvPicPr>
          <p:cNvPr id="209" name="Google Shape;209;p31"/>
          <p:cNvPicPr preferRelativeResize="0"/>
          <p:nvPr/>
        </p:nvPicPr>
        <p:blipFill rotWithShape="1">
          <a:blip r:embed="rId5">
            <a:alphaModFix/>
          </a:blip>
          <a:srcRect t="19367" b="14169"/>
          <a:stretch/>
        </p:blipFill>
        <p:spPr>
          <a:xfrm>
            <a:off x="480477" y="2734075"/>
            <a:ext cx="2604976" cy="1236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txBox="1">
            <a:spLocks noGrp="1"/>
          </p:cNvSpPr>
          <p:nvPr>
            <p:ph type="title"/>
          </p:nvPr>
        </p:nvSpPr>
        <p:spPr>
          <a:xfrm>
            <a:off x="311700" y="445025"/>
            <a:ext cx="8520600" cy="572700"/>
          </a:xfrm>
          <a:prstGeom prst="rect">
            <a:avLst/>
          </a:prstGeom>
        </p:spPr>
        <p:txBody>
          <a:bodyPr spcFirstLastPara="1" vert="horz" wrap="square" lIns="91426" tIns="91426" rIns="91426" bIns="91426" rtlCol="0" anchor="t" anchorCtr="0">
            <a:noAutofit/>
          </a:bodyPr>
          <a:lstStyle/>
          <a:p>
            <a:pPr algn="l"/>
            <a:r>
              <a:rPr lang="en" sz="2400" b="1" dirty="0"/>
              <a:t>2. Interpret top PCs of your own data</a:t>
            </a:r>
            <a:endParaRPr sz="2400" b="1" dirty="0"/>
          </a:p>
        </p:txBody>
      </p:sp>
      <p:sp>
        <p:nvSpPr>
          <p:cNvPr id="215" name="Google Shape;215;p32"/>
          <p:cNvSpPr txBox="1">
            <a:spLocks noGrp="1"/>
          </p:cNvSpPr>
          <p:nvPr>
            <p:ph type="body" idx="1"/>
          </p:nvPr>
        </p:nvSpPr>
        <p:spPr>
          <a:xfrm>
            <a:off x="311700" y="1152475"/>
            <a:ext cx="4821600" cy="1419300"/>
          </a:xfrm>
          <a:prstGeom prst="rect">
            <a:avLst/>
          </a:prstGeom>
        </p:spPr>
        <p:txBody>
          <a:bodyPr spcFirstLastPara="1" vert="horz" wrap="square" lIns="91426" tIns="91426" rIns="91426" bIns="91426" rtlCol="0" anchor="t" anchorCtr="0">
            <a:noAutofit/>
          </a:bodyPr>
          <a:lstStyle/>
          <a:p>
            <a:pPr indent="-304788">
              <a:buSzPts val="1200"/>
            </a:pPr>
            <a:r>
              <a:rPr lang="en" sz="1200">
                <a:solidFill>
                  <a:srgbClr val="000000"/>
                </a:solidFill>
                <a:latin typeface="Arial"/>
                <a:ea typeface="Arial"/>
                <a:cs typeface="Arial"/>
                <a:sym typeface="Arial"/>
              </a:rPr>
              <a:t>E- MTAB-2452 (McKinney et al., 2015), a dataset comprised of isolated immune subsets (CD4+ T cells, CD14+ monocytes, and CD16+ neutrophils) from patients with autoimmune diseases. </a:t>
            </a:r>
            <a:endParaRPr/>
          </a:p>
        </p:txBody>
      </p:sp>
      <p:pic>
        <p:nvPicPr>
          <p:cNvPr id="216" name="Google Shape;216;p32"/>
          <p:cNvPicPr preferRelativeResize="0"/>
          <p:nvPr/>
        </p:nvPicPr>
        <p:blipFill>
          <a:blip r:embed="rId3">
            <a:alphaModFix/>
          </a:blip>
          <a:stretch>
            <a:fillRect/>
          </a:stretch>
        </p:blipFill>
        <p:spPr>
          <a:xfrm>
            <a:off x="5299512" y="1152480"/>
            <a:ext cx="3532788" cy="3416401"/>
          </a:xfrm>
          <a:prstGeom prst="rect">
            <a:avLst/>
          </a:prstGeom>
          <a:noFill/>
          <a:ln>
            <a:noFill/>
          </a:ln>
        </p:spPr>
      </p:pic>
      <p:pic>
        <p:nvPicPr>
          <p:cNvPr id="217" name="Google Shape;217;p32"/>
          <p:cNvPicPr preferRelativeResize="0"/>
          <p:nvPr/>
        </p:nvPicPr>
        <p:blipFill>
          <a:blip r:embed="rId4">
            <a:alphaModFix/>
          </a:blip>
          <a:stretch>
            <a:fillRect/>
          </a:stretch>
        </p:blipFill>
        <p:spPr>
          <a:xfrm>
            <a:off x="1011929" y="2387776"/>
            <a:ext cx="3554675" cy="21811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0"/>
          <p:cNvSpPr txBox="1">
            <a:spLocks noGrp="1"/>
          </p:cNvSpPr>
          <p:nvPr>
            <p:ph type="title"/>
          </p:nvPr>
        </p:nvSpPr>
        <p:spPr>
          <a:xfrm>
            <a:off x="311700" y="445025"/>
            <a:ext cx="8520600" cy="572700"/>
          </a:xfrm>
          <a:prstGeom prst="rect">
            <a:avLst/>
          </a:prstGeom>
        </p:spPr>
        <p:txBody>
          <a:bodyPr spcFirstLastPara="1" vert="horz" wrap="square" lIns="91426" tIns="91426" rIns="91426" bIns="91426" rtlCol="0" anchor="ctr" anchorCtr="0">
            <a:noAutofit/>
          </a:bodyPr>
          <a:lstStyle/>
          <a:p>
            <a:pPr algn="l"/>
            <a:r>
              <a:rPr lang="en" sz="2400" b="1" dirty="0"/>
              <a:t>3. Calculate a known signature in your data</a:t>
            </a:r>
            <a:endParaRPr sz="2400" dirty="0"/>
          </a:p>
        </p:txBody>
      </p:sp>
      <p:sp>
        <p:nvSpPr>
          <p:cNvPr id="286" name="Google Shape;286;p40"/>
          <p:cNvSpPr txBox="1">
            <a:spLocks noGrp="1"/>
          </p:cNvSpPr>
          <p:nvPr>
            <p:ph type="body" idx="1"/>
          </p:nvPr>
        </p:nvSpPr>
        <p:spPr>
          <a:xfrm>
            <a:off x="311700" y="1152475"/>
            <a:ext cx="8520600" cy="490200"/>
          </a:xfrm>
          <a:prstGeom prst="rect">
            <a:avLst/>
          </a:prstGeom>
        </p:spPr>
        <p:txBody>
          <a:bodyPr spcFirstLastPara="1" vert="horz" wrap="square" lIns="91426" tIns="91426" rIns="91426" bIns="91426" rtlCol="0" anchor="t" anchorCtr="0">
            <a:noAutofit/>
          </a:bodyPr>
          <a:lstStyle/>
          <a:p>
            <a:pPr indent="-311137">
              <a:buClr>
                <a:srgbClr val="000000"/>
              </a:buClr>
              <a:buSzPts val="1300"/>
            </a:pPr>
            <a:r>
              <a:rPr lang="en" sz="1300" dirty="0">
                <a:solidFill>
                  <a:srgbClr val="000000"/>
                </a:solidFill>
              </a:rPr>
              <a:t>Identify principal components associated with neutrophil count</a:t>
            </a:r>
            <a:endParaRPr sz="1300" dirty="0">
              <a:solidFill>
                <a:srgbClr val="000000"/>
              </a:solidFill>
            </a:endParaRPr>
          </a:p>
        </p:txBody>
      </p:sp>
      <p:grpSp>
        <p:nvGrpSpPr>
          <p:cNvPr id="290" name="Google Shape;290;p40"/>
          <p:cNvGrpSpPr/>
          <p:nvPr/>
        </p:nvGrpSpPr>
        <p:grpSpPr>
          <a:xfrm>
            <a:off x="2283191" y="1642675"/>
            <a:ext cx="4130800" cy="1319450"/>
            <a:chOff x="3791750" y="2571750"/>
            <a:chExt cx="4130800" cy="1319450"/>
          </a:xfrm>
        </p:grpSpPr>
        <p:pic>
          <p:nvPicPr>
            <p:cNvPr id="291" name="Google Shape;291;p40"/>
            <p:cNvPicPr preferRelativeResize="0"/>
            <p:nvPr/>
          </p:nvPicPr>
          <p:blipFill>
            <a:blip r:embed="rId3">
              <a:alphaModFix/>
            </a:blip>
            <a:stretch>
              <a:fillRect/>
            </a:stretch>
          </p:blipFill>
          <p:spPr>
            <a:xfrm>
              <a:off x="3867950" y="2925050"/>
              <a:ext cx="4054600" cy="966150"/>
            </a:xfrm>
            <a:prstGeom prst="rect">
              <a:avLst/>
            </a:prstGeom>
            <a:noFill/>
            <a:ln>
              <a:noFill/>
            </a:ln>
            <a:effectLst>
              <a:outerShdw blurRad="57150" dist="19050" dir="5400000" algn="bl" rotWithShape="0">
                <a:srgbClr val="000000">
                  <a:alpha val="50000"/>
                </a:srgbClr>
              </a:outerShdw>
            </a:effectLst>
          </p:spPr>
        </p:pic>
        <p:sp>
          <p:nvSpPr>
            <p:cNvPr id="292" name="Google Shape;292;p40"/>
            <p:cNvSpPr txBox="1"/>
            <p:nvPr/>
          </p:nvSpPr>
          <p:spPr>
            <a:xfrm>
              <a:off x="3791750" y="2571750"/>
              <a:ext cx="3939900" cy="318300"/>
            </a:xfrm>
            <a:prstGeom prst="rect">
              <a:avLst/>
            </a:prstGeom>
            <a:noFill/>
            <a:ln>
              <a:noFill/>
            </a:ln>
          </p:spPr>
          <p:txBody>
            <a:bodyPr spcFirstLastPara="1" wrap="square" lIns="91426" tIns="91426" rIns="91426" bIns="91426" anchor="ctr" anchorCtr="0">
              <a:noAutofit/>
            </a:bodyPr>
            <a:lstStyle/>
            <a:p>
              <a:pPr>
                <a:spcBef>
                  <a:spcPts val="0"/>
                </a:spcBef>
                <a:spcAft>
                  <a:spcPts val="0"/>
                </a:spcAft>
              </a:pPr>
              <a:r>
                <a:rPr lang="en" sz="1200" b="1" dirty="0">
                  <a:latin typeface="Helvetica Neue"/>
                  <a:ea typeface="Helvetica Neue"/>
                  <a:cs typeface="Helvetica Neue"/>
                  <a:sym typeface="Helvetica Neue"/>
                </a:rPr>
                <a:t>1. Keyword search in enriched pathways of RAVs</a:t>
              </a:r>
              <a:endParaRPr sz="1200" dirty="0">
                <a:solidFill>
                  <a:srgbClr val="0000FF"/>
                </a:solidFill>
                <a:latin typeface="Helvetica Neue"/>
                <a:ea typeface="Helvetica Neue"/>
                <a:cs typeface="Helvetica Neue"/>
                <a:sym typeface="Helvetica Neue"/>
              </a:endParaRPr>
            </a:p>
          </p:txBody>
        </p:sp>
      </p:grpSp>
      <p:sp>
        <p:nvSpPr>
          <p:cNvPr id="293" name="Google Shape;293;p40"/>
          <p:cNvSpPr txBox="1"/>
          <p:nvPr/>
        </p:nvSpPr>
        <p:spPr>
          <a:xfrm>
            <a:off x="2283191" y="3205900"/>
            <a:ext cx="4521300" cy="1460700"/>
          </a:xfrm>
          <a:prstGeom prst="rect">
            <a:avLst/>
          </a:prstGeom>
          <a:noFill/>
          <a:ln>
            <a:noFill/>
          </a:ln>
        </p:spPr>
        <p:txBody>
          <a:bodyPr spcFirstLastPara="1" wrap="square" lIns="91426" tIns="91426" rIns="91426" bIns="91426" anchor="ctr" anchorCtr="0">
            <a:noAutofit/>
          </a:bodyPr>
          <a:lstStyle/>
          <a:p>
            <a:pPr>
              <a:spcBef>
                <a:spcPts val="0"/>
              </a:spcBef>
              <a:spcAft>
                <a:spcPts val="0"/>
              </a:spcAft>
            </a:pPr>
            <a:r>
              <a:rPr lang="en" sz="1200" b="1" dirty="0">
                <a:latin typeface="Helvetica Neue"/>
                <a:ea typeface="Helvetica Neue"/>
                <a:cs typeface="Helvetica Neue"/>
                <a:sym typeface="Helvetica Neue"/>
              </a:rPr>
              <a:t>2. Correlation with dataset metadata</a:t>
            </a:r>
            <a:endParaRPr sz="1200" b="1" dirty="0">
              <a:latin typeface="Helvetica Neue"/>
              <a:ea typeface="Helvetica Neue"/>
              <a:cs typeface="Helvetica Neue"/>
              <a:sym typeface="Helvetica Neue"/>
            </a:endParaRPr>
          </a:p>
          <a:p>
            <a:pPr marL="457182" indent="-304788">
              <a:spcBef>
                <a:spcPts val="0"/>
              </a:spcBef>
              <a:spcAft>
                <a:spcPts val="0"/>
              </a:spcAft>
              <a:buSzPts val="1200"/>
              <a:buFont typeface="Helvetica Neue"/>
              <a:buChar char="-"/>
            </a:pPr>
            <a:r>
              <a:rPr lang="en" sz="1200" dirty="0" err="1">
                <a:latin typeface="Helvetica Neue"/>
                <a:ea typeface="Helvetica Neue"/>
                <a:cs typeface="Helvetica Neue"/>
                <a:sym typeface="Helvetica Neue"/>
              </a:rPr>
              <a:t>PCclusters</a:t>
            </a:r>
            <a:r>
              <a:rPr lang="en" sz="1200" dirty="0">
                <a:latin typeface="Helvetica Neue"/>
                <a:ea typeface="Helvetica Neue"/>
                <a:cs typeface="Helvetica Neue"/>
                <a:sym typeface="Helvetica Neue"/>
              </a:rPr>
              <a:t> with high R</a:t>
            </a:r>
            <a:r>
              <a:rPr lang="en" sz="1200" baseline="30000" dirty="0">
                <a:latin typeface="Helvetica Neue"/>
                <a:ea typeface="Helvetica Neue"/>
                <a:cs typeface="Helvetica Neue"/>
                <a:sym typeface="Helvetica Neue"/>
              </a:rPr>
              <a:t>2</a:t>
            </a:r>
            <a:r>
              <a:rPr lang="en" sz="1200" dirty="0">
                <a:latin typeface="Helvetica Neue"/>
                <a:ea typeface="Helvetica Neue"/>
                <a:cs typeface="Helvetica Neue"/>
                <a:sym typeface="Helvetica Neue"/>
              </a:rPr>
              <a:t> with neutrophil count:</a:t>
            </a:r>
            <a:endParaRPr sz="1200" dirty="0">
              <a:latin typeface="Helvetica Neue"/>
              <a:ea typeface="Helvetica Neue"/>
              <a:cs typeface="Helvetica Neue"/>
              <a:sym typeface="Helvetica Neue"/>
            </a:endParaRPr>
          </a:p>
          <a:p>
            <a:pPr marL="457182">
              <a:spcBef>
                <a:spcPts val="0"/>
              </a:spcBef>
              <a:spcAft>
                <a:spcPts val="0"/>
              </a:spcAft>
            </a:pPr>
            <a:r>
              <a:rPr lang="en" sz="1000" i="1" dirty="0">
                <a:latin typeface="Consolas"/>
                <a:ea typeface="Consolas"/>
                <a:cs typeface="Consolas"/>
                <a:sym typeface="Consolas"/>
              </a:rPr>
              <a:t>#&gt; [1] "PCcluster1551" "PCcluster776"  "PCcluster23" </a:t>
            </a:r>
            <a:endParaRPr sz="1000" dirty="0">
              <a:highlight>
                <a:srgbClr val="F0F0F0"/>
              </a:highlight>
              <a:latin typeface="Consolas"/>
              <a:ea typeface="Consolas"/>
              <a:cs typeface="Consolas"/>
              <a:sym typeface="Consolas"/>
            </a:endParaRPr>
          </a:p>
          <a:p>
            <a:pPr marL="457182">
              <a:spcBef>
                <a:spcPts val="0"/>
              </a:spcBef>
              <a:spcAft>
                <a:spcPts val="0"/>
              </a:spcAft>
            </a:pPr>
            <a:r>
              <a:rPr lang="en" sz="1000" i="1" dirty="0">
                <a:latin typeface="Consolas"/>
                <a:ea typeface="Consolas"/>
                <a:cs typeface="Consolas"/>
                <a:sym typeface="Consolas"/>
              </a:rPr>
              <a:t>#&gt; [4] "PCcluster2671" "PCcluster1830"</a:t>
            </a:r>
            <a:endParaRPr sz="1000" i="1" dirty="0">
              <a:latin typeface="Consolas"/>
              <a:ea typeface="Consolas"/>
              <a:cs typeface="Consolas"/>
              <a:sym typeface="Consolas"/>
            </a:endParaRPr>
          </a:p>
          <a:p>
            <a:pPr marL="457182">
              <a:spcBef>
                <a:spcPts val="0"/>
              </a:spcBef>
              <a:spcAft>
                <a:spcPts val="0"/>
              </a:spcAft>
            </a:pPr>
            <a:endParaRPr sz="1000" i="1" dirty="0">
              <a:latin typeface="Consolas"/>
              <a:ea typeface="Consolas"/>
              <a:cs typeface="Consolas"/>
              <a:sym typeface="Consolas"/>
            </a:endParaRPr>
          </a:p>
          <a:p>
            <a:pPr marL="457182" indent="-304788">
              <a:spcBef>
                <a:spcPts val="0"/>
              </a:spcBef>
              <a:spcAft>
                <a:spcPts val="0"/>
              </a:spcAft>
              <a:buSzPts val="1200"/>
              <a:buFont typeface="Helvetica Neue"/>
              <a:buChar char="-"/>
            </a:pPr>
            <a:r>
              <a:rPr lang="en" sz="1200" dirty="0" err="1">
                <a:latin typeface="Helvetica Neue"/>
                <a:ea typeface="Helvetica Neue"/>
                <a:cs typeface="Helvetica Neue"/>
                <a:sym typeface="Helvetica Neue"/>
              </a:rPr>
              <a:t>PCclusters</a:t>
            </a:r>
            <a:r>
              <a:rPr lang="en" sz="1200" dirty="0">
                <a:latin typeface="Helvetica Neue"/>
                <a:ea typeface="Helvetica Neue"/>
                <a:cs typeface="Helvetica Neue"/>
                <a:sym typeface="Helvetica Neue"/>
              </a:rPr>
              <a:t> with high R</a:t>
            </a:r>
            <a:r>
              <a:rPr lang="en" sz="1200" baseline="30000" dirty="0">
                <a:latin typeface="Helvetica Neue"/>
                <a:ea typeface="Helvetica Neue"/>
                <a:cs typeface="Helvetica Neue"/>
                <a:sym typeface="Helvetica Neue"/>
              </a:rPr>
              <a:t>2</a:t>
            </a:r>
            <a:r>
              <a:rPr lang="en" sz="1200" dirty="0">
                <a:latin typeface="Helvetica Neue"/>
                <a:ea typeface="Helvetica Neue"/>
                <a:cs typeface="Helvetica Neue"/>
                <a:sym typeface="Helvetica Neue"/>
              </a:rPr>
              <a:t> with neutrophil estimate:</a:t>
            </a:r>
            <a:endParaRPr sz="1200" dirty="0">
              <a:latin typeface="Helvetica Neue"/>
              <a:ea typeface="Helvetica Neue"/>
              <a:cs typeface="Helvetica Neue"/>
              <a:sym typeface="Helvetica Neue"/>
            </a:endParaRPr>
          </a:p>
          <a:p>
            <a:pPr marL="457182">
              <a:spcBef>
                <a:spcPts val="0"/>
              </a:spcBef>
              <a:spcAft>
                <a:spcPts val="0"/>
              </a:spcAft>
            </a:pPr>
            <a:r>
              <a:rPr lang="en" sz="1000" i="1" dirty="0">
                <a:latin typeface="Consolas"/>
                <a:ea typeface="Consolas"/>
                <a:cs typeface="Consolas"/>
                <a:sym typeface="Consolas"/>
              </a:rPr>
              <a:t>#&gt; [1] "PCcluster1551" "PCcluster7"    "PCcluster1073" </a:t>
            </a:r>
            <a:endParaRPr sz="1000" dirty="0">
              <a:highlight>
                <a:srgbClr val="F0F0F0"/>
              </a:highlight>
              <a:latin typeface="Consolas"/>
              <a:ea typeface="Consolas"/>
              <a:cs typeface="Consolas"/>
              <a:sym typeface="Consolas"/>
            </a:endParaRPr>
          </a:p>
          <a:p>
            <a:pPr marL="457182">
              <a:spcBef>
                <a:spcPts val="0"/>
              </a:spcBef>
              <a:spcAft>
                <a:spcPts val="0"/>
              </a:spcAft>
            </a:pPr>
            <a:r>
              <a:rPr lang="en" sz="1000" i="1" dirty="0">
                <a:latin typeface="Consolas"/>
                <a:ea typeface="Consolas"/>
                <a:cs typeface="Consolas"/>
                <a:sym typeface="Consolas"/>
              </a:rPr>
              <a:t>#&gt; [4] "PCcluster2632" "PCcluster23"   "PCcluster2671"</a:t>
            </a:r>
            <a:endParaRPr sz="1100" i="1" dirty="0">
              <a:latin typeface="Consolas"/>
              <a:ea typeface="Consolas"/>
              <a:cs typeface="Consolas"/>
              <a:sym typeface="Consolas"/>
            </a:endParaRPr>
          </a:p>
        </p:txBody>
      </p:sp>
      <p:sp>
        <p:nvSpPr>
          <p:cNvPr id="2" name="TextBox 1">
            <a:extLst>
              <a:ext uri="{FF2B5EF4-FFF2-40B4-BE49-F238E27FC236}">
                <a16:creationId xmlns:a16="http://schemas.microsoft.com/office/drawing/2014/main" id="{A6DAC5E3-94E9-701F-4D12-97EB466C8A9C}"/>
              </a:ext>
            </a:extLst>
          </p:cNvPr>
          <p:cNvSpPr txBox="1"/>
          <p:nvPr/>
        </p:nvSpPr>
        <p:spPr>
          <a:xfrm>
            <a:off x="605505" y="4751184"/>
            <a:ext cx="8681553" cy="274523"/>
          </a:xfrm>
          <a:prstGeom prst="rect">
            <a:avLst/>
          </a:prstGeom>
        </p:spPr>
        <p:txBody>
          <a:bodyPr vert="horz" lIns="91440" tIns="45720" rIns="91440" bIns="45720" rtlCol="0" anchor="t">
            <a:normAutofit/>
          </a:bodyPr>
          <a:lstStyle/>
          <a:p>
            <a:pPr eaLnBrk="1" hangingPunct="1">
              <a:lnSpc>
                <a:spcPct val="90000"/>
              </a:lnSpc>
              <a:spcAft>
                <a:spcPts val="600"/>
              </a:spcAft>
            </a:pPr>
            <a:r>
              <a:rPr lang="en-US" sz="1200" dirty="0">
                <a:latin typeface="+mn-lt"/>
                <a:ea typeface="+mn-ea"/>
                <a:hlinkClick r:id="rId4"/>
              </a:rPr>
              <a:t>https://www.bioconductor.org/packages/GenomicSuperSignature/</a:t>
            </a:r>
            <a:r>
              <a:rPr lang="en-US" sz="1200" dirty="0">
                <a:latin typeface="+mn-lt"/>
                <a:ea typeface="+mn-ea"/>
              </a:rPr>
              <a:t> </a:t>
            </a:r>
          </a:p>
        </p:txBody>
      </p:sp>
      <p:pic>
        <p:nvPicPr>
          <p:cNvPr id="3074" name="Picture 2" descr="Bioconductor · GitHub">
            <a:extLst>
              <a:ext uri="{FF2B5EF4-FFF2-40B4-BE49-F238E27FC236}">
                <a16:creationId xmlns:a16="http://schemas.microsoft.com/office/drawing/2014/main" id="{222AFC98-033F-6064-5C07-327F9A3BA0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80" y="4633037"/>
            <a:ext cx="392670" cy="3926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1"/>
          <p:cNvSpPr txBox="1">
            <a:spLocks noGrp="1"/>
          </p:cNvSpPr>
          <p:nvPr>
            <p:ph type="title"/>
          </p:nvPr>
        </p:nvSpPr>
        <p:spPr>
          <a:xfrm>
            <a:off x="311700" y="445025"/>
            <a:ext cx="8520600" cy="572700"/>
          </a:xfrm>
          <a:prstGeom prst="rect">
            <a:avLst/>
          </a:prstGeom>
        </p:spPr>
        <p:txBody>
          <a:bodyPr spcFirstLastPara="1" vert="horz" wrap="square" lIns="91426" tIns="91426" rIns="91426" bIns="91426" rtlCol="0" anchor="t" anchorCtr="0">
            <a:noAutofit/>
          </a:bodyPr>
          <a:lstStyle/>
          <a:p>
            <a:pPr algn="l"/>
            <a:r>
              <a:rPr lang="en" sz="2000" b="1" dirty="0"/>
              <a:t>Comparing estimated neutrophil count with known count</a:t>
            </a:r>
            <a:endParaRPr sz="2000" b="1" dirty="0"/>
          </a:p>
        </p:txBody>
      </p:sp>
      <p:sp>
        <p:nvSpPr>
          <p:cNvPr id="299" name="Google Shape;299;p41"/>
          <p:cNvSpPr txBox="1">
            <a:spLocks noGrp="1"/>
          </p:cNvSpPr>
          <p:nvPr>
            <p:ph type="body" idx="1"/>
          </p:nvPr>
        </p:nvSpPr>
        <p:spPr>
          <a:xfrm>
            <a:off x="156174" y="1145375"/>
            <a:ext cx="8888237" cy="3306000"/>
          </a:xfrm>
          <a:prstGeom prst="rect">
            <a:avLst/>
          </a:prstGeom>
        </p:spPr>
        <p:txBody>
          <a:bodyPr spcFirstLastPara="1" vert="horz" wrap="square" lIns="91426" tIns="91426" rIns="91426" bIns="91426" rtlCol="0" anchor="t" anchorCtr="0">
            <a:noAutofit/>
          </a:bodyPr>
          <a:lstStyle/>
          <a:p>
            <a:pPr indent="-304788">
              <a:buClr>
                <a:srgbClr val="000000"/>
              </a:buClr>
              <a:buSzPts val="1200"/>
              <a:buFont typeface="Helvetica Neue"/>
              <a:buChar char="●"/>
            </a:pPr>
            <a:r>
              <a:rPr lang="en" sz="1200" dirty="0">
                <a:solidFill>
                  <a:srgbClr val="000000"/>
                </a:solidFill>
                <a:latin typeface="Helvetica Neue"/>
                <a:ea typeface="Helvetica Neue"/>
                <a:cs typeface="Helvetica Neue"/>
                <a:sym typeface="Helvetica Neue"/>
              </a:rPr>
              <a:t>Neutrophil count of Systemic lupus erythematosus (SLE) whole blood (WB) Compendium is from the metadata (B and E)</a:t>
            </a:r>
            <a:endParaRPr sz="1200" dirty="0">
              <a:solidFill>
                <a:srgbClr val="000000"/>
              </a:solidFill>
              <a:latin typeface="Helvetica Neue"/>
              <a:ea typeface="Helvetica Neue"/>
              <a:cs typeface="Helvetica Neue"/>
              <a:sym typeface="Helvetica Neue"/>
            </a:endParaRPr>
          </a:p>
          <a:p>
            <a:pPr indent="-304788">
              <a:buClr>
                <a:srgbClr val="000000"/>
              </a:buClr>
              <a:buSzPts val="1200"/>
              <a:buFont typeface="Helvetica Neue"/>
              <a:buChar char="●"/>
            </a:pPr>
            <a:r>
              <a:rPr lang="en" sz="1200" dirty="0">
                <a:solidFill>
                  <a:srgbClr val="000000"/>
                </a:solidFill>
                <a:latin typeface="Helvetica Neue"/>
                <a:ea typeface="Helvetica Neue"/>
                <a:cs typeface="Helvetica Neue"/>
                <a:sym typeface="Helvetica Neue"/>
              </a:rPr>
              <a:t>Neutrophil estimate of SLE-WB by </a:t>
            </a:r>
            <a:r>
              <a:rPr lang="en" sz="1200" dirty="0" err="1">
                <a:solidFill>
                  <a:srgbClr val="000000"/>
                </a:solidFill>
                <a:latin typeface="Helvetica Neue"/>
                <a:ea typeface="Helvetica Neue"/>
                <a:cs typeface="Helvetica Neue"/>
                <a:sym typeface="Helvetica Neue"/>
              </a:rPr>
              <a:t>MCPcounter</a:t>
            </a:r>
            <a:r>
              <a:rPr lang="en" sz="1200" dirty="0">
                <a:solidFill>
                  <a:srgbClr val="000000"/>
                </a:solidFill>
                <a:latin typeface="Helvetica Neue"/>
                <a:ea typeface="Helvetica Neue"/>
                <a:cs typeface="Helvetica Neue"/>
                <a:sym typeface="Helvetica Neue"/>
              </a:rPr>
              <a:t> (C and F)</a:t>
            </a:r>
            <a:endParaRPr sz="1200" dirty="0">
              <a:solidFill>
                <a:srgbClr val="000000"/>
              </a:solidFill>
              <a:latin typeface="Helvetica Neue"/>
              <a:ea typeface="Helvetica Neue"/>
              <a:cs typeface="Helvetica Neue"/>
              <a:sym typeface="Helvetica Neue"/>
            </a:endParaRPr>
          </a:p>
          <a:p>
            <a:pPr indent="-304788">
              <a:buClr>
                <a:srgbClr val="000000"/>
              </a:buClr>
              <a:buSzPts val="1200"/>
              <a:buFont typeface="Helvetica Neue"/>
              <a:buChar char="●"/>
            </a:pPr>
            <a:r>
              <a:rPr lang="en" sz="1200" dirty="0">
                <a:solidFill>
                  <a:srgbClr val="000000"/>
                </a:solidFill>
                <a:latin typeface="Helvetica Neue"/>
                <a:ea typeface="Helvetica Neue"/>
                <a:cs typeface="Helvetica Neue"/>
                <a:sym typeface="Helvetica Neue"/>
              </a:rPr>
              <a:t>Neutrophil estimate of nasal brushings microarray dataset (NARES) by </a:t>
            </a:r>
            <a:r>
              <a:rPr lang="en" sz="1200" dirty="0" err="1">
                <a:solidFill>
                  <a:srgbClr val="000000"/>
                </a:solidFill>
                <a:latin typeface="Helvetica Neue"/>
                <a:ea typeface="Helvetica Neue"/>
                <a:cs typeface="Helvetica Neue"/>
                <a:sym typeface="Helvetica Neue"/>
              </a:rPr>
              <a:t>MCPcounter</a:t>
            </a:r>
            <a:r>
              <a:rPr lang="en" sz="1200" dirty="0">
                <a:solidFill>
                  <a:srgbClr val="000000"/>
                </a:solidFill>
                <a:latin typeface="Helvetica Neue"/>
                <a:ea typeface="Helvetica Neue"/>
                <a:cs typeface="Helvetica Neue"/>
                <a:sym typeface="Helvetica Neue"/>
              </a:rPr>
              <a:t> (D and G)</a:t>
            </a:r>
            <a:endParaRPr sz="1200" dirty="0">
              <a:solidFill>
                <a:srgbClr val="000000"/>
              </a:solidFill>
            </a:endParaRPr>
          </a:p>
          <a:p>
            <a:pPr marL="0" indent="0">
              <a:buNone/>
            </a:pPr>
            <a:endParaRPr sz="1200" dirty="0">
              <a:solidFill>
                <a:srgbClr val="000000"/>
              </a:solidFill>
            </a:endParaRPr>
          </a:p>
          <a:p>
            <a:pPr marL="0" indent="0">
              <a:buNone/>
            </a:pPr>
            <a:r>
              <a:rPr lang="en" sz="1200" dirty="0">
                <a:solidFill>
                  <a:srgbClr val="000000"/>
                </a:solidFill>
              </a:rPr>
              <a:t>Neutrophil-associated signature  RAV1551</a:t>
            </a:r>
            <a:endParaRPr sz="1200" dirty="0">
              <a:solidFill>
                <a:srgbClr val="000000"/>
              </a:solidFill>
            </a:endParaRPr>
          </a:p>
          <a:p>
            <a:pPr marL="0" indent="0">
              <a:buNone/>
            </a:pPr>
            <a:r>
              <a:rPr lang="en" sz="900" dirty="0">
                <a:solidFill>
                  <a:srgbClr val="0000FF"/>
                </a:solidFill>
                <a:highlight>
                  <a:srgbClr val="FFFFFF"/>
                </a:highlight>
                <a:latin typeface="Courier New"/>
                <a:ea typeface="Courier New"/>
                <a:cs typeface="Courier New"/>
                <a:sym typeface="Courier New"/>
              </a:rPr>
              <a:t>&gt; </a:t>
            </a:r>
            <a:r>
              <a:rPr lang="en" sz="900" dirty="0" err="1">
                <a:solidFill>
                  <a:srgbClr val="0000FF"/>
                </a:solidFill>
                <a:highlight>
                  <a:srgbClr val="FFFFFF"/>
                </a:highlight>
                <a:latin typeface="Courier New"/>
                <a:ea typeface="Courier New"/>
                <a:cs typeface="Courier New"/>
                <a:sym typeface="Courier New"/>
              </a:rPr>
              <a:t>findSignature</a:t>
            </a:r>
            <a:r>
              <a:rPr lang="en" sz="900" dirty="0">
                <a:solidFill>
                  <a:srgbClr val="0000FF"/>
                </a:solidFill>
                <a:highlight>
                  <a:srgbClr val="FFFFFF"/>
                </a:highlight>
                <a:latin typeface="Courier New"/>
                <a:ea typeface="Courier New"/>
                <a:cs typeface="Courier New"/>
                <a:sym typeface="Courier New"/>
              </a:rPr>
              <a:t>(</a:t>
            </a:r>
            <a:r>
              <a:rPr lang="en" sz="900" dirty="0" err="1">
                <a:solidFill>
                  <a:srgbClr val="0000FF"/>
                </a:solidFill>
                <a:highlight>
                  <a:srgbClr val="FFFFFF"/>
                </a:highlight>
                <a:latin typeface="Courier New"/>
                <a:ea typeface="Courier New"/>
                <a:cs typeface="Courier New"/>
                <a:sym typeface="Courier New"/>
              </a:rPr>
              <a:t>RAVmodel</a:t>
            </a:r>
            <a:r>
              <a:rPr lang="en" sz="900" dirty="0">
                <a:solidFill>
                  <a:srgbClr val="0000FF"/>
                </a:solidFill>
                <a:highlight>
                  <a:srgbClr val="FFFFFF"/>
                </a:highlight>
                <a:latin typeface="Courier New"/>
                <a:ea typeface="Courier New"/>
                <a:cs typeface="Courier New"/>
                <a:sym typeface="Courier New"/>
              </a:rPr>
              <a:t>, "neutrophil", k=2)</a:t>
            </a:r>
            <a:endParaRPr sz="900" dirty="0">
              <a:solidFill>
                <a:srgbClr val="0000FF"/>
              </a:solidFill>
              <a:highlight>
                <a:srgbClr val="FFFFFF"/>
              </a:highlight>
              <a:latin typeface="Courier New"/>
              <a:ea typeface="Courier New"/>
              <a:cs typeface="Courier New"/>
              <a:sym typeface="Courier New"/>
            </a:endParaRPr>
          </a:p>
          <a:p>
            <a:pPr marL="0" indent="0">
              <a:lnSpc>
                <a:spcPct val="145000"/>
              </a:lnSpc>
              <a:buNone/>
            </a:pPr>
            <a:r>
              <a:rPr lang="en" sz="900" dirty="0">
                <a:solidFill>
                  <a:srgbClr val="000000"/>
                </a:solidFill>
                <a:highlight>
                  <a:srgbClr val="FFFFFF"/>
                </a:highlight>
                <a:latin typeface="Courier New"/>
                <a:ea typeface="Courier New"/>
                <a:cs typeface="Courier New"/>
                <a:sym typeface="Courier New"/>
              </a:rPr>
              <a:t>[1]    7 1551</a:t>
            </a:r>
            <a:endParaRPr sz="900" dirty="0">
              <a:solidFill>
                <a:srgbClr val="000000"/>
              </a:solidFill>
              <a:highlight>
                <a:srgbClr val="FFFFFF"/>
              </a:highlight>
              <a:latin typeface="Courier New"/>
              <a:ea typeface="Courier New"/>
              <a:cs typeface="Courier New"/>
              <a:sym typeface="Courier New"/>
            </a:endParaRPr>
          </a:p>
        </p:txBody>
      </p:sp>
      <p:grpSp>
        <p:nvGrpSpPr>
          <p:cNvPr id="300" name="Google Shape;300;p41"/>
          <p:cNvGrpSpPr/>
          <p:nvPr/>
        </p:nvGrpSpPr>
        <p:grpSpPr>
          <a:xfrm>
            <a:off x="3442975" y="2112452"/>
            <a:ext cx="5144725" cy="1961692"/>
            <a:chOff x="3540225" y="3076708"/>
            <a:chExt cx="5144725" cy="1961692"/>
          </a:xfrm>
        </p:grpSpPr>
        <p:grpSp>
          <p:nvGrpSpPr>
            <p:cNvPr id="301" name="Google Shape;301;p41"/>
            <p:cNvGrpSpPr/>
            <p:nvPr/>
          </p:nvGrpSpPr>
          <p:grpSpPr>
            <a:xfrm>
              <a:off x="3540225" y="3222653"/>
              <a:ext cx="5144725" cy="1815747"/>
              <a:chOff x="3616425" y="3679853"/>
              <a:chExt cx="5144725" cy="1815747"/>
            </a:xfrm>
          </p:grpSpPr>
          <p:pic>
            <p:nvPicPr>
              <p:cNvPr id="302" name="Google Shape;302;p41"/>
              <p:cNvPicPr preferRelativeResize="0"/>
              <p:nvPr/>
            </p:nvPicPr>
            <p:blipFill>
              <a:blip r:embed="rId3">
                <a:alphaModFix/>
              </a:blip>
              <a:stretch>
                <a:fillRect/>
              </a:stretch>
            </p:blipFill>
            <p:spPr>
              <a:xfrm>
                <a:off x="3616425" y="3679853"/>
                <a:ext cx="5144725" cy="1815747"/>
              </a:xfrm>
              <a:prstGeom prst="rect">
                <a:avLst/>
              </a:prstGeom>
              <a:noFill/>
              <a:ln>
                <a:noFill/>
              </a:ln>
            </p:spPr>
          </p:pic>
          <p:sp>
            <p:nvSpPr>
              <p:cNvPr id="303" name="Google Shape;303;p41"/>
              <p:cNvSpPr/>
              <p:nvPr/>
            </p:nvSpPr>
            <p:spPr>
              <a:xfrm>
                <a:off x="3908400" y="3707375"/>
                <a:ext cx="4779600" cy="1821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6" tIns="91426" rIns="91426" bIns="91426" anchor="ctr" anchorCtr="0">
                <a:noAutofit/>
              </a:bodyPr>
              <a:lstStyle/>
              <a:p>
                <a:pPr>
                  <a:spcBef>
                    <a:spcPts val="0"/>
                  </a:spcBef>
                  <a:spcAft>
                    <a:spcPts val="0"/>
                  </a:spcAft>
                </a:pPr>
                <a:endParaRPr/>
              </a:p>
            </p:txBody>
          </p:sp>
        </p:grpSp>
        <p:grpSp>
          <p:nvGrpSpPr>
            <p:cNvPr id="304" name="Google Shape;304;p41"/>
            <p:cNvGrpSpPr/>
            <p:nvPr/>
          </p:nvGrpSpPr>
          <p:grpSpPr>
            <a:xfrm>
              <a:off x="3812335" y="3076708"/>
              <a:ext cx="4801461" cy="344066"/>
              <a:chOff x="1588012" y="2269508"/>
              <a:chExt cx="6065516" cy="468755"/>
            </a:xfrm>
          </p:grpSpPr>
          <p:grpSp>
            <p:nvGrpSpPr>
              <p:cNvPr id="305" name="Google Shape;305;p41"/>
              <p:cNvGrpSpPr/>
              <p:nvPr/>
            </p:nvGrpSpPr>
            <p:grpSpPr>
              <a:xfrm>
                <a:off x="1588012" y="2269508"/>
                <a:ext cx="6065516" cy="468755"/>
                <a:chOff x="1124901" y="1728978"/>
                <a:chExt cx="7088368" cy="572700"/>
              </a:xfrm>
            </p:grpSpPr>
            <p:sp>
              <p:nvSpPr>
                <p:cNvPr id="306" name="Google Shape;306;p41"/>
                <p:cNvSpPr txBox="1"/>
                <p:nvPr/>
              </p:nvSpPr>
              <p:spPr>
                <a:xfrm>
                  <a:off x="6141169" y="1728978"/>
                  <a:ext cx="2072100" cy="572700"/>
                </a:xfrm>
                <a:prstGeom prst="rect">
                  <a:avLst/>
                </a:prstGeom>
                <a:noFill/>
                <a:ln>
                  <a:noFill/>
                </a:ln>
              </p:spPr>
              <p:txBody>
                <a:bodyPr spcFirstLastPara="1" wrap="square" lIns="91426" tIns="91426" rIns="91426" bIns="91426" anchor="t" anchorCtr="0">
                  <a:noAutofit/>
                </a:bodyPr>
                <a:lstStyle/>
                <a:p>
                  <a:pPr algn="ctr">
                    <a:spcBef>
                      <a:spcPts val="0"/>
                    </a:spcBef>
                    <a:spcAft>
                      <a:spcPts val="0"/>
                    </a:spcAft>
                  </a:pPr>
                  <a:r>
                    <a:rPr lang="en" sz="800" dirty="0">
                      <a:latin typeface="Helvetica Neue"/>
                      <a:ea typeface="Helvetica Neue"/>
                      <a:cs typeface="Helvetica Neue"/>
                      <a:sym typeface="Helvetica Neue"/>
                    </a:rPr>
                    <a:t>NARES Nasal Brushings</a:t>
                  </a:r>
                  <a:endParaRPr sz="800" dirty="0">
                    <a:latin typeface="Helvetica Neue"/>
                    <a:ea typeface="Helvetica Neue"/>
                    <a:cs typeface="Helvetica Neue"/>
                    <a:sym typeface="Helvetica Neue"/>
                  </a:endParaRPr>
                </a:p>
              </p:txBody>
            </p:sp>
            <p:sp>
              <p:nvSpPr>
                <p:cNvPr id="307" name="Google Shape;307;p41"/>
                <p:cNvSpPr txBox="1"/>
                <p:nvPr/>
              </p:nvSpPr>
              <p:spPr>
                <a:xfrm>
                  <a:off x="3706696" y="1728978"/>
                  <a:ext cx="2072100" cy="572700"/>
                </a:xfrm>
                <a:prstGeom prst="rect">
                  <a:avLst/>
                </a:prstGeom>
                <a:noFill/>
                <a:ln>
                  <a:noFill/>
                </a:ln>
              </p:spPr>
              <p:txBody>
                <a:bodyPr spcFirstLastPara="1" wrap="square" lIns="91426" tIns="91426" rIns="91426" bIns="91426" anchor="t" anchorCtr="0">
                  <a:noAutofit/>
                </a:bodyPr>
                <a:lstStyle/>
                <a:p>
                  <a:pPr algn="ctr">
                    <a:spcBef>
                      <a:spcPts val="0"/>
                    </a:spcBef>
                    <a:spcAft>
                      <a:spcPts val="0"/>
                    </a:spcAft>
                  </a:pPr>
                  <a:r>
                    <a:rPr lang="en" sz="800" dirty="0">
                      <a:latin typeface="Helvetica Neue"/>
                      <a:ea typeface="Helvetica Neue"/>
                      <a:cs typeface="Helvetica Neue"/>
                      <a:sym typeface="Helvetica Neue"/>
                    </a:rPr>
                    <a:t>SLE WB </a:t>
                  </a:r>
                  <a:r>
                    <a:rPr lang="en" sz="800" dirty="0" err="1">
                      <a:latin typeface="Helvetica Neue"/>
                      <a:ea typeface="Helvetica Neue"/>
                      <a:cs typeface="Helvetica Neue"/>
                      <a:sym typeface="Helvetica Neue"/>
                    </a:rPr>
                    <a:t>MCPcounter</a:t>
                  </a:r>
                  <a:endParaRPr sz="800" dirty="0">
                    <a:latin typeface="Helvetica Neue"/>
                    <a:ea typeface="Helvetica Neue"/>
                    <a:cs typeface="Helvetica Neue"/>
                    <a:sym typeface="Helvetica Neue"/>
                  </a:endParaRPr>
                </a:p>
              </p:txBody>
            </p:sp>
            <p:sp>
              <p:nvSpPr>
                <p:cNvPr id="308" name="Google Shape;308;p41"/>
                <p:cNvSpPr txBox="1"/>
                <p:nvPr/>
              </p:nvSpPr>
              <p:spPr>
                <a:xfrm>
                  <a:off x="1124901" y="1728978"/>
                  <a:ext cx="2072100" cy="572700"/>
                </a:xfrm>
                <a:prstGeom prst="rect">
                  <a:avLst/>
                </a:prstGeom>
                <a:noFill/>
                <a:ln>
                  <a:noFill/>
                </a:ln>
              </p:spPr>
              <p:txBody>
                <a:bodyPr spcFirstLastPara="1" wrap="square" lIns="91426" tIns="91426" rIns="91426" bIns="91426" anchor="t" anchorCtr="0">
                  <a:noAutofit/>
                </a:bodyPr>
                <a:lstStyle/>
                <a:p>
                  <a:pPr algn="ctr">
                    <a:spcBef>
                      <a:spcPts val="0"/>
                    </a:spcBef>
                    <a:spcAft>
                      <a:spcPts val="0"/>
                    </a:spcAft>
                  </a:pPr>
                  <a:r>
                    <a:rPr lang="en" sz="800" dirty="0">
                      <a:latin typeface="Helvetica Neue"/>
                      <a:ea typeface="Helvetica Neue"/>
                      <a:cs typeface="Helvetica Neue"/>
                      <a:sym typeface="Helvetica Neue"/>
                    </a:rPr>
                    <a:t>SLE WB Compendium</a:t>
                  </a:r>
                  <a:endParaRPr sz="800" dirty="0">
                    <a:latin typeface="Helvetica Neue"/>
                    <a:ea typeface="Helvetica Neue"/>
                    <a:cs typeface="Helvetica Neue"/>
                    <a:sym typeface="Helvetica Neue"/>
                  </a:endParaRPr>
                </a:p>
              </p:txBody>
            </p:sp>
          </p:grpSp>
          <p:sp>
            <p:nvSpPr>
              <p:cNvPr id="310" name="Google Shape;310;p41"/>
              <p:cNvSpPr txBox="1"/>
              <p:nvPr/>
            </p:nvSpPr>
            <p:spPr>
              <a:xfrm>
                <a:off x="3733725" y="2348150"/>
                <a:ext cx="551100" cy="381600"/>
              </a:xfrm>
              <a:prstGeom prst="rect">
                <a:avLst/>
              </a:prstGeom>
              <a:noFill/>
              <a:ln>
                <a:noFill/>
              </a:ln>
            </p:spPr>
            <p:txBody>
              <a:bodyPr spcFirstLastPara="1" wrap="square" lIns="91426" tIns="91426" rIns="91426" bIns="91426" anchor="ctr" anchorCtr="0">
                <a:noAutofit/>
              </a:bodyPr>
              <a:lstStyle/>
              <a:p>
                <a:pPr>
                  <a:spcBef>
                    <a:spcPts val="0"/>
                  </a:spcBef>
                  <a:spcAft>
                    <a:spcPts val="0"/>
                  </a:spcAft>
                </a:pPr>
                <a:endParaRPr sz="1100" b="1" dirty="0">
                  <a:latin typeface="Proxima Nova"/>
                  <a:ea typeface="Proxima Nova"/>
                  <a:cs typeface="Proxima Nova"/>
                  <a:sym typeface="Proxima Nova"/>
                </a:endParaRPr>
              </a:p>
            </p:txBody>
          </p:sp>
        </p:grpSp>
      </p:grpSp>
      <p:sp>
        <p:nvSpPr>
          <p:cNvPr id="314" name="Google Shape;314;p41"/>
          <p:cNvSpPr txBox="1"/>
          <p:nvPr/>
        </p:nvSpPr>
        <p:spPr>
          <a:xfrm>
            <a:off x="3088758" y="4209131"/>
            <a:ext cx="5955653" cy="430859"/>
          </a:xfrm>
          <a:prstGeom prst="rect">
            <a:avLst/>
          </a:prstGeom>
          <a:noFill/>
          <a:ln>
            <a:noFill/>
          </a:ln>
        </p:spPr>
        <p:txBody>
          <a:bodyPr spcFirstLastPara="1" wrap="square" lIns="91426" tIns="91426" rIns="91426" bIns="91426" anchor="t" anchorCtr="0">
            <a:spAutoFit/>
          </a:bodyPr>
          <a:lstStyle/>
          <a:p>
            <a:pPr>
              <a:spcBef>
                <a:spcPts val="0"/>
              </a:spcBef>
              <a:spcAft>
                <a:spcPts val="0"/>
              </a:spcAft>
            </a:pPr>
            <a:r>
              <a:rPr lang="en" sz="800" b="1" dirty="0"/>
              <a:t>Dataset from </a:t>
            </a:r>
            <a:r>
              <a:rPr lang="en" sz="800" dirty="0" err="1"/>
              <a:t>MCPcounter</a:t>
            </a:r>
            <a:r>
              <a:rPr lang="en" sz="800" dirty="0"/>
              <a:t>: Becht, E. </a:t>
            </a:r>
            <a:r>
              <a:rPr lang="en" sz="800" i="1" dirty="0"/>
              <a:t>et al.</a:t>
            </a:r>
            <a:r>
              <a:rPr lang="en" sz="800" dirty="0"/>
              <a:t> (2016). Estimating the population abundance of tissue-infiltrating immune and stromal cell populations using gene expression. </a:t>
            </a:r>
            <a:r>
              <a:rPr lang="en" sz="800" i="1" dirty="0"/>
              <a:t>Genome Biology</a:t>
            </a:r>
            <a:r>
              <a:rPr lang="en" sz="800" dirty="0"/>
              <a:t>, </a:t>
            </a:r>
            <a:r>
              <a:rPr lang="en" sz="800" i="1" dirty="0"/>
              <a:t>17</a:t>
            </a:r>
            <a:r>
              <a:rPr lang="en" sz="800" dirty="0"/>
              <a:t>(1), 218. https://</a:t>
            </a:r>
            <a:r>
              <a:rPr lang="en" sz="800" dirty="0" err="1"/>
              <a:t>doi.org</a:t>
            </a:r>
            <a:r>
              <a:rPr lang="en" sz="800" dirty="0"/>
              <a:t>/10.1186/s13059-016-1070-5</a:t>
            </a:r>
            <a:endParaRPr sz="800" dirty="0">
              <a:latin typeface="Proxima Nova"/>
              <a:ea typeface="Proxima Nova"/>
              <a:cs typeface="Proxima Nova"/>
              <a:sym typeface="Proxima Nova"/>
            </a:endParaRPr>
          </a:p>
        </p:txBody>
      </p:sp>
      <p:sp>
        <p:nvSpPr>
          <p:cNvPr id="3" name="TextBox 2">
            <a:extLst>
              <a:ext uri="{FF2B5EF4-FFF2-40B4-BE49-F238E27FC236}">
                <a16:creationId xmlns:a16="http://schemas.microsoft.com/office/drawing/2014/main" id="{2E2972E2-2DF5-C682-F387-D20E2379B80E}"/>
              </a:ext>
            </a:extLst>
          </p:cNvPr>
          <p:cNvSpPr txBox="1"/>
          <p:nvPr/>
        </p:nvSpPr>
        <p:spPr>
          <a:xfrm>
            <a:off x="605505" y="4751184"/>
            <a:ext cx="8681553" cy="274523"/>
          </a:xfrm>
          <a:prstGeom prst="rect">
            <a:avLst/>
          </a:prstGeom>
        </p:spPr>
        <p:txBody>
          <a:bodyPr vert="horz" lIns="91440" tIns="45720" rIns="91440" bIns="45720" rtlCol="0" anchor="t">
            <a:normAutofit/>
          </a:bodyPr>
          <a:lstStyle/>
          <a:p>
            <a:pPr eaLnBrk="1" hangingPunct="1">
              <a:lnSpc>
                <a:spcPct val="90000"/>
              </a:lnSpc>
              <a:spcAft>
                <a:spcPts val="600"/>
              </a:spcAft>
            </a:pPr>
            <a:r>
              <a:rPr lang="en-US" sz="1200" dirty="0">
                <a:latin typeface="+mn-lt"/>
                <a:ea typeface="+mn-ea"/>
                <a:hlinkClick r:id="rId4"/>
              </a:rPr>
              <a:t>https://www.bioconductor.org/packages/GenomicSuperSignature/</a:t>
            </a:r>
            <a:r>
              <a:rPr lang="en-US" sz="1200" dirty="0">
                <a:latin typeface="+mn-lt"/>
                <a:ea typeface="+mn-ea"/>
              </a:rPr>
              <a:t> </a:t>
            </a:r>
          </a:p>
        </p:txBody>
      </p:sp>
      <p:pic>
        <p:nvPicPr>
          <p:cNvPr id="4" name="Picture 2" descr="Bioconductor · GitHub">
            <a:extLst>
              <a:ext uri="{FF2B5EF4-FFF2-40B4-BE49-F238E27FC236}">
                <a16:creationId xmlns:a16="http://schemas.microsoft.com/office/drawing/2014/main" id="{278B77E1-8B89-6589-D881-D071C1B7E6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80" y="4633037"/>
            <a:ext cx="392670" cy="392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6949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5"/>
          <p:cNvSpPr txBox="1">
            <a:spLocks noGrp="1"/>
          </p:cNvSpPr>
          <p:nvPr>
            <p:ph type="title"/>
          </p:nvPr>
        </p:nvSpPr>
        <p:spPr>
          <a:xfrm>
            <a:off x="311700" y="410000"/>
            <a:ext cx="8520600" cy="607800"/>
          </a:xfrm>
          <a:prstGeom prst="rect">
            <a:avLst/>
          </a:prstGeom>
        </p:spPr>
        <p:txBody>
          <a:bodyPr spcFirstLastPara="1" wrap="square" lIns="91425" tIns="91425" rIns="91425" bIns="91425" anchor="b" anchorCtr="0">
            <a:normAutofit/>
          </a:bodyPr>
          <a:lstStyle/>
          <a:p>
            <a:pPr marL="1371600" lvl="0" indent="457200" algn="l" rtl="0">
              <a:spcBef>
                <a:spcPts val="0"/>
              </a:spcBef>
              <a:spcAft>
                <a:spcPts val="0"/>
              </a:spcAft>
              <a:buNone/>
            </a:pPr>
            <a:r>
              <a:rPr lang="en" sz="1400"/>
              <a:t>(</a:t>
            </a:r>
            <a:r>
              <a:rPr lang="en" sz="1400" i="1"/>
              <a:t>An</a:t>
            </a:r>
            <a:r>
              <a:rPr lang="en" sz="1400"/>
              <a:t>alysis, </a:t>
            </a:r>
            <a:r>
              <a:rPr lang="en" sz="1400" i="1"/>
              <a:t>V</a:t>
            </a:r>
            <a:r>
              <a:rPr lang="en" sz="1400"/>
              <a:t>isualization, and </a:t>
            </a:r>
            <a:r>
              <a:rPr lang="en" sz="1400" i="1"/>
              <a:t>I</a:t>
            </a:r>
            <a:r>
              <a:rPr lang="en" sz="1400"/>
              <a:t>nformatics </a:t>
            </a:r>
            <a:r>
              <a:rPr lang="en" sz="1400" i="1"/>
              <a:t>L</a:t>
            </a:r>
            <a:r>
              <a:rPr lang="en" sz="1400"/>
              <a:t>ab-Space)</a:t>
            </a:r>
            <a:endParaRPr sz="1400"/>
          </a:p>
        </p:txBody>
      </p:sp>
      <p:sp>
        <p:nvSpPr>
          <p:cNvPr id="100" name="Google Shape;100;p15"/>
          <p:cNvSpPr txBox="1">
            <a:spLocks noGrp="1"/>
          </p:cNvSpPr>
          <p:nvPr>
            <p:ph type="body" idx="1"/>
          </p:nvPr>
        </p:nvSpPr>
        <p:spPr>
          <a:xfrm>
            <a:off x="543600" y="1154588"/>
            <a:ext cx="4348500" cy="34143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400" b="1" i="1" u="sng"/>
              <a:t>Problems</a:t>
            </a:r>
            <a:endParaRPr sz="1400" b="1" i="1" u="sng"/>
          </a:p>
          <a:p>
            <a:pPr marL="0" lvl="0" indent="0" algn="l" rtl="0">
              <a:lnSpc>
                <a:spcPct val="100000"/>
              </a:lnSpc>
              <a:spcBef>
                <a:spcPts val="0"/>
              </a:spcBef>
              <a:spcAft>
                <a:spcPts val="0"/>
              </a:spcAft>
              <a:buNone/>
            </a:pPr>
            <a:r>
              <a:rPr lang="en" sz="1400"/>
              <a:t>The traditional model of genomic data sharing (i.e., researchers download data to analyze locally) :</a:t>
            </a:r>
            <a:endParaRPr sz="1400"/>
          </a:p>
          <a:p>
            <a:pPr marL="457200" lvl="0" indent="-304800" algn="l" rtl="0">
              <a:lnSpc>
                <a:spcPct val="100000"/>
              </a:lnSpc>
              <a:spcBef>
                <a:spcPts val="0"/>
              </a:spcBef>
              <a:spcAft>
                <a:spcPts val="0"/>
              </a:spcAft>
              <a:buSzPts val="1200"/>
              <a:buChar char="-"/>
            </a:pPr>
            <a:r>
              <a:rPr lang="en" sz="1200"/>
              <a:t>transfer/download cost</a:t>
            </a:r>
            <a:endParaRPr sz="1200"/>
          </a:p>
          <a:p>
            <a:pPr marL="457200" lvl="0" indent="-304800" algn="l" rtl="0">
              <a:lnSpc>
                <a:spcPct val="100000"/>
              </a:lnSpc>
              <a:spcBef>
                <a:spcPts val="0"/>
              </a:spcBef>
              <a:spcAft>
                <a:spcPts val="0"/>
              </a:spcAft>
              <a:buSzPts val="1200"/>
              <a:buChar char="-"/>
            </a:pPr>
            <a:r>
              <a:rPr lang="en" sz="1200"/>
              <a:t>long transfer time</a:t>
            </a:r>
            <a:endParaRPr sz="1200"/>
          </a:p>
          <a:p>
            <a:pPr marL="457200" lvl="0" indent="-304800" algn="l" rtl="0">
              <a:lnSpc>
                <a:spcPct val="100000"/>
              </a:lnSpc>
              <a:spcBef>
                <a:spcPts val="0"/>
              </a:spcBef>
              <a:spcAft>
                <a:spcPts val="0"/>
              </a:spcAft>
              <a:buSzPts val="1200"/>
              <a:buChar char="-"/>
            </a:pPr>
            <a:r>
              <a:rPr lang="en" sz="1200"/>
              <a:t>redundant compute infrastructure</a:t>
            </a:r>
            <a:endParaRPr sz="1200"/>
          </a:p>
          <a:p>
            <a:pPr marL="457200" lvl="0" indent="-304800" algn="l" rtl="0">
              <a:lnSpc>
                <a:spcPct val="100000"/>
              </a:lnSpc>
              <a:spcBef>
                <a:spcPts val="0"/>
              </a:spcBef>
              <a:spcAft>
                <a:spcPts val="0"/>
              </a:spcAft>
              <a:buSzPts val="1200"/>
              <a:buChar char="-"/>
            </a:pPr>
            <a:r>
              <a:rPr lang="en" sz="1200"/>
              <a:t>security of protected data</a:t>
            </a:r>
            <a:endParaRPr sz="1200"/>
          </a:p>
          <a:p>
            <a:pPr marL="0" lvl="0" indent="0" algn="l" rtl="0">
              <a:lnSpc>
                <a:spcPct val="100000"/>
              </a:lnSpc>
              <a:spcBef>
                <a:spcPts val="0"/>
              </a:spcBef>
              <a:spcAft>
                <a:spcPts val="0"/>
              </a:spcAft>
              <a:buNone/>
            </a:pPr>
            <a:endParaRPr sz="1400" b="1" i="1" u="sng"/>
          </a:p>
          <a:p>
            <a:pPr marL="0" lvl="0" indent="0" algn="l" rtl="0">
              <a:lnSpc>
                <a:spcPct val="100000"/>
              </a:lnSpc>
              <a:spcBef>
                <a:spcPts val="0"/>
              </a:spcBef>
              <a:spcAft>
                <a:spcPts val="0"/>
              </a:spcAft>
              <a:buNone/>
            </a:pPr>
            <a:r>
              <a:rPr lang="en" sz="1400" b="1" i="1" u="sng"/>
              <a:t>Solutions</a:t>
            </a:r>
            <a:endParaRPr sz="1400"/>
          </a:p>
          <a:p>
            <a:pPr marL="0" lvl="0" indent="0" algn="l" rtl="0">
              <a:lnSpc>
                <a:spcPct val="100000"/>
              </a:lnSpc>
              <a:spcBef>
                <a:spcPts val="0"/>
              </a:spcBef>
              <a:spcAft>
                <a:spcPts val="0"/>
              </a:spcAft>
              <a:buNone/>
            </a:pPr>
            <a:r>
              <a:rPr lang="en" sz="1400"/>
              <a:t>AnVIL provides a unified environment for data management and compute</a:t>
            </a:r>
            <a:endParaRPr sz="1400"/>
          </a:p>
          <a:p>
            <a:pPr marL="457200" lvl="0" indent="-304800" algn="l" rtl="0">
              <a:lnSpc>
                <a:spcPct val="100000"/>
              </a:lnSpc>
              <a:spcBef>
                <a:spcPts val="0"/>
              </a:spcBef>
              <a:spcAft>
                <a:spcPts val="0"/>
              </a:spcAft>
              <a:buSzPts val="1200"/>
              <a:buChar char="-"/>
            </a:pPr>
            <a:r>
              <a:rPr lang="en" sz="1200"/>
              <a:t>no need for data movement</a:t>
            </a:r>
            <a:endParaRPr sz="1200"/>
          </a:p>
          <a:p>
            <a:pPr marL="457200" lvl="0" indent="-304800" algn="l" rtl="0">
              <a:lnSpc>
                <a:spcPct val="100000"/>
              </a:lnSpc>
              <a:spcBef>
                <a:spcPts val="0"/>
              </a:spcBef>
              <a:spcAft>
                <a:spcPts val="0"/>
              </a:spcAft>
              <a:buSzPts val="1200"/>
              <a:buChar char="-"/>
            </a:pPr>
            <a:r>
              <a:rPr lang="en" sz="1200"/>
              <a:t>better security handling</a:t>
            </a:r>
            <a:endParaRPr sz="1200"/>
          </a:p>
          <a:p>
            <a:pPr marL="457200" lvl="0" indent="-304800" algn="l" rtl="0">
              <a:lnSpc>
                <a:spcPct val="100000"/>
              </a:lnSpc>
              <a:spcBef>
                <a:spcPts val="0"/>
              </a:spcBef>
              <a:spcAft>
                <a:spcPts val="0"/>
              </a:spcAft>
              <a:buSzPts val="1200"/>
              <a:buChar char="-"/>
            </a:pPr>
            <a:r>
              <a:rPr lang="en" sz="1200"/>
              <a:t>provide elastic, shared computing resources</a:t>
            </a:r>
            <a:endParaRPr sz="1200"/>
          </a:p>
        </p:txBody>
      </p:sp>
      <p:pic>
        <p:nvPicPr>
          <p:cNvPr id="101" name="Google Shape;101;p15"/>
          <p:cNvPicPr preferRelativeResize="0"/>
          <p:nvPr/>
        </p:nvPicPr>
        <p:blipFill rotWithShape="1">
          <a:blip r:embed="rId3">
            <a:alphaModFix/>
          </a:blip>
          <a:srcRect l="12204" t="7933" r="14449" b="8293"/>
          <a:stretch/>
        </p:blipFill>
        <p:spPr>
          <a:xfrm>
            <a:off x="4889125" y="1398875"/>
            <a:ext cx="3714576" cy="2386350"/>
          </a:xfrm>
          <a:prstGeom prst="rect">
            <a:avLst/>
          </a:prstGeom>
          <a:noFill/>
          <a:ln>
            <a:noFill/>
          </a:ln>
        </p:spPr>
      </p:pic>
      <p:sp>
        <p:nvSpPr>
          <p:cNvPr id="102" name="Google Shape;102;p15"/>
          <p:cNvSpPr txBox="1"/>
          <p:nvPr/>
        </p:nvSpPr>
        <p:spPr>
          <a:xfrm>
            <a:off x="-8692" y="4881892"/>
            <a:ext cx="4238400" cy="25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b="1" dirty="0">
                <a:solidFill>
                  <a:srgbClr val="FFFFFF"/>
                </a:solidFill>
                <a:latin typeface="Roboto"/>
                <a:ea typeface="Roboto"/>
                <a:cs typeface="Roboto"/>
                <a:sym typeface="Roboto"/>
              </a:rPr>
              <a:t>https://</a:t>
            </a:r>
            <a:r>
              <a:rPr lang="en" sz="800" b="1" dirty="0" err="1">
                <a:solidFill>
                  <a:srgbClr val="FFFFFF"/>
                </a:solidFill>
                <a:latin typeface="Roboto"/>
                <a:ea typeface="Roboto"/>
                <a:cs typeface="Roboto"/>
                <a:sym typeface="Roboto"/>
              </a:rPr>
              <a:t>anvilproject.org</a:t>
            </a:r>
            <a:r>
              <a:rPr lang="en" sz="800" b="1" dirty="0">
                <a:solidFill>
                  <a:srgbClr val="FFFFFF"/>
                </a:solidFill>
                <a:latin typeface="Roboto"/>
                <a:ea typeface="Roboto"/>
                <a:cs typeface="Roboto"/>
                <a:sym typeface="Roboto"/>
              </a:rPr>
              <a:t>/overview</a:t>
            </a:r>
            <a:endParaRPr sz="800" b="1" dirty="0">
              <a:solidFill>
                <a:srgbClr val="FFFFFF"/>
              </a:solidFill>
              <a:latin typeface="Roboto"/>
              <a:ea typeface="Roboto"/>
              <a:cs typeface="Roboto"/>
              <a:sym typeface="Roboto"/>
            </a:endParaRPr>
          </a:p>
        </p:txBody>
      </p:sp>
      <p:sp>
        <p:nvSpPr>
          <p:cNvPr id="103" name="Google Shape;103;p15"/>
          <p:cNvSpPr txBox="1"/>
          <p:nvPr/>
        </p:nvSpPr>
        <p:spPr>
          <a:xfrm>
            <a:off x="6164250" y="1167900"/>
            <a:ext cx="1087200" cy="29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i="1">
                <a:solidFill>
                  <a:schemeClr val="accent4"/>
                </a:solidFill>
                <a:latin typeface="Roboto"/>
                <a:ea typeface="Roboto"/>
                <a:cs typeface="Roboto"/>
                <a:sym typeface="Roboto"/>
              </a:rPr>
              <a:t>Compute</a:t>
            </a:r>
            <a:endParaRPr sz="1200" b="1" i="1">
              <a:solidFill>
                <a:schemeClr val="accent4"/>
              </a:solidFill>
              <a:latin typeface="Roboto"/>
              <a:ea typeface="Roboto"/>
              <a:cs typeface="Roboto"/>
              <a:sym typeface="Roboto"/>
            </a:endParaRPr>
          </a:p>
        </p:txBody>
      </p:sp>
      <p:pic>
        <p:nvPicPr>
          <p:cNvPr id="104" name="Google Shape;104;p15"/>
          <p:cNvPicPr preferRelativeResize="0"/>
          <p:nvPr/>
        </p:nvPicPr>
        <p:blipFill>
          <a:blip r:embed="rId4">
            <a:alphaModFix/>
          </a:blip>
          <a:stretch>
            <a:fillRect/>
          </a:stretch>
        </p:blipFill>
        <p:spPr>
          <a:xfrm>
            <a:off x="423075" y="391026"/>
            <a:ext cx="1739350" cy="507926"/>
          </a:xfrm>
          <a:prstGeom prst="rect">
            <a:avLst/>
          </a:prstGeom>
          <a:noFill/>
          <a:ln>
            <a:noFill/>
          </a:ln>
        </p:spPr>
      </p:pic>
      <p:sp>
        <p:nvSpPr>
          <p:cNvPr id="105" name="Google Shape;105;p15"/>
          <p:cNvSpPr txBox="1"/>
          <p:nvPr/>
        </p:nvSpPr>
        <p:spPr>
          <a:xfrm>
            <a:off x="7434050" y="1525025"/>
            <a:ext cx="1087200" cy="29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i="1">
                <a:solidFill>
                  <a:schemeClr val="accent4"/>
                </a:solidFill>
                <a:latin typeface="Roboto"/>
                <a:ea typeface="Roboto"/>
                <a:cs typeface="Roboto"/>
                <a:sym typeface="Roboto"/>
              </a:rPr>
              <a:t>Workflow</a:t>
            </a:r>
            <a:endParaRPr sz="1200" b="1" i="1">
              <a:solidFill>
                <a:schemeClr val="accent4"/>
              </a:solidFill>
              <a:latin typeface="Roboto"/>
              <a:ea typeface="Roboto"/>
              <a:cs typeface="Roboto"/>
              <a:sym typeface="Roboto"/>
            </a:endParaRPr>
          </a:p>
        </p:txBody>
      </p:sp>
      <p:sp>
        <p:nvSpPr>
          <p:cNvPr id="106" name="Google Shape;106;p15"/>
          <p:cNvSpPr txBox="1"/>
          <p:nvPr/>
        </p:nvSpPr>
        <p:spPr>
          <a:xfrm>
            <a:off x="4889125" y="1525025"/>
            <a:ext cx="1087200" cy="29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i="1">
                <a:solidFill>
                  <a:schemeClr val="accent4"/>
                </a:solidFill>
                <a:latin typeface="Roboto"/>
                <a:ea typeface="Roboto"/>
                <a:cs typeface="Roboto"/>
                <a:sym typeface="Roboto"/>
              </a:rPr>
              <a:t>Data</a:t>
            </a:r>
            <a:endParaRPr sz="1200" b="1" i="1">
              <a:solidFill>
                <a:schemeClr val="accent4"/>
              </a:solidFill>
              <a:latin typeface="Roboto"/>
              <a:ea typeface="Roboto"/>
              <a:cs typeface="Roboto"/>
              <a:sym typeface="Roboto"/>
            </a:endParaRPr>
          </a:p>
        </p:txBody>
      </p:sp>
      <p:sp>
        <p:nvSpPr>
          <p:cNvPr id="107" name="Google Shape;107;p15"/>
          <p:cNvSpPr txBox="1"/>
          <p:nvPr/>
        </p:nvSpPr>
        <p:spPr>
          <a:xfrm>
            <a:off x="4866608" y="3755846"/>
            <a:ext cx="1739400" cy="29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i="1">
                <a:solidFill>
                  <a:schemeClr val="accent4"/>
                </a:solidFill>
                <a:latin typeface="Roboto"/>
                <a:ea typeface="Roboto"/>
                <a:cs typeface="Roboto"/>
                <a:sym typeface="Roboto"/>
              </a:rPr>
              <a:t>Interactive analysis</a:t>
            </a:r>
            <a:endParaRPr sz="1200" b="1" i="1">
              <a:solidFill>
                <a:schemeClr val="accent4"/>
              </a:solidFill>
              <a:latin typeface="Roboto"/>
              <a:ea typeface="Roboto"/>
              <a:cs typeface="Roboto"/>
              <a:sym typeface="Roboto"/>
            </a:endParaRPr>
          </a:p>
        </p:txBody>
      </p:sp>
      <p:sp>
        <p:nvSpPr>
          <p:cNvPr id="108" name="Google Shape;108;p15"/>
          <p:cNvSpPr/>
          <p:nvPr/>
        </p:nvSpPr>
        <p:spPr>
          <a:xfrm>
            <a:off x="4839925" y="2684501"/>
            <a:ext cx="3795900" cy="1104300"/>
          </a:xfrm>
          <a:prstGeom prst="roundRect">
            <a:avLst>
              <a:gd name="adj" fmla="val 16667"/>
            </a:avLst>
          </a:prstGeom>
          <a:no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
        <p:nvSpPr>
          <p:cNvPr id="2" name="TextBox 1">
            <a:extLst>
              <a:ext uri="{FF2B5EF4-FFF2-40B4-BE49-F238E27FC236}">
                <a16:creationId xmlns:a16="http://schemas.microsoft.com/office/drawing/2014/main" id="{068E6F2F-CCFA-CA8E-9F13-39461837D772}"/>
              </a:ext>
            </a:extLst>
          </p:cNvPr>
          <p:cNvSpPr txBox="1"/>
          <p:nvPr/>
        </p:nvSpPr>
        <p:spPr>
          <a:xfrm>
            <a:off x="846329" y="4497266"/>
            <a:ext cx="7151317" cy="461665"/>
          </a:xfrm>
          <a:prstGeom prst="rect">
            <a:avLst/>
          </a:prstGeom>
          <a:noFill/>
        </p:spPr>
        <p:txBody>
          <a:bodyPr wrap="none" rtlCol="0">
            <a:spAutoFit/>
          </a:bodyPr>
          <a:lstStyle/>
          <a:p>
            <a:r>
              <a:rPr lang="en-US" b="1" dirty="0">
                <a:hlinkClick r:id="rId5"/>
              </a:rPr>
              <a:t>https://anvilproject.org</a:t>
            </a:r>
            <a:r>
              <a:rPr lang="en-US" b="1" dirty="0"/>
              <a:t>  //  </a:t>
            </a:r>
            <a:r>
              <a:rPr lang="en-US" b="1" dirty="0">
                <a:hlinkClick r:id="rId6"/>
              </a:rPr>
              <a:t>https://anvil.terra.bio</a:t>
            </a:r>
            <a:r>
              <a:rPr lang="en-US" b="1"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311700" y="410000"/>
            <a:ext cx="4260300" cy="607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500" b="1"/>
              <a:t>Workspace in AnVIL</a:t>
            </a:r>
            <a:endParaRPr sz="2500" b="1"/>
          </a:p>
        </p:txBody>
      </p:sp>
      <p:sp>
        <p:nvSpPr>
          <p:cNvPr id="115" name="Google Shape;115;p16"/>
          <p:cNvSpPr txBox="1">
            <a:spLocks noGrp="1"/>
          </p:cNvSpPr>
          <p:nvPr>
            <p:ph type="body" idx="1"/>
          </p:nvPr>
        </p:nvSpPr>
        <p:spPr>
          <a:xfrm>
            <a:off x="311700" y="1064475"/>
            <a:ext cx="4260300" cy="6078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n" sz="1400" b="1">
                <a:solidFill>
                  <a:srgbClr val="2C3E50"/>
                </a:solidFill>
                <a:highlight>
                  <a:schemeClr val="lt1"/>
                </a:highlight>
              </a:rPr>
              <a:t>Workspace</a:t>
            </a:r>
            <a:r>
              <a:rPr lang="en" sz="1400">
                <a:solidFill>
                  <a:srgbClr val="2C3E50"/>
                </a:solidFill>
                <a:highlight>
                  <a:schemeClr val="lt1"/>
                </a:highlight>
              </a:rPr>
              <a:t> is the main building block of AnVIL</a:t>
            </a:r>
            <a:endParaRPr sz="1400">
              <a:solidFill>
                <a:srgbClr val="2C3E50"/>
              </a:solidFill>
              <a:highlight>
                <a:srgbClr val="FFFFFF"/>
              </a:highlight>
            </a:endParaRPr>
          </a:p>
        </p:txBody>
      </p:sp>
      <p:sp>
        <p:nvSpPr>
          <p:cNvPr id="116" name="Google Shape;116;p1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grpSp>
        <p:nvGrpSpPr>
          <p:cNvPr id="117" name="Google Shape;117;p16"/>
          <p:cNvGrpSpPr/>
          <p:nvPr/>
        </p:nvGrpSpPr>
        <p:grpSpPr>
          <a:xfrm>
            <a:off x="4673783" y="2200440"/>
            <a:ext cx="3986799" cy="1111650"/>
            <a:chOff x="4845494" y="1668675"/>
            <a:chExt cx="3986799" cy="1111650"/>
          </a:xfrm>
        </p:grpSpPr>
        <p:pic>
          <p:nvPicPr>
            <p:cNvPr id="118" name="Google Shape;118;p16"/>
            <p:cNvPicPr preferRelativeResize="0"/>
            <p:nvPr/>
          </p:nvPicPr>
          <p:blipFill>
            <a:blip r:embed="rId3">
              <a:alphaModFix/>
            </a:blip>
            <a:stretch>
              <a:fillRect/>
            </a:stretch>
          </p:blipFill>
          <p:spPr>
            <a:xfrm>
              <a:off x="4845494" y="1668675"/>
              <a:ext cx="3986799" cy="1111650"/>
            </a:xfrm>
            <a:prstGeom prst="rect">
              <a:avLst/>
            </a:prstGeom>
            <a:noFill/>
            <a:ln>
              <a:noFill/>
            </a:ln>
            <a:effectLst>
              <a:outerShdw blurRad="57150" dist="19050" dir="5400000" algn="bl" rotWithShape="0">
                <a:srgbClr val="000000">
                  <a:alpha val="50000"/>
                </a:srgbClr>
              </a:outerShdw>
            </a:effectLst>
          </p:spPr>
        </p:pic>
        <p:sp>
          <p:nvSpPr>
            <p:cNvPr id="119" name="Google Shape;119;p16"/>
            <p:cNvSpPr/>
            <p:nvPr/>
          </p:nvSpPr>
          <p:spPr>
            <a:xfrm>
              <a:off x="5535250" y="1911438"/>
              <a:ext cx="1868700" cy="3498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0" name="Google Shape;120;p16"/>
          <p:cNvPicPr preferRelativeResize="0"/>
          <p:nvPr/>
        </p:nvPicPr>
        <p:blipFill rotWithShape="1">
          <a:blip r:embed="rId4">
            <a:alphaModFix/>
          </a:blip>
          <a:srcRect l="2610" t="58540"/>
          <a:stretch/>
        </p:blipFill>
        <p:spPr>
          <a:xfrm>
            <a:off x="373867" y="1957215"/>
            <a:ext cx="3986800" cy="2080194"/>
          </a:xfrm>
          <a:prstGeom prst="rect">
            <a:avLst/>
          </a:prstGeom>
          <a:noFill/>
          <a:ln>
            <a:noFill/>
          </a:ln>
          <a:effectLst>
            <a:outerShdw blurRad="57150" dist="19050" dir="5400000" algn="bl" rotWithShape="0">
              <a:srgbClr val="000000">
                <a:alpha val="50000"/>
              </a:srgbClr>
            </a:outerShdw>
          </a:effectLst>
        </p:spPr>
      </p:pic>
      <p:sp>
        <p:nvSpPr>
          <p:cNvPr id="121" name="Google Shape;121;p16"/>
          <p:cNvSpPr txBox="1"/>
          <p:nvPr/>
        </p:nvSpPr>
        <p:spPr>
          <a:xfrm>
            <a:off x="373867" y="1633215"/>
            <a:ext cx="38259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i="1">
                <a:latin typeface="Roboto"/>
                <a:ea typeface="Roboto"/>
                <a:cs typeface="Roboto"/>
                <a:sym typeface="Roboto"/>
              </a:rPr>
              <a:t>Example list of available workspaces</a:t>
            </a:r>
            <a:endParaRPr sz="1200" i="1">
              <a:latin typeface="Roboto"/>
              <a:ea typeface="Roboto"/>
              <a:cs typeface="Roboto"/>
              <a:sym typeface="Roboto"/>
            </a:endParaRPr>
          </a:p>
        </p:txBody>
      </p:sp>
      <p:sp>
        <p:nvSpPr>
          <p:cNvPr id="122" name="Google Shape;122;p16"/>
          <p:cNvSpPr txBox="1">
            <a:spLocks noGrp="1"/>
          </p:cNvSpPr>
          <p:nvPr>
            <p:ph type="title"/>
          </p:nvPr>
        </p:nvSpPr>
        <p:spPr>
          <a:xfrm>
            <a:off x="4572000" y="410000"/>
            <a:ext cx="42603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800" b="1"/>
              <a:t>Workflow in Workspace</a:t>
            </a:r>
            <a:endParaRPr sz="2800" b="1"/>
          </a:p>
        </p:txBody>
      </p:sp>
      <p:sp>
        <p:nvSpPr>
          <p:cNvPr id="123" name="Google Shape;123;p16"/>
          <p:cNvSpPr txBox="1">
            <a:spLocks noGrp="1"/>
          </p:cNvSpPr>
          <p:nvPr>
            <p:ph type="body" idx="1"/>
          </p:nvPr>
        </p:nvSpPr>
        <p:spPr>
          <a:xfrm>
            <a:off x="4572000" y="1056250"/>
            <a:ext cx="4039800" cy="11115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000"/>
              </a:spcAft>
              <a:buNone/>
            </a:pPr>
            <a:r>
              <a:rPr lang="en" sz="1400" b="1"/>
              <a:t>Workflows</a:t>
            </a:r>
            <a:r>
              <a:rPr lang="en" sz="1400"/>
              <a:t> are a series of steps performed by an external compute engine - often used for automated, bulk analysis, such as aligning genomic reads.</a:t>
            </a:r>
            <a:endParaRPr/>
          </a:p>
        </p:txBody>
      </p:sp>
      <p:sp>
        <p:nvSpPr>
          <p:cNvPr id="2" name="TextBox 1">
            <a:extLst>
              <a:ext uri="{FF2B5EF4-FFF2-40B4-BE49-F238E27FC236}">
                <a16:creationId xmlns:a16="http://schemas.microsoft.com/office/drawing/2014/main" id="{E1CAC919-3154-DF84-56AE-EC9B61A64E36}"/>
              </a:ext>
            </a:extLst>
          </p:cNvPr>
          <p:cNvSpPr txBox="1"/>
          <p:nvPr/>
        </p:nvSpPr>
        <p:spPr>
          <a:xfrm>
            <a:off x="846329" y="4497266"/>
            <a:ext cx="7151317" cy="461665"/>
          </a:xfrm>
          <a:prstGeom prst="rect">
            <a:avLst/>
          </a:prstGeom>
          <a:noFill/>
        </p:spPr>
        <p:txBody>
          <a:bodyPr wrap="none" rtlCol="0">
            <a:spAutoFit/>
          </a:bodyPr>
          <a:lstStyle/>
          <a:p>
            <a:r>
              <a:rPr lang="en-US" b="1" dirty="0">
                <a:hlinkClick r:id="rId5"/>
              </a:rPr>
              <a:t>https://anvilproject.org</a:t>
            </a:r>
            <a:r>
              <a:rPr lang="en-US" b="1" dirty="0"/>
              <a:t>  //  </a:t>
            </a:r>
            <a:r>
              <a:rPr lang="en-US" b="1" dirty="0">
                <a:hlinkClick r:id="rId6"/>
              </a:rPr>
              <a:t>https://anvil.terra.bio</a:t>
            </a:r>
            <a:r>
              <a:rPr lang="en-US" b="1"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7"/>
          <p:cNvSpPr txBox="1">
            <a:spLocks noGrp="1"/>
          </p:cNvSpPr>
          <p:nvPr>
            <p:ph type="title"/>
          </p:nvPr>
        </p:nvSpPr>
        <p:spPr>
          <a:xfrm>
            <a:off x="457200" y="205979"/>
            <a:ext cx="8229600" cy="857250"/>
          </a:xfrm>
        </p:spPr>
        <p:txBody>
          <a:bodyPr spcFirstLastPara="1" lIns="91425" tIns="91425" rIns="91425" bIns="91425" anchor="ctr" anchorCtr="0">
            <a:normAutofit fontScale="90000"/>
          </a:bodyPr>
          <a:lstStyle/>
          <a:p>
            <a:pPr marL="0" lvl="0" indent="0" rtl="0">
              <a:spcBef>
                <a:spcPts val="0"/>
              </a:spcBef>
              <a:spcAft>
                <a:spcPts val="0"/>
              </a:spcAft>
              <a:buNone/>
            </a:pPr>
            <a:r>
              <a:rPr lang="en" b="1" dirty="0" err="1"/>
              <a:t>AnVILWorkflow</a:t>
            </a:r>
            <a:r>
              <a:rPr lang="en" b="1" dirty="0"/>
              <a:t> Bioconductor package</a:t>
            </a:r>
            <a:endParaRPr lang="en-US" b="1" dirty="0"/>
          </a:p>
        </p:txBody>
      </p:sp>
      <p:sp>
        <p:nvSpPr>
          <p:cNvPr id="129" name="Google Shape;129;p17"/>
          <p:cNvSpPr txBox="1">
            <a:spLocks noGrp="1"/>
          </p:cNvSpPr>
          <p:nvPr>
            <p:ph idx="1"/>
          </p:nvPr>
        </p:nvSpPr>
        <p:spPr>
          <a:xfrm>
            <a:off x="185351" y="1200152"/>
            <a:ext cx="8501449" cy="2593372"/>
          </a:xfrm>
        </p:spPr>
        <p:txBody>
          <a:bodyPr spcFirstLastPara="1" lIns="91425" tIns="91425" rIns="91425" bIns="91425" anchorCtr="0">
            <a:normAutofit/>
          </a:bodyPr>
          <a:lstStyle/>
          <a:p>
            <a:pPr marL="1041400" indent="-457200">
              <a:spcBef>
                <a:spcPts val="0"/>
              </a:spcBef>
              <a:spcAft>
                <a:spcPts val="600"/>
              </a:spcAft>
              <a:buSzPts val="1600"/>
            </a:pPr>
            <a:r>
              <a:rPr lang="en-US" sz="2400" dirty="0"/>
              <a:t>Run </a:t>
            </a:r>
            <a:r>
              <a:rPr lang="en-US" sz="2400" dirty="0" err="1"/>
              <a:t>AnVIL</a:t>
            </a:r>
            <a:r>
              <a:rPr lang="en-US" sz="2400" dirty="0"/>
              <a:t>-implemented workflows from a local R session</a:t>
            </a:r>
          </a:p>
          <a:p>
            <a:pPr marL="1041400" indent="-457200">
              <a:spcBef>
                <a:spcPts val="0"/>
              </a:spcBef>
              <a:spcAft>
                <a:spcPts val="600"/>
              </a:spcAft>
              <a:buSzPts val="1600"/>
            </a:pPr>
            <a:r>
              <a:rPr lang="en-US" sz="2400" dirty="0"/>
              <a:t>Interpretable and actionable function calls and error messaging</a:t>
            </a:r>
          </a:p>
          <a:p>
            <a:pPr marL="1041400" indent="-457200">
              <a:spcBef>
                <a:spcPts val="0"/>
              </a:spcBef>
              <a:spcAft>
                <a:spcPts val="600"/>
              </a:spcAft>
              <a:buSzPts val="1600"/>
            </a:pPr>
            <a:r>
              <a:rPr lang="en-US" sz="2400" dirty="0"/>
              <a:t>Option to incorporate non-R-based tools into </a:t>
            </a:r>
            <a:r>
              <a:rPr lang="en-US" sz="2400" dirty="0" err="1"/>
              <a:t>Rmarkdown</a:t>
            </a:r>
            <a:r>
              <a:rPr lang="en-US" sz="2400" dirty="0"/>
              <a:t> for improved reproducibility</a:t>
            </a:r>
          </a:p>
        </p:txBody>
      </p:sp>
      <p:sp>
        <p:nvSpPr>
          <p:cNvPr id="130" name="Google Shape;130;p17"/>
          <p:cNvSpPr txBox="1">
            <a:spLocks noGrp="1"/>
          </p:cNvSpPr>
          <p:nvPr>
            <p:ph type="sldNum" sz="quarter" idx="12"/>
          </p:nvPr>
        </p:nvSpPr>
        <p:spPr>
          <a:xfrm>
            <a:off x="6553200" y="4767266"/>
            <a:ext cx="2133600" cy="273844"/>
          </a:xfrm>
        </p:spPr>
        <p:txBody>
          <a:bodyPr spcFirstLastPara="1" lIns="91425" tIns="91425" rIns="91425" bIns="91425" anchor="ctr" anchorCtr="0">
            <a:normAutofit fontScale="47500" lnSpcReduction="20000"/>
          </a:bodyPr>
          <a:lstStyle/>
          <a:p>
            <a:pPr marL="0" lvl="0" indent="0" rtl="0">
              <a:lnSpc>
                <a:spcPct val="90000"/>
              </a:lnSpc>
              <a:spcBef>
                <a:spcPts val="0"/>
              </a:spcBef>
              <a:spcAft>
                <a:spcPts val="600"/>
              </a:spcAft>
              <a:buNone/>
            </a:pPr>
            <a:fld id="{00000000-1234-1234-1234-123412341234}" type="slidenum">
              <a:rPr lang="en" sz="300"/>
              <a:pPr marL="0" lvl="0" indent="0" rtl="0">
                <a:lnSpc>
                  <a:spcPct val="90000"/>
                </a:lnSpc>
                <a:spcBef>
                  <a:spcPts val="0"/>
                </a:spcBef>
                <a:spcAft>
                  <a:spcPts val="600"/>
                </a:spcAft>
                <a:buNone/>
              </a:pPr>
              <a:t>22</a:t>
            </a:fld>
            <a:endParaRPr lang="en" sz="300"/>
          </a:p>
        </p:txBody>
      </p:sp>
      <p:sp>
        <p:nvSpPr>
          <p:cNvPr id="3" name="TextBox 2">
            <a:extLst>
              <a:ext uri="{FF2B5EF4-FFF2-40B4-BE49-F238E27FC236}">
                <a16:creationId xmlns:a16="http://schemas.microsoft.com/office/drawing/2014/main" id="{B0E0D8B5-EC9C-2254-7C16-159A7045C4AB}"/>
              </a:ext>
            </a:extLst>
          </p:cNvPr>
          <p:cNvSpPr txBox="1"/>
          <p:nvPr/>
        </p:nvSpPr>
        <p:spPr>
          <a:xfrm>
            <a:off x="2248928" y="4577658"/>
            <a:ext cx="4893277" cy="307777"/>
          </a:xfrm>
          <a:prstGeom prst="rect">
            <a:avLst/>
          </a:prstGeom>
          <a:noFill/>
        </p:spPr>
        <p:txBody>
          <a:bodyPr wrap="square">
            <a:spAutoFit/>
          </a:bodyPr>
          <a:lstStyle/>
          <a:p>
            <a:r>
              <a:rPr lang="en-US" sz="1400" dirty="0">
                <a:hlinkClick r:id="rId3"/>
              </a:rPr>
              <a:t>https://www.bioconductor.org/packages/AnVILWorkflow/</a:t>
            </a:r>
            <a:r>
              <a:rPr lang="en-US" sz="1400" dirty="0"/>
              <a:t> </a:t>
            </a:r>
          </a:p>
        </p:txBody>
      </p:sp>
      <p:pic>
        <p:nvPicPr>
          <p:cNvPr id="4" name="Picture 2" descr="Bioconductor · GitHub">
            <a:extLst>
              <a:ext uri="{FF2B5EF4-FFF2-40B4-BE49-F238E27FC236}">
                <a16:creationId xmlns:a16="http://schemas.microsoft.com/office/drawing/2014/main" id="{78D98F19-29F4-DCA6-22F3-92475587B9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5460" y="4535211"/>
            <a:ext cx="392670" cy="3926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A7DB3-7E71-744D-9CB5-C53CC106E40C}"/>
              </a:ext>
            </a:extLst>
          </p:cNvPr>
          <p:cNvSpPr>
            <a:spLocks noGrp="1"/>
          </p:cNvSpPr>
          <p:nvPr>
            <p:ph type="sldNum" sz="quarter" idx="12"/>
          </p:nvPr>
        </p:nvSpPr>
        <p:spPr/>
        <p:txBody>
          <a:bodyPr/>
          <a:lstStyle/>
          <a:p>
            <a:fld id="{C71C242F-20BE-4F6C-ABA6-9DCC8641EF60}" type="slidenum">
              <a:rPr lang="en-US" smtClean="0"/>
              <a:pPr/>
              <a:t>23</a:t>
            </a:fld>
            <a:endParaRPr lang="en-US" dirty="0"/>
          </a:p>
        </p:txBody>
      </p:sp>
      <p:grpSp>
        <p:nvGrpSpPr>
          <p:cNvPr id="7" name="Group 6">
            <a:extLst>
              <a:ext uri="{FF2B5EF4-FFF2-40B4-BE49-F238E27FC236}">
                <a16:creationId xmlns:a16="http://schemas.microsoft.com/office/drawing/2014/main" id="{5E75EF94-4D3B-7E43-822C-16E794694F97}"/>
              </a:ext>
            </a:extLst>
          </p:cNvPr>
          <p:cNvGrpSpPr/>
          <p:nvPr/>
        </p:nvGrpSpPr>
        <p:grpSpPr>
          <a:xfrm>
            <a:off x="2585742" y="1590161"/>
            <a:ext cx="2096792" cy="1128446"/>
            <a:chOff x="28269" y="5764212"/>
            <a:chExt cx="2096792" cy="1128444"/>
          </a:xfrm>
        </p:grpSpPr>
        <p:pic>
          <p:nvPicPr>
            <p:cNvPr id="8" name="Picture 2" descr="https://waldronlab.io/assets/img/ludwig-geistlinger.jpg">
              <a:extLst>
                <a:ext uri="{FF2B5EF4-FFF2-40B4-BE49-F238E27FC236}">
                  <a16:creationId xmlns:a16="http://schemas.microsoft.com/office/drawing/2014/main" id="{1B178D13-C5B5-B741-9CA1-99435E24B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0" y="5764212"/>
              <a:ext cx="774700" cy="7747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D59A151-FD25-CA48-9060-CB44DAF5B064}"/>
                </a:ext>
              </a:extLst>
            </p:cNvPr>
            <p:cNvSpPr txBox="1"/>
            <p:nvPr/>
          </p:nvSpPr>
          <p:spPr>
            <a:xfrm>
              <a:off x="28269" y="6584880"/>
              <a:ext cx="2096792" cy="307776"/>
            </a:xfrm>
            <a:prstGeom prst="rect">
              <a:avLst/>
            </a:prstGeom>
            <a:noFill/>
          </p:spPr>
          <p:txBody>
            <a:bodyPr wrap="none" rtlCol="0">
              <a:spAutoFit/>
            </a:bodyPr>
            <a:lstStyle/>
            <a:p>
              <a:r>
                <a:rPr lang="en-US" sz="1400" dirty="0"/>
                <a:t>Ludwig </a:t>
              </a:r>
              <a:r>
                <a:rPr lang="en-US" sz="1400" dirty="0" err="1"/>
                <a:t>Geistlinger</a:t>
              </a:r>
              <a:r>
                <a:rPr lang="en-US" sz="1400" dirty="0"/>
                <a:t>, PhD</a:t>
              </a:r>
            </a:p>
          </p:txBody>
        </p:sp>
      </p:grpSp>
      <p:grpSp>
        <p:nvGrpSpPr>
          <p:cNvPr id="10" name="Group 9">
            <a:extLst>
              <a:ext uri="{FF2B5EF4-FFF2-40B4-BE49-F238E27FC236}">
                <a16:creationId xmlns:a16="http://schemas.microsoft.com/office/drawing/2014/main" id="{AA3B53DD-68FC-9F44-82B6-15FA0B63CED9}"/>
              </a:ext>
            </a:extLst>
          </p:cNvPr>
          <p:cNvGrpSpPr/>
          <p:nvPr/>
        </p:nvGrpSpPr>
        <p:grpSpPr>
          <a:xfrm>
            <a:off x="2675554" y="3072806"/>
            <a:ext cx="1928733" cy="1198763"/>
            <a:chOff x="1891656" y="5795168"/>
            <a:chExt cx="1928734" cy="1198765"/>
          </a:xfrm>
        </p:grpSpPr>
        <p:pic>
          <p:nvPicPr>
            <p:cNvPr id="11" name="Picture 4" descr="https://waldronlab.io/assets/img/kelly-eckenrode-color-sq.jpg">
              <a:extLst>
                <a:ext uri="{FF2B5EF4-FFF2-40B4-BE49-F238E27FC236}">
                  <a16:creationId xmlns:a16="http://schemas.microsoft.com/office/drawing/2014/main" id="{6A3D14BA-18B1-0841-AD4F-F918B3AA8D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9200" y="5795168"/>
              <a:ext cx="712788" cy="7127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0E30494-6FB2-3044-A478-9AD5F36DD747}"/>
                </a:ext>
              </a:extLst>
            </p:cNvPr>
            <p:cNvSpPr txBox="1"/>
            <p:nvPr/>
          </p:nvSpPr>
          <p:spPr>
            <a:xfrm>
              <a:off x="1891656" y="6686156"/>
              <a:ext cx="1928734" cy="307777"/>
            </a:xfrm>
            <a:prstGeom prst="rect">
              <a:avLst/>
            </a:prstGeom>
            <a:noFill/>
          </p:spPr>
          <p:txBody>
            <a:bodyPr wrap="none" rtlCol="0">
              <a:spAutoFit/>
            </a:bodyPr>
            <a:lstStyle/>
            <a:p>
              <a:r>
                <a:rPr lang="en-US" sz="1400" dirty="0"/>
                <a:t>Kelly </a:t>
              </a:r>
              <a:r>
                <a:rPr lang="en-US" sz="1400" dirty="0" err="1"/>
                <a:t>Eckenrode</a:t>
              </a:r>
              <a:r>
                <a:rPr lang="en-US" sz="1400" dirty="0"/>
                <a:t>, PhD</a:t>
              </a:r>
            </a:p>
          </p:txBody>
        </p:sp>
      </p:grpSp>
      <p:grpSp>
        <p:nvGrpSpPr>
          <p:cNvPr id="13" name="Group 12">
            <a:extLst>
              <a:ext uri="{FF2B5EF4-FFF2-40B4-BE49-F238E27FC236}">
                <a16:creationId xmlns:a16="http://schemas.microsoft.com/office/drawing/2014/main" id="{1B9E7101-74D4-F844-88A7-2803E96C6E58}"/>
              </a:ext>
            </a:extLst>
          </p:cNvPr>
          <p:cNvGrpSpPr/>
          <p:nvPr/>
        </p:nvGrpSpPr>
        <p:grpSpPr>
          <a:xfrm>
            <a:off x="5116388" y="3077876"/>
            <a:ext cx="1768433" cy="1200972"/>
            <a:chOff x="3925398" y="5806279"/>
            <a:chExt cx="1768434" cy="1200973"/>
          </a:xfrm>
        </p:grpSpPr>
        <p:pic>
          <p:nvPicPr>
            <p:cNvPr id="14" name="Picture 6" descr="https://waldronlab.io/assets/img/chloe-mirzayi.jpg">
              <a:extLst>
                <a:ext uri="{FF2B5EF4-FFF2-40B4-BE49-F238E27FC236}">
                  <a16:creationId xmlns:a16="http://schemas.microsoft.com/office/drawing/2014/main" id="{1E44B979-1F77-9843-9D5B-9A331BAAF4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860" y="5806279"/>
              <a:ext cx="712788" cy="71278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CB3E7E3-1DB6-3240-91FB-0BB6114846E5}"/>
                </a:ext>
              </a:extLst>
            </p:cNvPr>
            <p:cNvSpPr txBox="1"/>
            <p:nvPr/>
          </p:nvSpPr>
          <p:spPr>
            <a:xfrm>
              <a:off x="3925398" y="6699475"/>
              <a:ext cx="1768434" cy="307777"/>
            </a:xfrm>
            <a:prstGeom prst="rect">
              <a:avLst/>
            </a:prstGeom>
            <a:noFill/>
          </p:spPr>
          <p:txBody>
            <a:bodyPr wrap="none" rtlCol="0">
              <a:spAutoFit/>
            </a:bodyPr>
            <a:lstStyle/>
            <a:p>
              <a:r>
                <a:rPr lang="en-US" sz="1400" dirty="0"/>
                <a:t>Chloe </a:t>
              </a:r>
              <a:r>
                <a:rPr lang="en-US" sz="1400" dirty="0" err="1"/>
                <a:t>Mirzayi</a:t>
              </a:r>
              <a:r>
                <a:rPr lang="en-US" sz="1400" dirty="0"/>
                <a:t>, MPH</a:t>
              </a:r>
            </a:p>
          </p:txBody>
        </p:sp>
      </p:grpSp>
      <p:sp>
        <p:nvSpPr>
          <p:cNvPr id="25" name="TextBox 24">
            <a:extLst>
              <a:ext uri="{FF2B5EF4-FFF2-40B4-BE49-F238E27FC236}">
                <a16:creationId xmlns:a16="http://schemas.microsoft.com/office/drawing/2014/main" id="{C7554C4D-36F8-AF4A-B6E8-F564AB476CE6}"/>
              </a:ext>
            </a:extLst>
          </p:cNvPr>
          <p:cNvSpPr txBox="1"/>
          <p:nvPr/>
        </p:nvSpPr>
        <p:spPr>
          <a:xfrm>
            <a:off x="7243869" y="0"/>
            <a:ext cx="1608133" cy="4862870"/>
          </a:xfrm>
          <a:prstGeom prst="rect">
            <a:avLst/>
          </a:prstGeom>
          <a:noFill/>
        </p:spPr>
        <p:txBody>
          <a:bodyPr wrap="none" rtlCol="0">
            <a:spAutoFit/>
          </a:bodyPr>
          <a:lstStyle/>
          <a:p>
            <a:pPr algn="ctr"/>
            <a:r>
              <a:rPr lang="en-US" sz="1000" b="1" u="sng" dirty="0"/>
              <a:t>CUNY Student curators</a:t>
            </a:r>
          </a:p>
          <a:p>
            <a:pPr algn="ctr"/>
            <a:endParaRPr lang="en-US" sz="1000" b="1" u="sng" dirty="0"/>
          </a:p>
          <a:p>
            <a:pPr algn="ctr"/>
            <a:r>
              <a:rPr lang="en-US" sz="1000" dirty="0" err="1"/>
              <a:t>Marianthi</a:t>
            </a:r>
            <a:r>
              <a:rPr lang="en-US" sz="1000" dirty="0"/>
              <a:t> </a:t>
            </a:r>
            <a:r>
              <a:rPr lang="en-US" sz="1000" dirty="0" err="1"/>
              <a:t>Thomatos</a:t>
            </a:r>
            <a:endParaRPr lang="en-US" sz="1000" dirty="0"/>
          </a:p>
          <a:p>
            <a:pPr algn="ctr"/>
            <a:r>
              <a:rPr lang="en-US" sz="1000" dirty="0"/>
              <a:t>Utsav Patel</a:t>
            </a:r>
          </a:p>
          <a:p>
            <a:pPr algn="ctr"/>
            <a:r>
              <a:rPr lang="en-US" sz="1000" dirty="0"/>
              <a:t>Valentina Pineda</a:t>
            </a:r>
          </a:p>
          <a:p>
            <a:pPr algn="ctr"/>
            <a:r>
              <a:rPr lang="en-US" sz="1000" dirty="0"/>
              <a:t>Yaseen </a:t>
            </a:r>
            <a:r>
              <a:rPr lang="en-US" sz="1000" dirty="0" err="1"/>
              <a:t>Javaid</a:t>
            </a:r>
            <a:endParaRPr lang="en-US" sz="1000" dirty="0"/>
          </a:p>
          <a:p>
            <a:pPr algn="ctr"/>
            <a:r>
              <a:rPr lang="en-US" sz="1000" dirty="0"/>
              <a:t>Lora Kasselman</a:t>
            </a:r>
          </a:p>
          <a:p>
            <a:pPr algn="ctr"/>
            <a:r>
              <a:rPr lang="en-US" sz="1000" dirty="0"/>
              <a:t>Philippe </a:t>
            </a:r>
            <a:r>
              <a:rPr lang="en-US" sz="1000" dirty="0" err="1"/>
              <a:t>Lutete</a:t>
            </a:r>
            <a:endParaRPr lang="en-US" sz="1000" dirty="0"/>
          </a:p>
          <a:p>
            <a:pPr algn="ctr"/>
            <a:r>
              <a:rPr lang="en-US" sz="1000" dirty="0" err="1"/>
              <a:t>Aboud</a:t>
            </a:r>
            <a:r>
              <a:rPr lang="en-US" sz="1000" dirty="0"/>
              <a:t> </a:t>
            </a:r>
            <a:r>
              <a:rPr lang="en-US" sz="1000" dirty="0" err="1"/>
              <a:t>Ezzeddine</a:t>
            </a:r>
            <a:endParaRPr lang="en-US" sz="1000" dirty="0"/>
          </a:p>
          <a:p>
            <a:pPr algn="ctr"/>
            <a:r>
              <a:rPr lang="en-US" sz="1000" dirty="0" err="1"/>
              <a:t>Afroza</a:t>
            </a:r>
            <a:r>
              <a:rPr lang="en-US" sz="1000" dirty="0"/>
              <a:t> Parvin</a:t>
            </a:r>
          </a:p>
          <a:p>
            <a:pPr algn="ctr"/>
            <a:r>
              <a:rPr lang="en-US" sz="1000" dirty="0"/>
              <a:t>Victoria </a:t>
            </a:r>
            <a:r>
              <a:rPr lang="en-US" sz="1000" dirty="0" err="1"/>
              <a:t>Goulbourne</a:t>
            </a:r>
            <a:endParaRPr lang="en-US" sz="1000" dirty="0"/>
          </a:p>
          <a:p>
            <a:pPr algn="ctr"/>
            <a:r>
              <a:rPr lang="en-US" sz="1000" dirty="0"/>
              <a:t>William Lam</a:t>
            </a:r>
          </a:p>
          <a:p>
            <a:pPr algn="ctr"/>
            <a:r>
              <a:rPr lang="en-US" sz="1000" dirty="0" err="1"/>
              <a:t>Zyaijah</a:t>
            </a:r>
            <a:r>
              <a:rPr lang="en-US" sz="1000" dirty="0"/>
              <a:t> Bailey</a:t>
            </a:r>
          </a:p>
          <a:p>
            <a:pPr algn="ctr"/>
            <a:r>
              <a:rPr lang="en-US" sz="1000" dirty="0"/>
              <a:t>Lucy Mellor</a:t>
            </a:r>
          </a:p>
          <a:p>
            <a:pPr algn="ctr"/>
            <a:r>
              <a:rPr lang="en-US" sz="1000" dirty="0" err="1"/>
              <a:t>Mst</a:t>
            </a:r>
            <a:r>
              <a:rPr lang="en-US" sz="1000" dirty="0"/>
              <a:t> </a:t>
            </a:r>
            <a:r>
              <a:rPr lang="en-US" sz="1000" dirty="0" err="1"/>
              <a:t>Afroza</a:t>
            </a:r>
            <a:r>
              <a:rPr lang="en-US" sz="1000" dirty="0"/>
              <a:t> Parvin</a:t>
            </a:r>
          </a:p>
          <a:p>
            <a:pPr algn="ctr"/>
            <a:r>
              <a:rPr lang="en-US" sz="1000" dirty="0"/>
              <a:t>William Lam</a:t>
            </a:r>
          </a:p>
          <a:p>
            <a:pPr algn="ctr"/>
            <a:r>
              <a:rPr lang="en-US" sz="1000" dirty="0"/>
              <a:t>Cynthia Anderson</a:t>
            </a:r>
          </a:p>
          <a:p>
            <a:pPr algn="ctr"/>
            <a:r>
              <a:rPr lang="en-US" sz="1000" dirty="0"/>
              <a:t>Phyu Han</a:t>
            </a:r>
          </a:p>
          <a:p>
            <a:pPr algn="ctr"/>
            <a:r>
              <a:rPr lang="en-US" sz="1000" dirty="0"/>
              <a:t>Nadine </a:t>
            </a:r>
            <a:r>
              <a:rPr lang="en-US" sz="1000" dirty="0" err="1"/>
              <a:t>Ulysse</a:t>
            </a:r>
            <a:endParaRPr lang="en-US" sz="1000" dirty="0"/>
          </a:p>
          <a:p>
            <a:pPr algn="ctr"/>
            <a:r>
              <a:rPr lang="en-US" sz="1000" dirty="0" err="1"/>
              <a:t>Tahiya</a:t>
            </a:r>
            <a:r>
              <a:rPr lang="en-US" sz="1000" dirty="0"/>
              <a:t> Begum</a:t>
            </a:r>
          </a:p>
          <a:p>
            <a:pPr algn="ctr"/>
            <a:r>
              <a:rPr lang="en-US" sz="1000" dirty="0"/>
              <a:t>Christina Brown</a:t>
            </a:r>
          </a:p>
          <a:p>
            <a:pPr algn="ctr"/>
            <a:r>
              <a:rPr lang="en-US" sz="1000" dirty="0" err="1"/>
              <a:t>Aboud</a:t>
            </a:r>
            <a:r>
              <a:rPr lang="en-US" sz="1000" dirty="0"/>
              <a:t> </a:t>
            </a:r>
            <a:r>
              <a:rPr lang="en-US" sz="1000" dirty="0" err="1"/>
              <a:t>Eby</a:t>
            </a:r>
            <a:endParaRPr lang="en-US" sz="1000" dirty="0"/>
          </a:p>
          <a:p>
            <a:pPr algn="ctr"/>
            <a:r>
              <a:rPr lang="en-US" sz="1000" dirty="0"/>
              <a:t>Yu Wang</a:t>
            </a:r>
          </a:p>
          <a:p>
            <a:pPr algn="ctr"/>
            <a:r>
              <a:rPr lang="en-US" sz="1000" dirty="0" err="1"/>
              <a:t>Joyessa</a:t>
            </a:r>
            <a:r>
              <a:rPr lang="en-US" sz="1000" dirty="0"/>
              <a:t> Dey</a:t>
            </a:r>
          </a:p>
          <a:p>
            <a:pPr algn="ctr"/>
            <a:r>
              <a:rPr lang="en-US" sz="1000" dirty="0"/>
              <a:t>Frans Cuevas</a:t>
            </a:r>
          </a:p>
          <a:p>
            <a:pPr algn="ctr"/>
            <a:r>
              <a:rPr lang="en-US" sz="1000" dirty="0"/>
              <a:t>Martha Marin</a:t>
            </a:r>
          </a:p>
          <a:p>
            <a:pPr algn="ctr"/>
            <a:r>
              <a:rPr lang="en-US" sz="1000" dirty="0"/>
              <a:t>Clare Grieve</a:t>
            </a:r>
          </a:p>
          <a:p>
            <a:pPr algn="ctr"/>
            <a:r>
              <a:rPr lang="en-US" sz="1000" dirty="0"/>
              <a:t>Kweku </a:t>
            </a:r>
            <a:r>
              <a:rPr lang="en-US" sz="1000" dirty="0" err="1"/>
              <a:t>Amoo</a:t>
            </a:r>
            <a:endParaRPr lang="en-US" sz="1000" dirty="0"/>
          </a:p>
          <a:p>
            <a:pPr algn="ctr"/>
            <a:r>
              <a:rPr lang="en-US" sz="1000" dirty="0"/>
              <a:t>Samara Khan</a:t>
            </a:r>
          </a:p>
          <a:p>
            <a:pPr algn="ctr"/>
            <a:r>
              <a:rPr lang="en-US" sz="1000" dirty="0" err="1"/>
              <a:t>Tangirul</a:t>
            </a:r>
            <a:r>
              <a:rPr lang="en-US" sz="1000" dirty="0"/>
              <a:t> Islam</a:t>
            </a:r>
          </a:p>
          <a:p>
            <a:pPr algn="ctr"/>
            <a:r>
              <a:rPr lang="en-US" sz="1000" dirty="0"/>
              <a:t>Mary </a:t>
            </a:r>
            <a:r>
              <a:rPr lang="en-US" sz="1000" dirty="0" err="1"/>
              <a:t>Bearkland</a:t>
            </a:r>
            <a:endParaRPr lang="en-US" sz="1000" dirty="0"/>
          </a:p>
        </p:txBody>
      </p:sp>
      <p:sp>
        <p:nvSpPr>
          <p:cNvPr id="3" name="TextBox 2">
            <a:extLst>
              <a:ext uri="{FF2B5EF4-FFF2-40B4-BE49-F238E27FC236}">
                <a16:creationId xmlns:a16="http://schemas.microsoft.com/office/drawing/2014/main" id="{0F87287F-009F-384D-9C6B-F15C14172068}"/>
              </a:ext>
            </a:extLst>
          </p:cNvPr>
          <p:cNvSpPr txBox="1"/>
          <p:nvPr/>
        </p:nvSpPr>
        <p:spPr>
          <a:xfrm>
            <a:off x="2675554" y="356318"/>
            <a:ext cx="1789272" cy="461665"/>
          </a:xfrm>
          <a:prstGeom prst="rect">
            <a:avLst/>
          </a:prstGeom>
          <a:noFill/>
        </p:spPr>
        <p:txBody>
          <a:bodyPr wrap="none" rtlCol="0">
            <a:spAutoFit/>
          </a:bodyPr>
          <a:lstStyle/>
          <a:p>
            <a:r>
              <a:rPr lang="en-US" dirty="0">
                <a:latin typeface="Montserrat" pitchFamily="2" charset="77"/>
              </a:rPr>
              <a:t>Thank you</a:t>
            </a:r>
          </a:p>
        </p:txBody>
      </p:sp>
      <p:grpSp>
        <p:nvGrpSpPr>
          <p:cNvPr id="2" name="Group 1">
            <a:extLst>
              <a:ext uri="{FF2B5EF4-FFF2-40B4-BE49-F238E27FC236}">
                <a16:creationId xmlns:a16="http://schemas.microsoft.com/office/drawing/2014/main" id="{36A61FA3-86A1-5E26-1872-B888D8B82CF0}"/>
              </a:ext>
            </a:extLst>
          </p:cNvPr>
          <p:cNvGrpSpPr/>
          <p:nvPr/>
        </p:nvGrpSpPr>
        <p:grpSpPr>
          <a:xfrm>
            <a:off x="5014092" y="1590161"/>
            <a:ext cx="1837361" cy="1139151"/>
            <a:chOff x="4986492" y="1364762"/>
            <a:chExt cx="1837361" cy="1139151"/>
          </a:xfrm>
        </p:grpSpPr>
        <p:pic>
          <p:nvPicPr>
            <p:cNvPr id="3074" name="Picture 2">
              <a:extLst>
                <a:ext uri="{FF2B5EF4-FFF2-40B4-BE49-F238E27FC236}">
                  <a16:creationId xmlns:a16="http://schemas.microsoft.com/office/drawing/2014/main" id="{CA41EA83-ECC4-8941-8E80-106416C417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5313" y="1364762"/>
              <a:ext cx="691759" cy="691759"/>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B9AE4D36-F6A4-874E-B0FA-BBEA604E6EE4}"/>
                </a:ext>
              </a:extLst>
            </p:cNvPr>
            <p:cNvSpPr txBox="1"/>
            <p:nvPr/>
          </p:nvSpPr>
          <p:spPr>
            <a:xfrm>
              <a:off x="4986492" y="2196136"/>
              <a:ext cx="1837361" cy="307777"/>
            </a:xfrm>
            <a:prstGeom prst="rect">
              <a:avLst/>
            </a:prstGeom>
            <a:noFill/>
          </p:spPr>
          <p:txBody>
            <a:bodyPr wrap="none" rtlCol="0">
              <a:spAutoFit/>
            </a:bodyPr>
            <a:lstStyle/>
            <a:p>
              <a:pPr algn="ctr"/>
              <a:r>
                <a:rPr lang="en-US" sz="1400" dirty="0"/>
                <a:t>Marcel Ramos, MPH</a:t>
              </a:r>
            </a:p>
          </p:txBody>
        </p:sp>
      </p:grpSp>
      <p:pic>
        <p:nvPicPr>
          <p:cNvPr id="3076" name="Picture 4">
            <a:extLst>
              <a:ext uri="{FF2B5EF4-FFF2-40B4-BE49-F238E27FC236}">
                <a16:creationId xmlns:a16="http://schemas.microsoft.com/office/drawing/2014/main" id="{461D52E9-63EF-F84C-99AF-E159586978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3844" y="3078057"/>
            <a:ext cx="755716" cy="755716"/>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821F7724-EDBB-664E-A325-F3052202A51D}"/>
              </a:ext>
            </a:extLst>
          </p:cNvPr>
          <p:cNvSpPr txBox="1"/>
          <p:nvPr/>
        </p:nvSpPr>
        <p:spPr>
          <a:xfrm>
            <a:off x="301482" y="3971071"/>
            <a:ext cx="1529585" cy="307777"/>
          </a:xfrm>
          <a:prstGeom prst="rect">
            <a:avLst/>
          </a:prstGeom>
          <a:noFill/>
        </p:spPr>
        <p:txBody>
          <a:bodyPr wrap="none" rtlCol="0">
            <a:spAutoFit/>
          </a:bodyPr>
          <a:lstStyle/>
          <a:p>
            <a:pPr algn="ctr"/>
            <a:r>
              <a:rPr lang="en-US" sz="1400" dirty="0" err="1"/>
              <a:t>Sehyun</a:t>
            </a:r>
            <a:r>
              <a:rPr lang="en-US" sz="1400" dirty="0"/>
              <a:t> Oh, PhD</a:t>
            </a:r>
          </a:p>
        </p:txBody>
      </p:sp>
      <p:sp>
        <p:nvSpPr>
          <p:cNvPr id="36" name="TextBox 35">
            <a:extLst>
              <a:ext uri="{FF2B5EF4-FFF2-40B4-BE49-F238E27FC236}">
                <a16:creationId xmlns:a16="http://schemas.microsoft.com/office/drawing/2014/main" id="{2ABCBAF6-DEAB-8751-2601-C72B846A77D2}"/>
              </a:ext>
            </a:extLst>
          </p:cNvPr>
          <p:cNvSpPr txBox="1"/>
          <p:nvPr/>
        </p:nvSpPr>
        <p:spPr>
          <a:xfrm>
            <a:off x="161130" y="2484291"/>
            <a:ext cx="1791901" cy="307777"/>
          </a:xfrm>
          <a:prstGeom prst="rect">
            <a:avLst/>
          </a:prstGeom>
          <a:noFill/>
        </p:spPr>
        <p:txBody>
          <a:bodyPr wrap="none" rtlCol="0">
            <a:spAutoFit/>
          </a:bodyPr>
          <a:lstStyle/>
          <a:p>
            <a:pPr algn="ctr"/>
            <a:r>
              <a:rPr lang="en-US" sz="1400" dirty="0"/>
              <a:t>Jennifer </a:t>
            </a:r>
            <a:r>
              <a:rPr lang="en-US" sz="1400" dirty="0" err="1"/>
              <a:t>Wokaty</a:t>
            </a:r>
            <a:r>
              <a:rPr lang="en-US" sz="1400" dirty="0"/>
              <a:t>, BA</a:t>
            </a:r>
          </a:p>
        </p:txBody>
      </p:sp>
      <p:pic>
        <p:nvPicPr>
          <p:cNvPr id="6146" name="Picture 2" descr="Avatar">
            <a:extLst>
              <a:ext uri="{FF2B5EF4-FFF2-40B4-BE49-F238E27FC236}">
                <a16:creationId xmlns:a16="http://schemas.microsoft.com/office/drawing/2014/main" id="{117F594D-F69B-E734-5723-E594468E75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2285" y="1590161"/>
            <a:ext cx="755714" cy="75571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346F301-13E1-E7FF-4AA7-9FC7134668C9}"/>
              </a:ext>
            </a:extLst>
          </p:cNvPr>
          <p:cNvSpPr txBox="1"/>
          <p:nvPr/>
        </p:nvSpPr>
        <p:spPr>
          <a:xfrm>
            <a:off x="2289343" y="1594966"/>
            <a:ext cx="4576354" cy="461665"/>
          </a:xfrm>
          <a:prstGeom prst="rect">
            <a:avLst/>
          </a:prstGeom>
          <a:noFill/>
        </p:spPr>
        <p:txBody>
          <a:bodyPr wrap="square">
            <a:spAutoFit/>
          </a:bodyPr>
          <a:lstStyle/>
          <a:p>
            <a:r>
              <a:rPr lang="en-US" dirty="0"/>
              <a:t> </a:t>
            </a:r>
          </a:p>
        </p:txBody>
      </p:sp>
    </p:spTree>
    <p:extLst>
      <p:ext uri="{BB962C8B-B14F-4D97-AF65-F5344CB8AC3E}">
        <p14:creationId xmlns:p14="http://schemas.microsoft.com/office/powerpoint/2010/main" val="3978469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3"/>
          <p:cNvSpPr txBox="1">
            <a:spLocks noGrp="1"/>
          </p:cNvSpPr>
          <p:nvPr>
            <p:ph type="title"/>
          </p:nvPr>
        </p:nvSpPr>
        <p:spPr>
          <a:xfrm>
            <a:off x="457200" y="-199239"/>
            <a:ext cx="8229600" cy="1143000"/>
          </a:xfrm>
        </p:spPr>
        <p:txBody>
          <a:bodyPr spcFirstLastPara="1" vert="horz" lIns="91426" tIns="91426" rIns="91426" bIns="91426" rtlCol="0" anchor="ctr" anchorCtr="0">
            <a:normAutofit/>
          </a:bodyPr>
          <a:lstStyle/>
          <a:p>
            <a:pPr>
              <a:lnSpc>
                <a:spcPct val="90000"/>
              </a:lnSpc>
            </a:pPr>
            <a:r>
              <a:rPr lang="en-US" sz="3700" b="1" dirty="0"/>
              <a:t>Feature differentiation between datasets</a:t>
            </a:r>
          </a:p>
        </p:txBody>
      </p:sp>
      <p:sp>
        <p:nvSpPr>
          <p:cNvPr id="223" name="Google Shape;223;p33"/>
          <p:cNvSpPr txBox="1">
            <a:spLocks noGrp="1"/>
          </p:cNvSpPr>
          <p:nvPr>
            <p:ph sz="half" idx="2"/>
          </p:nvPr>
        </p:nvSpPr>
        <p:spPr>
          <a:xfrm>
            <a:off x="457200" y="1317625"/>
            <a:ext cx="4040188" cy="3951288"/>
          </a:xfrm>
        </p:spPr>
        <p:txBody>
          <a:bodyPr spcFirstLastPara="1" vert="horz" lIns="91426" tIns="91426" rIns="91426" bIns="91426" rtlCol="0" anchorCtr="0">
            <a:normAutofit/>
          </a:bodyPr>
          <a:lstStyle/>
          <a:p>
            <a:pPr indent="-304788">
              <a:lnSpc>
                <a:spcPct val="90000"/>
              </a:lnSpc>
              <a:buSzPts val="1200"/>
            </a:pPr>
            <a:r>
              <a:rPr lang="en"/>
              <a:t>Five TCGA datasets : COAD (colon), BRCA (breast), LUAD (lung), READ (rectal), UCEC (uterine)</a:t>
            </a:r>
            <a:endParaRPr/>
          </a:p>
          <a:p>
            <a:pPr indent="-304788">
              <a:lnSpc>
                <a:spcPct val="90000"/>
              </a:lnSpc>
              <a:buClr>
                <a:srgbClr val="000000"/>
              </a:buClr>
              <a:buSzPts val="1200"/>
              <a:buFont typeface="Arial"/>
              <a:buChar char="●"/>
            </a:pPr>
            <a:r>
              <a:rPr lang="en"/>
              <a:t>Based on the validation table:</a:t>
            </a:r>
            <a:endParaRPr/>
          </a:p>
          <a:p>
            <a:pPr marL="914364" indent="-304788">
              <a:lnSpc>
                <a:spcPct val="90000"/>
              </a:lnSpc>
              <a:buClr>
                <a:srgbClr val="000000"/>
              </a:buClr>
              <a:buSzPts val="1200"/>
              <a:buFont typeface="Arial"/>
              <a:buChar char="-"/>
            </a:pPr>
            <a:r>
              <a:rPr lang="en"/>
              <a:t>RAV221 is associated with BRCA?</a:t>
            </a:r>
            <a:endParaRPr/>
          </a:p>
          <a:p>
            <a:pPr marL="914364" indent="-304788">
              <a:lnSpc>
                <a:spcPct val="90000"/>
              </a:lnSpc>
              <a:buClr>
                <a:srgbClr val="000000"/>
              </a:buClr>
              <a:buSzPts val="1200"/>
              <a:buFont typeface="Arial"/>
              <a:buChar char="-"/>
            </a:pPr>
            <a:r>
              <a:rPr lang="en"/>
              <a:t>RAV832 is associated with COAD/READ?</a:t>
            </a:r>
            <a:endParaRPr/>
          </a:p>
          <a:p>
            <a:pPr marL="0" indent="0">
              <a:lnSpc>
                <a:spcPct val="90000"/>
              </a:lnSpc>
              <a:buNone/>
            </a:pPr>
            <a:endParaRPr/>
          </a:p>
          <a:p>
            <a:pPr marL="0" indent="0">
              <a:lnSpc>
                <a:spcPct val="90000"/>
              </a:lnSpc>
              <a:buNone/>
            </a:pPr>
            <a:endParaRPr/>
          </a:p>
        </p:txBody>
      </p:sp>
      <p:sp>
        <p:nvSpPr>
          <p:cNvPr id="224" name="Google Shape;224;p33"/>
          <p:cNvSpPr txBox="1"/>
          <p:nvPr/>
        </p:nvSpPr>
        <p:spPr>
          <a:xfrm>
            <a:off x="4645029" y="677864"/>
            <a:ext cx="4041775" cy="639762"/>
          </a:xfrm>
          <a:prstGeom prst="rect">
            <a:avLst/>
          </a:prstGeom>
        </p:spPr>
        <p:txBody>
          <a:bodyPr spcFirstLastPara="1" vert="horz" lIns="91440" tIns="45720" rIns="91440" bIns="45720" rtlCol="0" anchor="b" anchorCtr="0">
            <a:normAutofit/>
          </a:bodyPr>
          <a:lstStyle/>
          <a:p>
            <a:pPr eaLnBrk="1" hangingPunct="1">
              <a:lnSpc>
                <a:spcPct val="90000"/>
              </a:lnSpc>
              <a:spcBef>
                <a:spcPct val="20000"/>
              </a:spcBef>
              <a:spcAft>
                <a:spcPts val="0"/>
              </a:spcAft>
            </a:pPr>
            <a:r>
              <a:rPr lang="en-US" sz="1000" b="1"/>
              <a:t>Find validating PCclusters</a:t>
            </a:r>
          </a:p>
          <a:p>
            <a:pPr eaLnBrk="1" hangingPunct="1">
              <a:lnSpc>
                <a:spcPct val="90000"/>
              </a:lnSpc>
              <a:spcBef>
                <a:spcPct val="20000"/>
              </a:spcBef>
              <a:spcAft>
                <a:spcPts val="0"/>
              </a:spcAft>
            </a:pPr>
            <a:r>
              <a:rPr lang="en-US" sz="1000" b="1"/>
              <a:t>&gt; val_all &lt;- validate(datasets, RAVmodel)</a:t>
            </a:r>
          </a:p>
          <a:p>
            <a:pPr eaLnBrk="1" hangingPunct="1">
              <a:lnSpc>
                <a:spcPct val="90000"/>
              </a:lnSpc>
              <a:spcBef>
                <a:spcPct val="20000"/>
              </a:spcBef>
              <a:spcAft>
                <a:spcPts val="0"/>
              </a:spcAft>
            </a:pPr>
            <a:r>
              <a:rPr lang="en-US" sz="1000" b="1"/>
              <a:t>&gt; heatmapTable(val_all)</a:t>
            </a:r>
          </a:p>
        </p:txBody>
      </p:sp>
      <p:pic>
        <p:nvPicPr>
          <p:cNvPr id="225" name="Google Shape;225;p33"/>
          <p:cNvPicPr preferRelativeResize="0"/>
          <p:nvPr/>
        </p:nvPicPr>
        <p:blipFill>
          <a:blip r:embed="rId3"/>
          <a:stretch>
            <a:fillRect/>
          </a:stretch>
        </p:blipFill>
        <p:spPr>
          <a:xfrm>
            <a:off x="4645029" y="1964536"/>
            <a:ext cx="4041775" cy="2657466"/>
          </a:xfrm>
          <a:prstGeom prst="rect">
            <a:avLst/>
          </a:prstGeom>
          <a:noFill/>
          <a:ln>
            <a:noFill/>
          </a:ln>
        </p:spPr>
      </p:pic>
      <p:sp>
        <p:nvSpPr>
          <p:cNvPr id="232" name="Slide Number Placeholder 6">
            <a:extLst>
              <a:ext uri="{FF2B5EF4-FFF2-40B4-BE49-F238E27FC236}">
                <a16:creationId xmlns:a16="http://schemas.microsoft.com/office/drawing/2014/main" id="{5D98061F-78C9-C5A3-CF25-D4C7AF25C60F}"/>
              </a:ext>
            </a:extLst>
          </p:cNvPr>
          <p:cNvSpPr>
            <a:spLocks noGrp="1"/>
          </p:cNvSpPr>
          <p:nvPr>
            <p:ph type="sldNum" sz="quarter" idx="12"/>
          </p:nvPr>
        </p:nvSpPr>
        <p:spPr>
          <a:xfrm>
            <a:off x="6553200" y="5499105"/>
            <a:ext cx="2133600" cy="365125"/>
          </a:xfrm>
        </p:spPr>
        <p:txBody>
          <a:bodyPr/>
          <a:lstStyle/>
          <a:p>
            <a:pPr>
              <a:spcAft>
                <a:spcPts val="600"/>
              </a:spcAft>
            </a:pPr>
            <a:fld id="{C6A866A2-4A13-452A-BF39-D3C45AC49E04}" type="slidenum">
              <a:rPr lang="en-US" smtClean="0"/>
              <a:pPr>
                <a:spcAft>
                  <a:spcPts val="600"/>
                </a:spcAft>
              </a:pPr>
              <a:t>24</a:t>
            </a:fld>
            <a:endParaRPr lang="en-US"/>
          </a:p>
        </p:txBody>
      </p:sp>
    </p:spTree>
    <p:extLst>
      <p:ext uri="{BB962C8B-B14F-4D97-AF65-F5344CB8AC3E}">
        <p14:creationId xmlns:p14="http://schemas.microsoft.com/office/powerpoint/2010/main" val="3425640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4"/>
          <p:cNvSpPr txBox="1">
            <a:spLocks noGrp="1"/>
          </p:cNvSpPr>
          <p:nvPr>
            <p:ph type="title"/>
          </p:nvPr>
        </p:nvSpPr>
        <p:spPr>
          <a:xfrm>
            <a:off x="311700" y="445025"/>
            <a:ext cx="8520600" cy="572700"/>
          </a:xfrm>
          <a:prstGeom prst="rect">
            <a:avLst/>
          </a:prstGeom>
        </p:spPr>
        <p:txBody>
          <a:bodyPr spcFirstLastPara="1" vert="horz" wrap="square" lIns="91426" tIns="91426" rIns="91426" bIns="91426" rtlCol="0" anchor="t" anchorCtr="0">
            <a:noAutofit/>
          </a:bodyPr>
          <a:lstStyle/>
          <a:p>
            <a:pPr algn="l"/>
            <a:r>
              <a:rPr lang="en" sz="1800" b="1" dirty="0"/>
              <a:t>RAV221 </a:t>
            </a:r>
            <a:r>
              <a:rPr lang="en" sz="1800" b="1" i="1" dirty="0"/>
              <a:t>: associated with BRCA?</a:t>
            </a:r>
            <a:endParaRPr sz="1800" b="1" i="1" dirty="0"/>
          </a:p>
        </p:txBody>
      </p:sp>
      <p:grpSp>
        <p:nvGrpSpPr>
          <p:cNvPr id="231" name="Google Shape;231;p34"/>
          <p:cNvGrpSpPr/>
          <p:nvPr/>
        </p:nvGrpSpPr>
        <p:grpSpPr>
          <a:xfrm>
            <a:off x="6099720" y="1980603"/>
            <a:ext cx="2408911" cy="2191822"/>
            <a:chOff x="513065" y="1974128"/>
            <a:chExt cx="2408911" cy="2191822"/>
          </a:xfrm>
        </p:grpSpPr>
        <p:pic>
          <p:nvPicPr>
            <p:cNvPr id="232" name="Google Shape;232;p34"/>
            <p:cNvPicPr preferRelativeResize="0"/>
            <p:nvPr/>
          </p:nvPicPr>
          <p:blipFill>
            <a:blip r:embed="rId3">
              <a:alphaModFix/>
            </a:blip>
            <a:stretch>
              <a:fillRect/>
            </a:stretch>
          </p:blipFill>
          <p:spPr>
            <a:xfrm>
              <a:off x="517475" y="2443025"/>
              <a:ext cx="2404500" cy="1722925"/>
            </a:xfrm>
            <a:prstGeom prst="rect">
              <a:avLst/>
            </a:prstGeom>
            <a:noFill/>
            <a:ln>
              <a:noFill/>
            </a:ln>
          </p:spPr>
        </p:pic>
        <p:sp>
          <p:nvSpPr>
            <p:cNvPr id="233" name="Google Shape;233;p34"/>
            <p:cNvSpPr txBox="1"/>
            <p:nvPr/>
          </p:nvSpPr>
          <p:spPr>
            <a:xfrm>
              <a:off x="513065" y="1974128"/>
              <a:ext cx="2196000" cy="316500"/>
            </a:xfrm>
            <a:prstGeom prst="rect">
              <a:avLst/>
            </a:prstGeom>
            <a:noFill/>
            <a:ln>
              <a:noFill/>
            </a:ln>
          </p:spPr>
          <p:txBody>
            <a:bodyPr spcFirstLastPara="1" wrap="square" lIns="91426" tIns="91426" rIns="91426" bIns="91426" anchor="ctr" anchorCtr="0">
              <a:noAutofit/>
            </a:bodyPr>
            <a:lstStyle/>
            <a:p>
              <a:pPr>
                <a:spcBef>
                  <a:spcPts val="0"/>
                </a:spcBef>
                <a:spcAft>
                  <a:spcPts val="0"/>
                </a:spcAft>
              </a:pPr>
              <a:r>
                <a:rPr lang="en" sz="1100">
                  <a:latin typeface="Helvetica Neue"/>
                  <a:ea typeface="Helvetica Neue"/>
                  <a:cs typeface="Helvetica Neue"/>
                  <a:sym typeface="Helvetica Neue"/>
                </a:rPr>
                <a:t>MeSH term of RAV221</a:t>
              </a:r>
              <a:endParaRPr sz="1100">
                <a:latin typeface="Helvetica Neue"/>
                <a:ea typeface="Helvetica Neue"/>
                <a:cs typeface="Helvetica Neue"/>
                <a:sym typeface="Helvetica Neue"/>
              </a:endParaRPr>
            </a:p>
            <a:p>
              <a:pPr>
                <a:spcBef>
                  <a:spcPts val="0"/>
                </a:spcBef>
                <a:spcAft>
                  <a:spcPts val="0"/>
                </a:spcAft>
              </a:pPr>
              <a:r>
                <a:rPr lang="en" sz="900">
                  <a:solidFill>
                    <a:srgbClr val="0000FF"/>
                  </a:solidFill>
                  <a:latin typeface="Consolas"/>
                  <a:ea typeface="Consolas"/>
                  <a:cs typeface="Consolas"/>
                  <a:sym typeface="Consolas"/>
                </a:rPr>
                <a:t>&gt; drawWordcloud(RAVmodel, 221)</a:t>
              </a:r>
              <a:endParaRPr sz="1100">
                <a:solidFill>
                  <a:srgbClr val="0000FF"/>
                </a:solidFill>
                <a:latin typeface="Helvetica Neue"/>
                <a:ea typeface="Helvetica Neue"/>
                <a:cs typeface="Helvetica Neue"/>
                <a:sym typeface="Helvetica Neue"/>
              </a:endParaRPr>
            </a:p>
          </p:txBody>
        </p:sp>
      </p:grpSp>
      <p:pic>
        <p:nvPicPr>
          <p:cNvPr id="234" name="Google Shape;234;p34"/>
          <p:cNvPicPr preferRelativeResize="0"/>
          <p:nvPr/>
        </p:nvPicPr>
        <p:blipFill>
          <a:blip r:embed="rId4">
            <a:alphaModFix/>
          </a:blip>
          <a:stretch>
            <a:fillRect/>
          </a:stretch>
        </p:blipFill>
        <p:spPr>
          <a:xfrm>
            <a:off x="387900" y="1812755"/>
            <a:ext cx="5499826" cy="2527525"/>
          </a:xfrm>
          <a:prstGeom prst="rect">
            <a:avLst/>
          </a:prstGeom>
          <a:noFill/>
          <a:ln>
            <a:noFill/>
          </a:ln>
          <a:effectLst>
            <a:outerShdw blurRad="57150" dist="19050" dir="5400000" algn="bl" rotWithShape="0">
              <a:srgbClr val="000000">
                <a:alpha val="50000"/>
              </a:srgbClr>
            </a:outerShdw>
          </a:effectLst>
        </p:spPr>
      </p:pic>
      <p:sp>
        <p:nvSpPr>
          <p:cNvPr id="235" name="Google Shape;235;p34"/>
          <p:cNvSpPr txBox="1"/>
          <p:nvPr/>
        </p:nvSpPr>
        <p:spPr>
          <a:xfrm>
            <a:off x="311700" y="1173350"/>
            <a:ext cx="2772600" cy="506400"/>
          </a:xfrm>
          <a:prstGeom prst="rect">
            <a:avLst/>
          </a:prstGeom>
          <a:noFill/>
          <a:ln>
            <a:noFill/>
          </a:ln>
        </p:spPr>
        <p:txBody>
          <a:bodyPr spcFirstLastPara="1" wrap="square" lIns="91426" tIns="91426" rIns="91426" bIns="91426" anchor="t" anchorCtr="0">
            <a:noAutofit/>
          </a:bodyPr>
          <a:lstStyle/>
          <a:p>
            <a:pPr>
              <a:spcBef>
                <a:spcPts val="0"/>
              </a:spcBef>
              <a:spcAft>
                <a:spcPts val="0"/>
              </a:spcAft>
            </a:pPr>
            <a:r>
              <a:rPr lang="en" sz="1200" dirty="0">
                <a:latin typeface="Proxima Nova"/>
                <a:ea typeface="Proxima Nova"/>
                <a:cs typeface="Proxima Nova"/>
                <a:sym typeface="Proxima Nova"/>
              </a:rPr>
              <a:t>↓ Studies associated with this cluster</a:t>
            </a:r>
            <a:endParaRPr sz="1200" dirty="0">
              <a:latin typeface="Proxima Nova"/>
              <a:ea typeface="Proxima Nova"/>
              <a:cs typeface="Proxima Nova"/>
              <a:sym typeface="Proxima Nova"/>
            </a:endParaRPr>
          </a:p>
          <a:p>
            <a:pPr>
              <a:spcBef>
                <a:spcPts val="0"/>
              </a:spcBef>
              <a:spcAft>
                <a:spcPts val="0"/>
              </a:spcAft>
            </a:pPr>
            <a:r>
              <a:rPr lang="en" sz="1200" dirty="0">
                <a:latin typeface="Proxima Nova"/>
                <a:ea typeface="Proxima Nova"/>
                <a:cs typeface="Proxima Nova"/>
                <a:sym typeface="Proxima Nova"/>
              </a:rPr>
              <a:t>↓↓ Enriched pathways</a:t>
            </a:r>
            <a:endParaRPr sz="1200" dirty="0">
              <a:latin typeface="Proxima Nova"/>
              <a:ea typeface="Proxima Nova"/>
              <a:cs typeface="Proxima Nova"/>
              <a:sym typeface="Proxima Nova"/>
            </a:endParaRPr>
          </a:p>
        </p:txBody>
      </p:sp>
      <p:sp>
        <p:nvSpPr>
          <p:cNvPr id="236" name="Google Shape;236;p34"/>
          <p:cNvSpPr txBox="1"/>
          <p:nvPr/>
        </p:nvSpPr>
        <p:spPr>
          <a:xfrm>
            <a:off x="6099725" y="1173350"/>
            <a:ext cx="2772600" cy="506400"/>
          </a:xfrm>
          <a:prstGeom prst="rect">
            <a:avLst/>
          </a:prstGeom>
          <a:noFill/>
          <a:ln>
            <a:noFill/>
          </a:ln>
        </p:spPr>
        <p:txBody>
          <a:bodyPr spcFirstLastPara="1" wrap="square" lIns="91426" tIns="91426" rIns="91426" bIns="91426" anchor="t" anchorCtr="0">
            <a:noAutofit/>
          </a:bodyPr>
          <a:lstStyle/>
          <a:p>
            <a:pPr>
              <a:spcBef>
                <a:spcPts val="0"/>
              </a:spcBef>
              <a:spcAft>
                <a:spcPts val="0"/>
              </a:spcAft>
            </a:pPr>
            <a:r>
              <a:rPr lang="en" sz="1200">
                <a:latin typeface="Proxima Nova"/>
                <a:ea typeface="Proxima Nova"/>
                <a:cs typeface="Proxima Nova"/>
                <a:sym typeface="Proxima Nova"/>
              </a:rPr>
              <a:t>↓ MeSH terms</a:t>
            </a:r>
            <a:endParaRPr sz="1200">
              <a:latin typeface="Proxima Nova"/>
              <a:ea typeface="Proxima Nova"/>
              <a:cs typeface="Proxima Nova"/>
              <a:sym typeface="Proxima Nova"/>
            </a:endParaRPr>
          </a:p>
        </p:txBody>
      </p:sp>
    </p:spTree>
    <p:extLst>
      <p:ext uri="{BB962C8B-B14F-4D97-AF65-F5344CB8AC3E}">
        <p14:creationId xmlns:p14="http://schemas.microsoft.com/office/powerpoint/2010/main" val="4053761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74481</TotalTime>
  <Words>2701</Words>
  <Application>Microsoft Macintosh PowerPoint</Application>
  <PresentationFormat>On-screen Show (16:9)</PresentationFormat>
  <Paragraphs>290</Paragraphs>
  <Slides>25</Slides>
  <Notes>15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Arial</vt:lpstr>
      <vt:lpstr>Calibri</vt:lpstr>
      <vt:lpstr>Consolas</vt:lpstr>
      <vt:lpstr>Courier</vt:lpstr>
      <vt:lpstr>Courier New</vt:lpstr>
      <vt:lpstr>Helvetica Neue</vt:lpstr>
      <vt:lpstr>inherit</vt:lpstr>
      <vt:lpstr>Montserrat</vt:lpstr>
      <vt:lpstr>Proxima Nova</vt:lpstr>
      <vt:lpstr>Roboto</vt:lpstr>
      <vt:lpstr>Source Sans Pro</vt:lpstr>
      <vt:lpstr>Office Theme</vt:lpstr>
      <vt:lpstr>Databases and methods for efficient learning from published data in cancer genomics  BITS@Povo June 14, 2024</vt:lpstr>
      <vt:lpstr>Accelerating growth of public ‘omics data </vt:lpstr>
      <vt:lpstr>Barriers</vt:lpstr>
      <vt:lpstr>PowerPoint Presentation</vt:lpstr>
      <vt:lpstr>MultiAssayExperiment: the integrative Bioconductor container</vt:lpstr>
      <vt:lpstr>PowerPoint Presentation</vt:lpstr>
      <vt:lpstr>Analyst-friendly data in Bioconductor</vt:lpstr>
      <vt:lpstr>SingleCellMultiModal landmark datasets on select single-cell multimodal technologies for benchmarking and methods development</vt:lpstr>
      <vt:lpstr>SingleCellMultiModal usage</vt:lpstr>
      <vt:lpstr>SingleCellMultiModal usage</vt:lpstr>
      <vt:lpstr>SingleCellMultiModal usage</vt:lpstr>
      <vt:lpstr>GenomicSuperSignature</vt:lpstr>
      <vt:lpstr>GenomicSuperSignature Interpretation of RNA-seq experiments through robust, efficient comparison to public databases</vt:lpstr>
      <vt:lpstr>Annotation - MeSH Terms</vt:lpstr>
      <vt:lpstr>Annotation - GSEA</vt:lpstr>
      <vt:lpstr>1. Find the major signal of your data</vt:lpstr>
      <vt:lpstr>2. Interpret top PCs of your own data</vt:lpstr>
      <vt:lpstr>3. Calculate a known signature in your data</vt:lpstr>
      <vt:lpstr>Comparing estimated neutrophil count with known count</vt:lpstr>
      <vt:lpstr>(Analysis, Visualization, and Informatics Lab-Space)</vt:lpstr>
      <vt:lpstr>Workspace in AnVIL</vt:lpstr>
      <vt:lpstr>AnVILWorkflow Bioconductor package</vt:lpstr>
      <vt:lpstr>PowerPoint Presentation</vt:lpstr>
      <vt:lpstr>Feature differentiation between datasets</vt:lpstr>
      <vt:lpstr>RAV221 : associated with BRCA?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 Waldron</dc:creator>
  <cp:lastModifiedBy>Levi Waldron</cp:lastModifiedBy>
  <cp:revision>3411</cp:revision>
  <dcterms:created xsi:type="dcterms:W3CDTF">2006-04-21T21:58:28Z</dcterms:created>
  <dcterms:modified xsi:type="dcterms:W3CDTF">2024-06-14T12:37:50Z</dcterms:modified>
</cp:coreProperties>
</file>